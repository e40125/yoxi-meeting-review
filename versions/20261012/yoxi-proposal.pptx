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1aaf3f73704ca0" /><Relationship Type="http://schemas.openxmlformats.org/officeDocument/2006/relationships/extended-properties" Target="/docProps/app.xml" Id="R81735f8dd37e4881" /><Relationship Type="http://schemas.openxmlformats.org/officeDocument/2006/relationships/officeDocument" Target="/ppt/presentation.xml" Id="Rd1334ba367e44e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dfb20268548e5"/>
  </p:sldMasterIdLst>
  <p:notesMasterIdLst>
    <p:notesMasterId xmlns:r="http://schemas.openxmlformats.org/officeDocument/2006/relationships" r:id="Re8e2f205d5614473"/>
  </p:notesMasterIdLst>
  <p:sldIdLst>
    <p:sldId xmlns:r="http://schemas.openxmlformats.org/officeDocument/2006/relationships" id="256" r:id="R298eb17e21d7429d"/>
    <p:sldId xmlns:r="http://schemas.openxmlformats.org/officeDocument/2006/relationships" id="257" r:id="Rb055383807e84d49"/>
    <p:sldId xmlns:r="http://schemas.openxmlformats.org/officeDocument/2006/relationships" id="258" r:id="R086bd86d21a64309"/>
    <p:sldId xmlns:r="http://schemas.openxmlformats.org/officeDocument/2006/relationships" id="259" r:id="Raf91e4d8b9f34d85"/>
    <p:sldId xmlns:r="http://schemas.openxmlformats.org/officeDocument/2006/relationships" id="260" r:id="Rb6f34ae5830f4141"/>
    <p:sldId xmlns:r="http://schemas.openxmlformats.org/officeDocument/2006/relationships" id="261" r:id="R526c190579a64c12"/>
    <p:sldId xmlns:r="http://schemas.openxmlformats.org/officeDocument/2006/relationships" id="262" r:id="Re957ad3609e841da"/>
    <p:sldId xmlns:r="http://schemas.openxmlformats.org/officeDocument/2006/relationships" id="263" r:id="R084e3d0c0f364daf"/>
    <p:sldId xmlns:r="http://schemas.openxmlformats.org/officeDocument/2006/relationships" id="264" r:id="Rd5f4011486234a4c"/>
    <p:sldId xmlns:r="http://schemas.openxmlformats.org/officeDocument/2006/relationships" id="265" r:id="R215a62eafdf0401e"/>
    <p:sldId xmlns:r="http://schemas.openxmlformats.org/officeDocument/2006/relationships" id="266" r:id="R4482a18db656462a"/>
    <p:sldId xmlns:r="http://schemas.openxmlformats.org/officeDocument/2006/relationships" id="267" r:id="R84f03443920c4afe"/>
    <p:sldId xmlns:r="http://schemas.openxmlformats.org/officeDocument/2006/relationships" id="268" r:id="R6e0d0a5f894346c3"/>
    <p:sldId xmlns:r="http://schemas.openxmlformats.org/officeDocument/2006/relationships" id="269" r:id="R3b947329184c4710"/>
    <p:sldId xmlns:r="http://schemas.openxmlformats.org/officeDocument/2006/relationships" id="270" r:id="R6bb5ba6eac114aeb"/>
    <p:sldId xmlns:r="http://schemas.openxmlformats.org/officeDocument/2006/relationships" id="271" r:id="Rd20e249f327e44ac"/>
    <p:sldId xmlns:r="http://schemas.openxmlformats.org/officeDocument/2006/relationships" id="272" r:id="R13a58353337f414b"/>
    <p:sldId xmlns:r="http://schemas.openxmlformats.org/officeDocument/2006/relationships" id="273" r:id="Rf5de3ab5df1f4ae4"/>
    <p:sldId xmlns:r="http://schemas.openxmlformats.org/officeDocument/2006/relationships" id="274" r:id="R0376a820b9c34bd5"/>
    <p:sldId xmlns:r="http://schemas.openxmlformats.org/officeDocument/2006/relationships" id="275" r:id="Rb27a46684e704940"/>
    <p:sldId xmlns:r="http://schemas.openxmlformats.org/officeDocument/2006/relationships" id="276" r:id="Rd046075c4b7c40c8"/>
    <p:sldId xmlns:r="http://schemas.openxmlformats.org/officeDocument/2006/relationships" id="277" r:id="R6d4a8de9517240cb"/>
    <p:sldId xmlns:r="http://schemas.openxmlformats.org/officeDocument/2006/relationships" id="278" r:id="Rfcd37ed3e61445c8"/>
    <p:sldId xmlns:r="http://schemas.openxmlformats.org/officeDocument/2006/relationships" id="279" r:id="R7203d61a1ac543ec"/>
    <p:sldId xmlns:r="http://schemas.openxmlformats.org/officeDocument/2006/relationships" id="280" r:id="Re8a9b8a843034009"/>
    <p:sldId xmlns:r="http://schemas.openxmlformats.org/officeDocument/2006/relationships" id="281" r:id="R4dac53d7f0ee4924"/>
    <p:sldId xmlns:r="http://schemas.openxmlformats.org/officeDocument/2006/relationships" id="282" r:id="R2393e061be4c4552"/>
    <p:sldId xmlns:r="http://schemas.openxmlformats.org/officeDocument/2006/relationships" id="283" r:id="Rbba958c8c6164410"/>
    <p:sldId xmlns:r="http://schemas.openxmlformats.org/officeDocument/2006/relationships" id="284" r:id="R44f00ee1c1724f71"/>
    <p:sldId xmlns:r="http://schemas.openxmlformats.org/officeDocument/2006/relationships" id="285" r:id="Ra1deb0b2b54346de"/>
    <p:sldId xmlns:r="http://schemas.openxmlformats.org/officeDocument/2006/relationships" id="286" r:id="R5890d078436b4f84"/>
    <p:sldId xmlns:r="http://schemas.openxmlformats.org/officeDocument/2006/relationships" id="287" r:id="Re925aea1875d40b9"/>
    <p:sldId xmlns:r="http://schemas.openxmlformats.org/officeDocument/2006/relationships" id="288" r:id="Rfdcd1110062b46e5"/>
    <p:sldId xmlns:r="http://schemas.openxmlformats.org/officeDocument/2006/relationships" id="289" r:id="R2be3be7b4a8e487e"/>
    <p:sldId xmlns:r="http://schemas.openxmlformats.org/officeDocument/2006/relationships" id="290" r:id="R5d6d8479aaf94822"/>
    <p:sldId xmlns:r="http://schemas.openxmlformats.org/officeDocument/2006/relationships" id="291" r:id="R453e52f862c04e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25d0e017884667" /><Relationship Type="http://schemas.openxmlformats.org/officeDocument/2006/relationships/slideMaster" Target="/ppt/slideMasters/slideMaster1.xml" Id="R6ecdfb20268548e5" /><Relationship Type="http://schemas.openxmlformats.org/officeDocument/2006/relationships/notesMaster" Target="/ppt/notesMasters/notesMaster1.xml" Id="Re8e2f205d5614473" /><Relationship Type="http://schemas.openxmlformats.org/officeDocument/2006/relationships/presProps" Target="/ppt/presProps.xml" Id="Ra1ef4215005543d2" /><Relationship Type="http://schemas.openxmlformats.org/officeDocument/2006/relationships/tableStyles" Target="/ppt/tableStyles.xml" Id="Re87fe31e7cc04a12" /><Relationship Type="http://schemas.openxmlformats.org/officeDocument/2006/relationships/slide" Target="/ppt/slides/slide1.xml" Id="R298eb17e21d7429d" /><Relationship Type="http://schemas.openxmlformats.org/officeDocument/2006/relationships/slide" Target="/ppt/slides/slide2.xml" Id="Rb055383807e84d49" /><Relationship Type="http://schemas.openxmlformats.org/officeDocument/2006/relationships/slide" Target="/ppt/slides/slide3.xml" Id="R086bd86d21a64309" /><Relationship Type="http://schemas.openxmlformats.org/officeDocument/2006/relationships/slide" Target="/ppt/slides/slide4.xml" Id="Raf91e4d8b9f34d85" /><Relationship Type="http://schemas.openxmlformats.org/officeDocument/2006/relationships/slide" Target="/ppt/slides/slide5.xml" Id="Rb6f34ae5830f4141" /><Relationship Type="http://schemas.openxmlformats.org/officeDocument/2006/relationships/slide" Target="/ppt/slides/slide6.xml" Id="R526c190579a64c12" /><Relationship Type="http://schemas.openxmlformats.org/officeDocument/2006/relationships/slide" Target="/ppt/slides/slide7.xml" Id="Re957ad3609e841da" /><Relationship Type="http://schemas.openxmlformats.org/officeDocument/2006/relationships/slide" Target="/ppt/slides/slide8.xml" Id="R084e3d0c0f364daf" /><Relationship Type="http://schemas.openxmlformats.org/officeDocument/2006/relationships/slide" Target="/ppt/slides/slide9.xml" Id="Rd5f4011486234a4c" /><Relationship Type="http://schemas.openxmlformats.org/officeDocument/2006/relationships/slide" Target="/ppt/slides/slide10.xml" Id="R215a62eafdf0401e" /><Relationship Type="http://schemas.openxmlformats.org/officeDocument/2006/relationships/slide" Target="/ppt/slides/slide11.xml" Id="R4482a18db656462a" /><Relationship Type="http://schemas.openxmlformats.org/officeDocument/2006/relationships/slide" Target="/ppt/slides/slide12.xml" Id="R84f03443920c4afe" /><Relationship Type="http://schemas.openxmlformats.org/officeDocument/2006/relationships/slide" Target="/ppt/slides/slide13.xml" Id="R6e0d0a5f894346c3" /><Relationship Type="http://schemas.openxmlformats.org/officeDocument/2006/relationships/slide" Target="/ppt/slides/slide14.xml" Id="R3b947329184c4710" /><Relationship Type="http://schemas.openxmlformats.org/officeDocument/2006/relationships/slide" Target="/ppt/slides/slide15.xml" Id="R6bb5ba6eac114aeb" /><Relationship Type="http://schemas.openxmlformats.org/officeDocument/2006/relationships/slide" Target="/ppt/slides/slide16.xml" Id="Rd20e249f327e44ac" /><Relationship Type="http://schemas.openxmlformats.org/officeDocument/2006/relationships/slide" Target="/ppt/slides/slide17.xml" Id="R13a58353337f414b" /><Relationship Type="http://schemas.openxmlformats.org/officeDocument/2006/relationships/slide" Target="/ppt/slides/slide18.xml" Id="Rf5de3ab5df1f4ae4" /><Relationship Type="http://schemas.openxmlformats.org/officeDocument/2006/relationships/slide" Target="/ppt/slides/slide19.xml" Id="R0376a820b9c34bd5" /><Relationship Type="http://schemas.openxmlformats.org/officeDocument/2006/relationships/slide" Target="/ppt/slides/slide20.xml" Id="Rb27a46684e704940" /><Relationship Type="http://schemas.openxmlformats.org/officeDocument/2006/relationships/slide" Target="/ppt/slides/slide21.xml" Id="Rd046075c4b7c40c8" /><Relationship Type="http://schemas.openxmlformats.org/officeDocument/2006/relationships/slide" Target="/ppt/slides/slide22.xml" Id="R6d4a8de9517240cb" /><Relationship Type="http://schemas.openxmlformats.org/officeDocument/2006/relationships/slide" Target="/ppt/slides/slide23.xml" Id="Rfcd37ed3e61445c8" /><Relationship Type="http://schemas.openxmlformats.org/officeDocument/2006/relationships/slide" Target="/ppt/slides/slide24.xml" Id="R7203d61a1ac543ec" /><Relationship Type="http://schemas.openxmlformats.org/officeDocument/2006/relationships/slide" Target="/ppt/slides/slide25.xml" Id="Re8a9b8a843034009" /><Relationship Type="http://schemas.openxmlformats.org/officeDocument/2006/relationships/slide" Target="/ppt/slides/slide26.xml" Id="R4dac53d7f0ee4924" /><Relationship Type="http://schemas.openxmlformats.org/officeDocument/2006/relationships/slide" Target="/ppt/slides/slide27.xml" Id="R2393e061be4c4552" /><Relationship Type="http://schemas.openxmlformats.org/officeDocument/2006/relationships/slide" Target="/ppt/slides/slide28.xml" Id="Rbba958c8c6164410" /><Relationship Type="http://schemas.openxmlformats.org/officeDocument/2006/relationships/slide" Target="/ppt/slides/slide29.xml" Id="R44f00ee1c1724f71" /><Relationship Type="http://schemas.openxmlformats.org/officeDocument/2006/relationships/slide" Target="/ppt/slides/slide30.xml" Id="Ra1deb0b2b54346de" /><Relationship Type="http://schemas.openxmlformats.org/officeDocument/2006/relationships/slide" Target="/ppt/slides/slide31.xml" Id="R5890d078436b4f84" /><Relationship Type="http://schemas.openxmlformats.org/officeDocument/2006/relationships/slide" Target="/ppt/slides/slide32.xml" Id="Re925aea1875d40b9" /><Relationship Type="http://schemas.openxmlformats.org/officeDocument/2006/relationships/slide" Target="/ppt/slides/slide33.xml" Id="Rfdcd1110062b46e5" /><Relationship Type="http://schemas.openxmlformats.org/officeDocument/2006/relationships/slide" Target="/ppt/slides/slide34.xml" Id="R2be3be7b4a8e487e" /><Relationship Type="http://schemas.openxmlformats.org/officeDocument/2006/relationships/slide" Target="/ppt/slides/slide35.xml" Id="R5d6d8479aaf94822" /><Relationship Type="http://schemas.openxmlformats.org/officeDocument/2006/relationships/slide" Target="/ppt/slides/slide36.xml" Id="R453e52f862c04e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e9b0b6728041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2e7e172f6647dc" /><Relationship Type="http://schemas.openxmlformats.org/officeDocument/2006/relationships/notesMaster" Target="/ppt/notesMasters/notesMaster1.xml" Id="Re8ae10b0726346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d00306217542d7" /><Relationship Type="http://schemas.openxmlformats.org/officeDocument/2006/relationships/notesMaster" Target="/ppt/notesMasters/notesMaster1.xml" Id="R7b0505c45d0848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a5ec89ed2a4f3a" /><Relationship Type="http://schemas.openxmlformats.org/officeDocument/2006/relationships/notesMaster" Target="/ppt/notesMasters/notesMaster1.xml" Id="R413f10e1213d4c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0fb697f4c243e4" /><Relationship Type="http://schemas.openxmlformats.org/officeDocument/2006/relationships/notesMaster" Target="/ppt/notesMasters/notesMaster1.xml" Id="Rc62e18e94e0e4c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dcd28e0884d74" /><Relationship Type="http://schemas.openxmlformats.org/officeDocument/2006/relationships/notesMaster" Target="/ppt/notesMasters/notesMaster1.xml" Id="Rd466e65c7c744f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6ebbe448b642d0" /><Relationship Type="http://schemas.openxmlformats.org/officeDocument/2006/relationships/notesMaster" Target="/ppt/notesMasters/notesMaster1.xml" Id="R9fe37e1814fa46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a0794a4fb345bb" /><Relationship Type="http://schemas.openxmlformats.org/officeDocument/2006/relationships/notesMaster" Target="/ppt/notesMasters/notesMaster1.xml" Id="Rc133aef6996c4a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ea8f3def7c4a09" /><Relationship Type="http://schemas.openxmlformats.org/officeDocument/2006/relationships/notesMaster" Target="/ppt/notesMasters/notesMaster1.xml" Id="Rf95f28dbc6c34b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46c0be640241c8" /><Relationship Type="http://schemas.openxmlformats.org/officeDocument/2006/relationships/notesMaster" Target="/ppt/notesMasters/notesMaster1.xml" Id="R6def76081aee40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b47b743f794e9f" /><Relationship Type="http://schemas.openxmlformats.org/officeDocument/2006/relationships/notesMaster" Target="/ppt/notesMasters/notesMaster1.xml" Id="R8eba338ff37e4d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f68dcd872d4f6d" /><Relationship Type="http://schemas.openxmlformats.org/officeDocument/2006/relationships/notesMaster" Target="/ppt/notesMasters/notesMaster1.xml" Id="R783b2dcb05e94c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73d07de9a84eda" /><Relationship Type="http://schemas.openxmlformats.org/officeDocument/2006/relationships/notesMaster" Target="/ppt/notesMasters/notesMaster1.xml" Id="R03f1c5d9887745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b2bec6291e4c4b" /><Relationship Type="http://schemas.openxmlformats.org/officeDocument/2006/relationships/notesMaster" Target="/ppt/notesMasters/notesMaster1.xml" Id="R8a86dada2b954e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24cd332f7d4f2c" /><Relationship Type="http://schemas.openxmlformats.org/officeDocument/2006/relationships/notesMaster" Target="/ppt/notesMasters/notesMaster1.xml" Id="R69a3b697b4b948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0b1f7db0d94f1c" /><Relationship Type="http://schemas.openxmlformats.org/officeDocument/2006/relationships/notesMaster" Target="/ppt/notesMasters/notesMaster1.xml" Id="Rc3ef11cc08e644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efbc60362e461a" /><Relationship Type="http://schemas.openxmlformats.org/officeDocument/2006/relationships/notesMaster" Target="/ppt/notesMasters/notesMaster1.xml" Id="Rf5a87fa0912d42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5258387eb2404e" /><Relationship Type="http://schemas.openxmlformats.org/officeDocument/2006/relationships/notesMaster" Target="/ppt/notesMasters/notesMaster1.xml" Id="R2474b9bf66b34a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201f59e5bf4f22" /><Relationship Type="http://schemas.openxmlformats.org/officeDocument/2006/relationships/notesMaster" Target="/ppt/notesMasters/notesMaster1.xml" Id="Re59781bea57f47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e1d5ead82441ad" /><Relationship Type="http://schemas.openxmlformats.org/officeDocument/2006/relationships/notesMaster" Target="/ppt/notesMasters/notesMaster1.xml" Id="R0fc219e7144341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9d12e120b746af" /><Relationship Type="http://schemas.openxmlformats.org/officeDocument/2006/relationships/notesMaster" Target="/ppt/notesMasters/notesMaster1.xml" Id="R934932a3321d4f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ba2fbc22d94cd2" /><Relationship Type="http://schemas.openxmlformats.org/officeDocument/2006/relationships/notesMaster" Target="/ppt/notesMasters/notesMaster1.xml" Id="R6f4d9eaa799a44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4905328991437f" /><Relationship Type="http://schemas.openxmlformats.org/officeDocument/2006/relationships/notesMaster" Target="/ppt/notesMasters/notesMaster1.xml" Id="R877c8df687194a9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fdbc5a31704757" /><Relationship Type="http://schemas.openxmlformats.org/officeDocument/2006/relationships/notesMaster" Target="/ppt/notesMasters/notesMaster1.xml" Id="R0b018b3b430a477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10870bb72546de" /><Relationship Type="http://schemas.openxmlformats.org/officeDocument/2006/relationships/notesMaster" Target="/ppt/notesMasters/notesMaster1.xml" Id="R7af910938002468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9fbab352ae4de1" /><Relationship Type="http://schemas.openxmlformats.org/officeDocument/2006/relationships/notesMaster" Target="/ppt/notesMasters/notesMaster1.xml" Id="Ra111b90640fc4a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f00c02332884d72" /><Relationship Type="http://schemas.openxmlformats.org/officeDocument/2006/relationships/notesMaster" Target="/ppt/notesMasters/notesMaster1.xml" Id="Re03f2bab5afc4ac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2b54ba1e70c4596" /><Relationship Type="http://schemas.openxmlformats.org/officeDocument/2006/relationships/notesMaster" Target="/ppt/notesMasters/notesMaster1.xml" Id="R7187b9e43dbc43b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07f48ef15647f8" /><Relationship Type="http://schemas.openxmlformats.org/officeDocument/2006/relationships/notesMaster" Target="/ppt/notesMasters/notesMaster1.xml" Id="R3e3f8a7d873a42d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8ebc6986b5e42d1" /><Relationship Type="http://schemas.openxmlformats.org/officeDocument/2006/relationships/notesMaster" Target="/ppt/notesMasters/notesMaster1.xml" Id="R34e6a30bba534bd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895aa579b04342" /><Relationship Type="http://schemas.openxmlformats.org/officeDocument/2006/relationships/notesMaster" Target="/ppt/notesMasters/notesMaster1.xml" Id="Rfefc421a3652468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89e37afff854323" /><Relationship Type="http://schemas.openxmlformats.org/officeDocument/2006/relationships/notesMaster" Target="/ppt/notesMasters/notesMaster1.xml" Id="Red862efb018c423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7f85dedcdd64b44" /><Relationship Type="http://schemas.openxmlformats.org/officeDocument/2006/relationships/notesMaster" Target="/ppt/notesMasters/notesMaster1.xml" Id="R84c594baeddc4c1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9973fa9a2644a79" /><Relationship Type="http://schemas.openxmlformats.org/officeDocument/2006/relationships/notesMaster" Target="/ppt/notesMasters/notesMaster1.xml" Id="Reca78c9e5cad4e7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eb3154ab28b4e65" /><Relationship Type="http://schemas.openxmlformats.org/officeDocument/2006/relationships/notesMaster" Target="/ppt/notesMasters/notesMaster1.xml" Id="R0ed42fcd3a54426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9e658ac07f48a2" /><Relationship Type="http://schemas.openxmlformats.org/officeDocument/2006/relationships/notesMaster" Target="/ppt/notesMasters/notesMaster1.xml" Id="Rc1c93555fac94df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76040622a744da3" /><Relationship Type="http://schemas.openxmlformats.org/officeDocument/2006/relationships/notesMaster" Target="/ppt/notesMasters/notesMaster1.xml" Id="Rae0f42be897946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我們是 yoxi 王，提出的產品是「yoxi 城市生活」，回應「不搭車，也打開 yoxi」這個企業挑戰。服務對象是想探索城市、找伴參與活動，或玩收藏遊戲的人。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設計分成三個可以各自使用、也能接著使用的部分。城市探索從興趣找地方，和朋友共同安排時保留每個人的原意。同好體驗讓參與者看清活動、名額和分攤費用，再決定是否加入。遊戲成長則透過紙鳥挑戰取得能佩戴的小物，讓玩家裝扮旅伴，自己構圖拍成紀念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目前本機原型使用 Qwen3.5-4B 理解需求、處理局部修改，並從已有資料選擇活動。multilingual-e5-small 負責語意比對，規則再核對時間、入場費，以及哪些需求還沒有安排。官方解題資料尚未取得，後續會在確認資料範圍後，用於地區、場域與時段的內容規劃。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希望使用者不叫車時，也能探索、參與和收藏，決定出門時再接到交通入口。邀約人物與費用目前使用示例，真人效益仍待試用。第一批試用會觀察理解、回訪、實際成行與維運成本，作為改善產品和決定是否擴大的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官方企業題目及初賽簡報模板：https://ht-hackathon.tw/tw/challenge?item=6</a:t>
            </a:r>
          </a:p>
          <a:p xmlns:a="http://schemas.openxmlformats.org/drawingml/2006/main">
            <a:r>
              <a:t>https://ht-hackathon.tw/tw/faq/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我們是 yoxi 王，提案是「yoxi 城市生活」。我們希望使用者今天不叫車，也能在 yoxi 找到想去的地方、一起參與的人，或陪自己的城市旅伴玩一會兒。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找地方，可以從興趣和條件開始，看現場能做什麼，再安排時間。想一起去，可以加入現成邀約，也可以先寫下朋友各自想做的事，再挑共同的去處。沒有出門計畫時，就和旅伴玩紙鳥，取得能佩戴的小物，自己選光線和角度，拍成紀念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這三種用法各自有入口，也能沿著同一個地點接著使用。目前已做成可操作的本機原型。接下來用台南地點和合菜邀約說明，其中邀約人物與餐費是示例，交通另計。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國立臺灣文學館照片：Adece033090，2025，CC BY 4.0。台菜照片：WikiLaurent，Currentlybiscuit調整，2007，CC BY-SA 3.0。兩張依版面裁切，台菜裁切版沿用CC BY-SA 3.0。書店紀念卡為本案實際操作取得的原創場景畫面。</a:t>
            </a:r>
          </a:p>
          <a:p xmlns:a="http://schemas.openxmlformats.org/drawingml/2006/main">
            <a:r>
              <a:t>https://commons.wikimedia.org/wiki/File:20250719%E5%9C%8B%E7%AB%8B%E8%87%BA%E7%81%A3%E6%96%87%E5%AD%B8%E9%A4%A8.jpg</a:t>
            </a:r>
          </a:p>
          <a:p xmlns:a="http://schemas.openxmlformats.org/drawingml/2006/main">
            <a:r>
              <a:t>https://creativecommons.org/licenses/by/4.0/</a:t>
            </a:r>
          </a:p>
          <a:p xmlns:a="http://schemas.openxmlformats.org/drawingml/2006/main">
            <a:r>
              <a:t>https://commons.wikimedia.org/wiki/File:Taiwanese_cuisine.jpg</a:t>
            </a:r>
          </a:p>
          <a:p xmlns:a="http://schemas.openxmlformats.org/drawingml/2006/main">
            <a:r>
              <a:t>https://creativecommons.org/licenses/by-sa/3.0/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這三種入口，對應的是不同的使用時刻。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想看展的人，可能先考慮今天要待室內、希望免門票，也想知道到了現場能看什麼。探索會把符合條件的地方和活動內容放在一起，讓他有依據挑選，再安排自己的時間。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想吃合菜的人，已經知道想做什麼，還缺的是一起參加的人。他可以先看一個有人帶頭的邀約，確認時間、剩餘名額和每人費用，再決定加入。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今天不出門的人，也可以和旅伴玩紙鳥。完成挑戰會拿到裝扮用的小物，完成三項挑戰後，還能開啟和旅伴來回接力的玩法。喜歡當下的造型和構圖，也可以拍成自己的紀念卡。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所以，使用者可以從當下想做的事開始。找地方、找同伴和日常遊玩，都各自提供了打開 yoxi 的用途。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原始團隊會議與會後設計情境。文學館參觀資訊：https://www.nmtl.gov.tw/cp.aspx?n=3801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這裡用藍色街角，說明這些入口如何互相支援。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左邊的卡片，是使用者在遊戲裡裝扮旅伴、選好角度後保存的構圖。這是以藍晒圖為靈感的原創場景。喜歡這個街角、想親自去看看時，可以把真實的藍晒圖文創園區存進想去清單。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中間就是這個地點的收藏。接著安排現場時間，或找人同行，都沿用同一份地點資料。安排好的活動和已知費用會帶進邀約，再由主揪確認日期、人數及參加條件。先前挑好的內容就能繼續使用。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到訪後留下的照片，和遊戲裡拍的旅伴紀念卡，可以按同一地點一起回看，並清楚分出照片與原創場景卡。場景卡留下的是自己的裝扮和構圖，與實際到訪照片各有用途。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者也能記下這個地方吸引自己的事，例如攝影和線條。本人開啟收藏偏好推薦後，下次探索就優先呈現符合的地方。朋友這一次的需求則保留在共同安排裡，不會自動變成自己的長期偏好。遊戲與收藏也能單獨使用，想出門時再接著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藍晒圖照片：Sinchen Lin，2016，CC BY 2.0，依版面裁切。紀念卡為原創場景的實際保存結果。</a:t>
            </a:r>
          </a:p>
          <a:p xmlns:a="http://schemas.openxmlformats.org/drawingml/2006/main">
            <a:r>
              <a:t>https://creativecommons.org/licenses/by/2.0/</a:t>
            </a:r>
          </a:p>
          <a:p xmlns:a="http://schemas.openxmlformats.org/drawingml/2006/main">
            <a:r>
              <a:t>https://commons.wikimedia.org/wiki/File:18-%E5%8F%B0%E5%8D%97%E8%97%8D%E6%99%92%E5%9C%96%E6%96%87%E5%89%B5%E5%9C%92%E5%8D%80_(29484625966).jpg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探索從自己想做的事開始。這個例子輸入「想拍建築線條與空間」，搜尋結果把臺南國家美術館排在前面，也保留藍晒圖和文學館作為其他選擇。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這幾個地方能拍到的內容不同。美術館可以換個站位，看水平線、立柱和屋頂的層次。藍晒圖可以比較牆上的白線和立體框架，文學館則可以觀察窗框與柱頭。使用者能依想拍的內容來選地方。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選好美術館後，這次給自己一小時、兩百元的入場預算。安排包含十五分鐘看建築、十分鐘選角度拍照，再留三十分鐘看展，合計五十五分鐘。已知一般入場費是一百六十元。這些是現場停留時間的估計，往返時間與交通費另計，當期展覽和開放區域仍以館方公告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目前先收錄台南三個地點。選好的安排可以保存，再接著約人同行，到場後也能看地方介紹、留下照片和文字。搜尋因此能進一步幫助使用者決定，到這個地方要做什麼。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美術館照片：Lchung9779，2025，CC0，依版面裁切。時間為整理活動估計，非真人到訪測量。地點與票價核對日：2026-10-11。</a:t>
            </a:r>
          </a:p>
          <a:p xmlns:a="http://schemas.openxmlformats.org/drawingml/2006/main">
            <a:r>
              <a:t>https://commons.wikimedia.org/wiki/File:Tainan_Art_Museum_Building_2_(%E5%8F%B0%E5%8D%97%E5%B8%82%E7%BE%8E%E8%A1%93%E9%A4%A82%E9%A4%A8).jpg</a:t>
            </a:r>
          </a:p>
          <a:p xmlns:a="http://schemas.openxmlformats.org/drawingml/2006/main">
            <a:r>
              <a:t>https://www.twtainan.net/zh-tw/attractions/detail/5533/</a:t>
            </a:r>
          </a:p>
          <a:p xmlns:a="http://schemas.openxmlformats.org/drawingml/2006/main">
            <a:r>
              <a:t>https://www.momatainan.gov.tw/cp.aspx?n=9522</a:t>
            </a:r>
          </a:p>
          <a:p xmlns:a="http://schemas.openxmlformats.org/drawingml/2006/main">
            <a:r>
              <a:t>https://www.momatainan.gov.tw/cp.aspx?n=9523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有些活動，找到人一起參加才比較適合。合菜就是一個例子：想吃幾道一個人不方便點的菜，可以先看有哪些人也想去，再決定要不要加入。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中的邀約安排在十月十七日星期六晚上六點，地點先定在台南中西區，四人成團。目前有三人，還差一位。一桌餐費先用兩千四百元試算，四人分攤就是每人六百元，交通另計，加入截止是前一天晚上六點。這是示例邀約，餐廳和菜單尚待確認，也還沒有向店家訂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個人加入後，系統會重新試算費用，並請原有成員確認這一版條件。全員同意後才顯示成團。之後如果有人退出，或時間、費用改了，其他人也能先看清變更，再決定是否繼續參加。邀約房間保留聊天與安排變更，方便大家接著討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這個入口把活動內容、目前還缺的人數和參加條件放在一起。已經有想同行的朋友，也可以先選同好，再一起找地方。兩種起點都能用，依當下先有活動還是先有同行的人來決定。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WikiLaurent原攝，Currentlybiscuit調整，2007，CC BY-SA 3.0。依版面裁切並沿用相同授權；照片不代表合作餐廳套餐。</a:t>
            </a:r>
          </a:p>
          <a:p xmlns:a="http://schemas.openxmlformats.org/drawingml/2006/main">
            <a:r>
              <a:t>https://commons.wikimedia.org/wiki/File:Taiwanese_cuisine.jpg</a:t>
            </a:r>
          </a:p>
          <a:p xmlns:a="http://schemas.openxmlformats.org/drawingml/2006/main">
            <a:r>
              <a:t>https://creativecommons.org/licenses/by-sa/3.0/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今天沒有出門計畫，也可以和城市旅伴玩紙鳥。玩家調整方向、高低和力道，在街角把紙鳥拋到旅伴手邊，到了書店，則要讓紙鳥停在書頁上。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書店開窗後會多一道側風，同樣的拋法可能從書頁旁邊飛過。玩家可以看落點，再調整方向和力道，練習把紙鳥送到目標位置。畫面左邊就是紙鳥停在書頁上的狀態。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後，拿到的是能放在旅伴身上的小物。第一次成功會取得旅行包，第一次在街角接住會取得藍屋徽章，第一次在書店接住則得到右邊這片葉片書籤。小物能轉動近看，帶上書籤後，它也會放在旅伴的旅行本上。已取得的物件會保留，重玩不會重複領取同一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雨後書店是原創虛擬場景。小物與經驗用在遊戲裝扮和成長，與和泰 Points 分開。完成挑戰後，玩家可以帶著取得的小物換造型、調光線，再拍成自己的紀念卡。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本案製作的城市旅伴、3D場景與產品介面；畫面與紀念卡均由實際操作取得。原始團隊會議及會後遊戲、收藏設計。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個場景，可以留下不同的個人選擇。左邊這張卡在日光下近看旅伴坐著讀書，右邊換成夜色、站姿和全景。光線、動作、角度與裝備都由本人選，也能加上一句想留下的話，再收進收藏冊。這兩張是在同一天保存的不同構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遊戲也有後續的玩法。完成三項挑戰、讓旅伴升到三級後，就能玩來回接力。先把紙鳥送到旅伴手上或書頁上，牠會再拋回來，換玩家移動位置接住。需要多一點操作時間時，可以選擇在接回前先暫停。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目前有兩個場景、三件小物，已取得的小物和卡片會保留。下次想出門，先前存下的地點也還在想去清單，可以查看同地點的邀約，或以這個地方發起活動。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新的地方內容、活動與收藏，會是之後持續擴充的方向。現在這些操作已經能使用，至於人們會不會主動回來、回來想玩什麼或整理什麼，還需要透過真人試用了解。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本案製作的城市旅伴、3D場景與產品介面；畫面與紀念卡均由實際操作取得。原始團隊會議及會後遊戲、收藏設計。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如果已經有想一起出門的人，共同安排會保留每個人各自想做的事。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這個例子裡，我想拍窗框和柱頭的線條，慢慢看老建築。朋友想看文學展，也願意一起拍幾張照片。兩人都能在現場待六十分鐘，每人的入場預算是兩百元。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次結果選出國立臺灣文學館。我可以看拱窗與柱頭、拍建築細節，朋友可以看文學展，也能在館外一起拍照。同一個去處，對應到兩人不同的興趣。安排估計在現場停留五十分鐘，已知入場費每人零元，交通、當期展覽與開放情況另外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把朋友的時間改成二十五分鐘。原本想看文學展的需求會保留，系統重新核對現有候選後，另列藍晒圖的二十五分鐘拍照安排。這個選項沒有排入文學展，對窗框、柱頭和老建築的期待，也沒有全部確認符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兩人可以改時間，或接受這份替代安排。選用後，哪些需求沒有安排進去，也會跟著保留到邀約中。AI 協助比較和重排，最後由參與的人決定是否接受這些改變。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實際本機模型与產品操作結果；文學館照片：Adece033090，2025，CC BY 4.0，依版面裁切。</a:t>
            </a:r>
          </a:p>
          <a:p xmlns:a="http://schemas.openxmlformats.org/drawingml/2006/main">
            <a:r>
              <a:t>https://www.nmtl.gov.tw/cp.aspx?n=3801</a:t>
            </a:r>
          </a:p>
          <a:p xmlns:a="http://schemas.openxmlformats.org/drawingml/2006/main">
            <a:r>
              <a:t>https://www.nmtl.gov.tw/cp.aspx?n=3894</a:t>
            </a:r>
          </a:p>
          <a:p xmlns:a="http://schemas.openxmlformats.org/drawingml/2006/main">
            <a:r>
              <a:t>https://commons.wikimedia.org/wiki/File:20250719國立臺灣文學館.jpg</a:t>
            </a:r>
          </a:p>
          <a:p xmlns:a="http://schemas.openxmlformats.org/drawingml/2006/main">
            <a:r>
              <a:t>https://creativecommons.org/licenses/by/4.0/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共同安排把語言理解、資料搜尋和條件核對分開處理。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Qwen 先理解每個人的原話，分清想做的事、時間與預算。朋友只改時間，這項改動就只更新朋友的時間條件，想看文學展的需求仍然保留，自己的條件也維持原樣。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接著，E5 用文字意思找出相關地點，規則依已整理的活動內容核對時間和入場費，Qwen 再從符合條件的候選中，選出每個人可以做的活動。自由描述與局部修改需要語言理解，時間和費用則依資料計算，活動說明也沿用有依據的內容。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最後，再把結果對回兩人的原意。原本五十分鐘的文學館安排放不進二十五分鐘裡，系統即使提出拍照選項，仍要列出文學展沒有安排。這樣兩人才能知道自己接受的是什麼改變。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目前本機使用 Qwen3.5-4B 和 multilingual-e5-small，搭配三個已整理的地點，以及本人確認的偏好。官方解題資料還沒有取得。取得後，我們會先確認資料期間、地區與分類，再用熱門上下車地點、場域屬性和時段趨勢，規劃在哪裡、什麼時候增加內容與活動。區域的整體趨勢和個人的喜好會分開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本案本機模型、共同安排與資料核對實作。官方資料資源：https://ht-hackathon.tw/tw/challenge?item=6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現有服務已經有各自成熟的做法。Google Maps 能處理複合需求、個人化推薦，也有規劃、清單和分享。Meetup 提供活動報名與主辦工具，Timeleft 安排陌生人同桌和餐廳。Pikmin Bloom 則把養成、地方收藏、朋友互動和實體活動結合起來。這裡依官方功能說明比較，各服務的推出範圍會隨地區與語言而不同。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yoxi 城市生活的設計重點，是讓使用者先前做的選擇可以接著用。兩人一起挑地方後，活動、時間和已知費用會帶進邀約，還沒安排的需求也留下來。以合菜來說，參與者先看清內容、名額和分攤費用，人數或條件改變後再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遊戲的收穫則會出現在旅伴身上。旅行包可以背著，徽章別在包上，書籤放進旅行本。紀念卡由本人選擇構圖，再和自己的到訪照片按同一地點回看。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是目前原型能展示的連接方式，還沒有相同條件的真人比較結果。要持續提供新體驗，需要逐地更新內容、找到能主持與接待活動的人，也要繼續提供值得保留的收藏。這些地方內容和合作關係，都是後續要建立、維護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下列為官方功能說明，非同需求實測。核對日：2026-10-11。</a:t>
            </a:r>
          </a:p>
          <a:p xmlns:a="http://schemas.openxmlformats.org/drawingml/2006/main">
            <a:r>
              <a:t>https://blog.google/products-and-platforms/products/maps/ask-maps-immersive-navigation/</a:t>
            </a:r>
          </a:p>
          <a:p xmlns:a="http://schemas.openxmlformats.org/drawingml/2006/main">
            <a:r>
              <a:t>https://blog.google/products-and-platforms/products/maps/order-food-in-ask-maps/</a:t>
            </a:r>
          </a:p>
          <a:p xmlns:a="http://schemas.openxmlformats.org/drawingml/2006/main">
            <a:r>
              <a:t>https://help.meetup.com/hc/en-us/articles/39235072484109-Finding-an-event</a:t>
            </a:r>
          </a:p>
          <a:p xmlns:a="http://schemas.openxmlformats.org/drawingml/2006/main">
            <a:r>
              <a:t>https://help.timeleft.com/hc/en-150/articles/28532932215964-How-Do-I-Book-an-Event</a:t>
            </a:r>
          </a:p>
          <a:p xmlns:a="http://schemas.openxmlformats.org/drawingml/2006/main">
            <a:r>
              <a:t>https://niantic.helpshift.com/hc/en/23-pikmin-bloom/faq/2858-postcards/</a:t>
            </a:r>
          </a:p>
          <a:p xmlns:a="http://schemas.openxmlformats.org/drawingml/2006/main">
            <a:r>
              <a:t>https://niantic.helpshift.com/hc/en/23-pikmin-bloom/faq/5083-local-events-hub/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使用者先找到想做的事，確認要參加之後，再各自決定怎麼前往。需要叫車的人，就從已選的去處接到 yoxi 官方入口。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右邊的交通頁保留地點和地址，提供複製目的地與開啟 yoxi 的按鈕。目前目的地不會自動帶入官方 App，使用者仍要在官方 App 確認上車位置、車資，再決定叫車。這個原型還沒有訂單回傳、真實訂位或支付。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方合作也要有清楚的分工。參與者在報名前看活動、名額和費用，主揪與店家依確認的人數及安排準備接待，活動後再看實際到場與回饋，調整下一次內容。第一批試用會先聯繫能確認內容、聯絡方式與責任分工的活動方，這些合作目前仍待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yoxi 而言，我們希望增加有明確目的地的出行機會，也讓地方活動能持續經營。是否值得投入，要看新增訂單，以及合作收入扣除直接成本後的所得。合作費率還要和活動方確認，試用期間也會記錄支援成本，作為後續判斷的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企業題目：https://ht-hackathon.tw/tw/challenge?item=6</a:t>
            </a:r>
          </a:p>
          <a:p xmlns:a="http://schemas.openxmlformats.org/drawingml/2006/main">
            <a:r>
              <a:t>原型使用的官方交通入口：https://yoxi.go.link/aG0qg</a:t>
            </a:r>
          </a:p>
          <a:p xmlns:a="http://schemas.openxmlformats.org/drawingml/2006/main">
            <a:r>
              <a:t>原始會議及本案合作、交通設計。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第一批試用，先選團隊能核對內容、聯繫活動方的一座城市。規劃十個地點、兩場能接待參與者的活動，遊戲沿用現在兩個場景，最多邀請一百人。台南目前是展示案例，試用城市和人力還沒有定案。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從本機原型走到多人試用，要先補正式帳戶、資料同步與刪除、通知和權限。前兩週確認資料、範圍與權限，同時開始聯繫活動方。第三到第五週處理帳戶、同步及介面接合，並行核對地點與測試模型。第六到第九週整合多人通知，再用不同帳戶和裝置檢查人數、費用變動、故障恢復與備份，修正發現的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份初排採用兩人每人每週二十小時，而且兩人都能分攤工程的假設，總工作量為三百二十九小時，先排九週。如果工程只能由一人負責，就需要重排。資料與合作的外部等待時間也要另外計入。這是正式試用的導入時程，與競賽交件時程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正式權限、活動供給、使用者支援和量測都準備好後，才開始一個月的真人試用，觀察再次使用、實際到場與支援成本。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本案首批工作量估算：329小時；兩人各每週20小時，初排9週。團队資源與合作供給待確認。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沿用剛才的試用範圍，從現有原型補強到能讓真人使用，一次投入估計約三十四萬元，每月試用維運約三萬三千元，單位都是新台幣。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投入以三百二十九小時為基準，依工作內容，用每小時五百到九百元估值，人力合計二十八萬零三百元。再加兩成準備金，總額是三十三萬六千三百六十元。主要用在正式帳戶、多人同步與通知、模型整合、地方內容核對，以及發布前測試。這是把投入時間換算成資源價值，團隊自行完成時，現金支出不會直接等於這個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月維運估計三萬二千八百一十七元，其中雲端約兩千五百四十二元，人力三萬零兩百七十五元。人力每月估三十九點七五小時，用於內容更新、活動聯繫、使用者支援與系統問題處理，和前面的開發工作分開計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時、時薪與使用量都是規劃假設，會用試用時的帳單和投入時間調整。雲端模型先按費率假設估算，正式選型還要用相同任務比較後決定。開發期間啟用的雲端環境、尚未確定的外部費用，以及新增完整場景，都另行估算。這份預算的用途，是先看清首批試用需要哪些資源，再依實際條件決定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本案工時與用量假設，不是已支出或報價。候選服務查價來源：</a:t>
            </a:r>
          </a:p>
          <a:p xmlns:a="http://schemas.openxmlformats.org/drawingml/2006/main">
            <a:r>
              <a:t>https://developers.openai.com/api/docs/pricing</a:t>
            </a:r>
          </a:p>
          <a:p xmlns:a="http://schemas.openxmlformats.org/drawingml/2006/main">
            <a:r>
              <a:t>https://developers.cloudflare.com/workers/platform/pricing/</a:t>
            </a:r>
          </a:p>
          <a:p xmlns:a="http://schemas.openxmlformats.org/drawingml/2006/main">
            <a:r>
              <a:t>https://developers.cloudflare.com/r2/pricing/</a:t>
            </a:r>
          </a:p>
          <a:p xmlns:a="http://schemas.openxmlformats.org/drawingml/2006/main">
            <a:r>
              <a:t>https://supabase.com/pricing</a:t>
            </a:r>
          </a:p>
          <a:p xmlns:a="http://schemas.openxmlformats.org/drawingml/2006/main">
            <a:r>
              <a:t>https://resend.com/pricing</a:t>
            </a:r>
          </a:p>
          <a:p xmlns:a="http://schemas.openxmlformats.org/drawingml/2006/main">
            <a:r>
              <a:t>https://firebase.google.com/pricing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人試用要了解的，是使用者看不看得懂、想不想用，以及用了之後會不會回來。第一次接觸的人先自己操作，再說明會先用哪一項、為什麼。我們記錄他卡住的位置，也記錄他主動想繼續做的事，分清問題出在說明和操作，還是功能本身缺少吸引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訪會分開看探索、同行與收藏。以首次完成這一類活動、而且已經有完整觀察期間的人為基準，記錄隔天、一週和一個月後有哪些人再使用，以及回來做了什麼。例如修改安排、加入邀約，或再玩一次紙鳥、整理紀念卡。晚加入的人，等觀察期間到了再計入。三種用途的使用頻率可能不同，也要分別解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方面，會核對報名、到場和取消原因。營運方面，記錄維護工時、支援成本與合作所得。官方叫車訂單目前沒有回傳，取得有合法使用依據、能辨認來源的資料後，才能記錄經這個入口完成的訂單。要進一步判斷是不是新增的訂單，還需要和相同條件的基準或未使用這項功能的人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的作用也要在固定版本、相同資料和輸入下，和規則或語意搜尋的結果比較。現有案例顯示了功能如何運作，真人吸引力、回訪、到場和收入仍要透過試用了解。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如果使用者沒看懂，就改說明與操作。若已經看懂，卻仍不想用，就回頭改功能和內容。這些結果會幫助我們決定先改善哪裡，以及是否擴大試用。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本案規劃的試用方法與條件；尚無真人結果。官方效益要求：https://ht-hackathon.tw/tw/challenge?item=6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yoxi 城市生活，希望在使用者還沒決定出門、甚至今天不出門的時候，就提供具體的用途。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找地方，可以從興趣開始，和朋友一起安排時也保留各自想做的事。想找人同行，可以先看清活動內容與費用，再決定參加。想玩一會兒，就和旅伴拋接紙鳥，帶上取得的小物，把自己選的光線、姿勢和角度留成紀念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這幾種體驗各自能使用，也能沿用同一個去處接著安排。等到決定出門、需要交通時，再從已選的地點接到 yoxi 官方入口。我們的目標，是讓找去處、約人參與和留下城市紀念，都成為日常會使用 yoxi 的理由。謝謝。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本案製作的城市旅伴、3D場景與產品介面；畫面與紀念卡均由實際操作取得。原始團隊會議及會後遊戲、收藏設計。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操作可以從探索開始，輸入今天想做的事，挑地方再安排現場時間。已經有想同行的人，就先保留彼此的想法，再找共同的去處。想參加現成活動，可以看名額和費用、加入邀約。今天不出門，也能直接玩紙鳥、取得小物、保存自己的紀念卡。這些入口可以各自使用，按同一地點回看照片和紀念時，再接著做下次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可以貼入含已收錄地名的文字或地圖資訊，由本人確認要留下哪些地方，再加入想去清單。收藏之後可以查看同地點邀約，也能先安排一個目的地的現場活動。目前收錄台南三個真實地點，還沒有一般社群貼文的圖片或影片辨識。手機原生分享、跨城搜尋、附近提醒和多站行程仍是後續功能，第一版是否支援影片還沒有決定。 附近替代地點是後續擴充，提供替代時仍要保留本人原先想去的遠方地點。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邀約在加入前先交代活動、時間、人數、截止和費用。先記為有興趣不占名額，確認條件才參加。人數或安排改變時，費用和確認版本一起更新，其他成員看過新條件後再決定。主揪退出後，保留的團體需要成員接手。截止前可以修改安排，逾期後另建邀約。目前沒有真實訂位或金流，正式取消與退款流程仍待設計。 會議也提過同時在幾個想去的地方等人，某個選項人齊了再選擇。這個跨候選的安排仍需決定衝突和確認規則，沒有自動替使用者報名。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參加活動的人可以各自決定交通方式。原型提供已選目的地和官方叫車入口，目的地尚不會自動帶入，也不會替使用者叫車。個人偏好由本人確認，通知與封鎖目前在本機測試。正式服務還需要帳號權限、位置與推播同意。匿名、同性別選項、不同上車點和等待費用，保留為需要進一步設計的會議構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紙鳥遊戲目前有四項任務，每項完成得到二十經驗，上限六十。完成任意三項便達到三級，可以和旅伴來回接力。首次成功能取得旅行包，在街角與書店成功則各有對應小物。玩家依風向調整投擲，也可以帶上已取得物件，重新選擇紀念卡的光線、動作和構圖。目前有兩個場景、三件小物，經驗不等於可以折抵的點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的照片和遊戲裡保存的紀念卡，按同一地點放在一起回看，也會分清來源。照片可以附上想留下的文字，卡片則保留自己選的裝扮和構圖。藍色街角以真實地點為靈感，能接回想去清單；雨後書店是虛擬場景。日後若加入地方投稿、共同紀念或文化地圖，需要先處理內容來源、作者同意和更新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Qwen 處理自然語句，理解每個人的需求，以及後來只改了哪一個條件。E5 找出語意相關的地方，規則再核對活動時間和入場費。共同安排從已整理的候選選活動，地方問答則保留來源和未確認的部分。名額、費用、同意版本與遊戲進度由明確規則處理。目前找伴依興趣和條件比對，還沒有用生成模型做人員配對。正式模型仍需要相同任務的比較，不能由本機成功推定正式規模的品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解題資料尚未取得。收到之後，先確認各欄位的意思、時間範圍、地理精度與使用條件，再把熱門上下車地點、場域屬性及時段趨勢用於城市內容和活動規劃。這些資料能提供區域需求的線索，個人的喜好仍需本人確認。資料如何影響推薦和供給，要在接入後用具體結果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官方企業題目及初賽簡報模板：https://ht-hackathon.tw/tw/challenge?item=6</a:t>
            </a:r>
          </a:p>
          <a:p xmlns:a="http://schemas.openxmlformats.org/drawingml/2006/main">
            <a:r>
              <a:t>https://ht-hackathon.tw/tw/faq/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比較固定兩人的想法與每人兩百元入場預算，只改朋友能留在現場的時間。兩人原本各有六十分鐘，可以安排五十分鐘的文學館活動。朋友改為二十五分鐘後，原方案放不進去，另列藍晒圖的拍照安排，同時保留文學展未安排，以及部分建築細節尚未確認。使用者要知道自己接受了什麼改變。這是功能案例，還沒有同版本、同資料的 AI 與規則品質比較。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南目前用來展示，正式試辦城市依團隊能否到場、內容是否可核對，以及活動供給來選擇。第一批規劃先確認十個地點和兩場活動。合作方提供內容、名額與接待，團隊負責資訊與邀約，事前約定取消和支援責任。可更新的地方內容與合作關係需要逐城累積，目前沒有已成立的合作網絡或難以複製的門檻。 地方內容還需要店家核對生活資訊、菜色和多人優惠；評論需標明來源，不能把展示資料當成真實評價。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表比較不同用量下的每月預算，沒有預測使用者一定會成長到這些規模。成本同時包含雲端和人力，後者負責內容更新、活動聯繫、支援與維運。金額採新台幣、未稅，預算匯率是每美元三十二元。行銷、獎勵、現場活動、保險與外部授權需另外詢價，再加入完整預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本案工時與用量假設，不是已支出或報價。候選服務查價來源：</a:t>
            </a:r>
          </a:p>
          <a:p xmlns:a="http://schemas.openxmlformats.org/drawingml/2006/main">
            <a:r>
              <a:t>https://developers.openai.com/api/docs/pricing</a:t>
            </a:r>
          </a:p>
          <a:p xmlns:a="http://schemas.openxmlformats.org/drawingml/2006/main">
            <a:r>
              <a:t>https://developers.cloudflare.com/workers/platform/pricing/</a:t>
            </a:r>
          </a:p>
          <a:p xmlns:a="http://schemas.openxmlformats.org/drawingml/2006/main">
            <a:r>
              <a:t>https://developers.cloudflare.com/r2/pricing/</a:t>
            </a:r>
          </a:p>
          <a:p xmlns:a="http://schemas.openxmlformats.org/drawingml/2006/main">
            <a:r>
              <a:t>https://supabase.com/pricing</a:t>
            </a:r>
          </a:p>
          <a:p xmlns:a="http://schemas.openxmlformats.org/drawingml/2006/main">
            <a:r>
              <a:t>https://resend.com/pricing</a:t>
            </a:r>
          </a:p>
          <a:p xmlns:a="http://schemas.openxmlformats.org/drawingml/2006/main">
            <a:r>
              <a:t>https://firebase.google.com/pricing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通與活動要先確認哪些交易是這項服務新增的，再看每一筆扣掉直接成本後留下多少。活動服務費或商家合作費還需要實際談定，交易總額不等於平台收入。持續收入必須支應每月維運、行銷、獎勵和其他費用，另外再考慮一次建置與開發期雲端的回收。目前沒有實際收入與轉換率，試用後才能重新判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本案工時與用量假設，不是已支出或報價。候選服務查價來源：</a:t>
            </a:r>
          </a:p>
          <a:p xmlns:a="http://schemas.openxmlformats.org/drawingml/2006/main">
            <a:r>
              <a:t>https://developers.openai.com/api/docs/pricing</a:t>
            </a:r>
          </a:p>
          <a:p xmlns:a="http://schemas.openxmlformats.org/drawingml/2006/main">
            <a:r>
              <a:t>https://developers.cloudflare.com/workers/platform/pricing/</a:t>
            </a:r>
          </a:p>
          <a:p xmlns:a="http://schemas.openxmlformats.org/drawingml/2006/main">
            <a:r>
              <a:t>https://developers.cloudflare.com/r2/pricing/</a:t>
            </a:r>
          </a:p>
          <a:p xmlns:a="http://schemas.openxmlformats.org/drawingml/2006/main">
            <a:r>
              <a:t>https://supabase.com/pricing</a:t>
            </a:r>
          </a:p>
          <a:p xmlns:a="http://schemas.openxmlformats.org/drawingml/2006/main">
            <a:r>
              <a:t>https://resend.com/pricing</a:t>
            </a:r>
          </a:p>
          <a:p xmlns:a="http://schemas.openxmlformats.org/drawingml/2006/main">
            <a:r>
              <a:t>https://firebase.google.com/pricing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準三百二十九小時，主要用於正式帳戶、權限、同步與通知，再把模型、介面、地方內容和活動接合。試用規則、整合、監測與恢復也需要工時。按不同工作估算，人力價值合計二十八萬零三百元，加兩成準備金，共三十三萬六千三百六十元。這是資源估值，實際投入要依人力與接口條件調整，外部費用另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目前原型把資料存在瀏覽器，已能實際操作，正式多人服務還要有登入、資料權限及伺服器共同狀態。同時加入、資料恢復和通知，都需要不同帳號和裝置的檢查。模型目前在 Mac mini 運行，雲端候選要做相同任務比較後才選用。原生手機分享、yoxi 帳戶和叫車獎勵，以及訂位金流，需另確認正式介接條件。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本案工時與用量假設，不是已支出或報價。候選服務查價來源：</a:t>
            </a:r>
          </a:p>
          <a:p xmlns:a="http://schemas.openxmlformats.org/drawingml/2006/main">
            <a:r>
              <a:t>https://developers.openai.com/api/docs/pricing</a:t>
            </a:r>
          </a:p>
          <a:p xmlns:a="http://schemas.openxmlformats.org/drawingml/2006/main">
            <a:r>
              <a:t>https://developers.cloudflare.com/workers/platform/pricing/</a:t>
            </a:r>
          </a:p>
          <a:p xmlns:a="http://schemas.openxmlformats.org/drawingml/2006/main">
            <a:r>
              <a:t>https://developers.cloudflare.com/r2/pricing/</a:t>
            </a:r>
          </a:p>
          <a:p xmlns:a="http://schemas.openxmlformats.org/drawingml/2006/main">
            <a:r>
              <a:t>https://supabase.com/pricing</a:t>
            </a:r>
          </a:p>
          <a:p xmlns:a="http://schemas.openxmlformats.org/drawingml/2006/main">
            <a:r>
              <a:t>https://resend.com/pricing</a:t>
            </a:r>
          </a:p>
          <a:p xmlns:a="http://schemas.openxmlformats.org/drawingml/2006/main">
            <a:r>
              <a:t>https://firebase.google.com/pricing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次試用先讓人自行操作，再請他說明理解了什麼、會想用哪部分。探索、同行和遊戲分開記錄有效行動與回訪，以各功能首次有效使用日為起點，等觀察期間完整才比較。報名、到場、交通入口和真正訂單也分開計算。這些結果連同維護工時與合作所得，幫助團隊分辨該改說明、改操作，還是改功能與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地方收藏和現場合作已有實際案例。Pikmin Bloom在2026年5月23日至9月7日和Seattle Aquarium合作，在西雅圖海濱設置九個遊戲地點，參加者可以取得與各地點相關的飾品皮克敏金色盆苗，活動期間每個點每三十天可再取得一次。這裡可借鏡的是合作的分工：地方機構提供場域，遊戲提供能持續收藏的內容。這份公告沒有提供回訪或營收數據，所以我們只用它說明合作形式。對yoxi來說，企業已提出日常互動需求，也規劃提供去識別化出行和地點資料。本案先做可操作體驗，再和少數地方夥伴試辦，確認使用者想參與什麼，以及是否帶來新的出行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Pikmin Bloom官方活動公告：https://pikminbloom.com/news/may26-seattleminiwalk?arkp=1&amp;country_code=JP&amp;game_client=android</a:t>
            </a:r>
          </a:p>
          <a:p xmlns:a="http://schemas.openxmlformats.org/drawingml/2006/main">
            <a:r>
              <a:t>企業題目：https://ht-hackathon.tw/tw/challenge?item=6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後續功能繼續支持三個體驗。分享、跨城收藏和提醒幫助安排出門；展覽蒐集、照片、日記和文化地圖保留地方發現；里程、貼紙和會員成長增加不同回饋。AI 找伴、跨圈活動和其他同行形式也保留為提議。這些功能尚未全部納入第一版，每一項都要補對應的資料、供給、權限與成本，才排進實作。 同角度拍照曾討論時間和相似度條件。要做成自願參加的挑戰，還得先定義如何判定，不影響平常拍紀念照。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官方題目、繳件規定與地方資訊都保留原始來源連結。地點的事實與本案設計的活動安排分開。展覽、營業和票價會變動，實際使用前仍需依官方最新公告確認。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同類服務依官方功能說明比較，沒有把功能介紹當成相同需求的實測結果。雲端候選費率來自各服務官方價格，採用前需要依方案和實際用量重新確認。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照片按原作者與授權列出，依簡報版面做了裁切。城市介面、旅伴、場景和小物是本案製作，畫面取自原型操作與實際保存的卡片。照片和場景卡不代表本人到訪或正式合作。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資料與畫面來源（供查閱）</a:t>
            </a:r>
          </a:p>
          <a:p xmlns:a="http://schemas.openxmlformats.org/drawingml/2006/main">
            <a:r>
              <a:t>https://commons.wikimedia.org/wiki/File:Tainan_Art_Museum_Building_2_(台南市美術館2館).jpg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d453187d949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f7bae579a47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5422adbb945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28a597f3644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25bcf3b8841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25fdc771a42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FA7517-2C15-481A-ABF8-0DB781FD2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923EFD-A863-43DA-AB37-77268896FB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4E7B00-4399-4308-83B5-EF284FCEF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BBE6BC-01D0-42E8-9475-748174B05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815E70-BB7F-40C5-953B-3FA7F734B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5D4EDF-B183-4B4F-8CE8-3610E2DF2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3573DC-B036-4E2A-BB83-B6CF20896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E34642-EE58-4539-96A6-AECC97372C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8E3085-A505-4070-BF99-5FD7F216E6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C39197-34AE-4678-9194-322959E679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eb0080cae4a1f" /><Relationship Type="http://schemas.openxmlformats.org/officeDocument/2006/relationships/slideLayout" Target="/ppt/slideLayouts/slideLayout1.xml" Id="Ra057d5a4bf614636" /><Relationship Type="http://schemas.openxmlformats.org/officeDocument/2006/relationships/slideLayout" Target="/ppt/slideLayouts/slideLayout2.xml" Id="R881b93a7a4244aa7" /><Relationship Type="http://schemas.openxmlformats.org/officeDocument/2006/relationships/slideLayout" Target="/ppt/slideLayouts/slideLayout3.xml" Id="R38cc22f1b04249d4" /><Relationship Type="http://schemas.openxmlformats.org/officeDocument/2006/relationships/slideLayout" Target="/ppt/slideLayouts/slideLayout4.xml" Id="R9a2329404c0f4e78" /><Relationship Type="http://schemas.openxmlformats.org/officeDocument/2006/relationships/slideLayout" Target="/ppt/slideLayouts/slideLayout5.xml" Id="R65d804e8d6784f1c" /><Relationship Type="http://schemas.openxmlformats.org/officeDocument/2006/relationships/slideLayout" Target="/ppt/slideLayouts/slideLayout6.xml" Id="R1511a54e88b84c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57d5a4bf614636"/>
    <p:sldLayoutId xmlns:r="http://schemas.openxmlformats.org/officeDocument/2006/relationships" id="2147483650" r:id="R881b93a7a4244aa7"/>
    <p:sldLayoutId xmlns:r="http://schemas.openxmlformats.org/officeDocument/2006/relationships" id="2147483651" r:id="R38cc22f1b04249d4"/>
    <p:sldLayoutId xmlns:r="http://schemas.openxmlformats.org/officeDocument/2006/relationships" id="2147483652" r:id="R9a2329404c0f4e78"/>
    <p:sldLayoutId xmlns:r="http://schemas.openxmlformats.org/officeDocument/2006/relationships" id="2147483653" r:id="R65d804e8d6784f1c"/>
    <p:sldLayoutId xmlns:r="http://schemas.openxmlformats.org/officeDocument/2006/relationships" id="2147483654" r:id="R1511a54e88b84c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33daab4484ce7" /><Relationship Type="http://schemas.openxmlformats.org/officeDocument/2006/relationships/notesSlide" Target="/ppt/notesSlides/notesSlide1.xml" Id="Rc46e59c266ca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34648ef574261" /><Relationship Type="http://schemas.openxmlformats.org/officeDocument/2006/relationships/image" Target="/ppt/media/image.png" Id="R8c66c72947a54c40" /><Relationship Type="http://schemas.openxmlformats.org/officeDocument/2006/relationships/image" Target="/ppt/media/image.svg" Id="Rfeb88e89c51a474d" /><Relationship Type="http://schemas.openxmlformats.org/officeDocument/2006/relationships/image" Target="/ppt/media/image.jpeg" Id="R7399c106e9544bf0" /><Relationship Type="http://schemas.openxmlformats.org/officeDocument/2006/relationships/image" Target="/ppt/media/image2.jpeg" Id="Rbc5efa25cf9e47cf" /><Relationship Type="http://schemas.openxmlformats.org/officeDocument/2006/relationships/image" Target="/ppt/media/image2.png" Id="Rf522ecb9d96a4143" /><Relationship Type="http://schemas.openxmlformats.org/officeDocument/2006/relationships/notesSlide" Target="/ppt/notesSlides/notesSlide2.xml" Id="Rdede0bc4b6e14e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67e9be2d84602" /><Relationship Type="http://schemas.openxmlformats.org/officeDocument/2006/relationships/notesSlide" Target="/ppt/notesSlides/notesSlide3.xml" Id="Rd99dd989f5954f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c937d253948ca" /><Relationship Type="http://schemas.openxmlformats.org/officeDocument/2006/relationships/image" Target="/ppt/media/image3.png" Id="R14582f0db57145ec" /><Relationship Type="http://schemas.openxmlformats.org/officeDocument/2006/relationships/image" Target="/ppt/media/image3.jpeg" Id="R26bd5ea1653b4535" /><Relationship Type="http://schemas.openxmlformats.org/officeDocument/2006/relationships/notesSlide" Target="/ppt/notesSlides/notesSlide4.xml" Id="R5e3a8158589b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5f85dbba54717" /><Relationship Type="http://schemas.openxmlformats.org/officeDocument/2006/relationships/image" Target="/ppt/media/image4.jpeg" Id="Redb60a577b734829" /><Relationship Type="http://schemas.openxmlformats.org/officeDocument/2006/relationships/notesSlide" Target="/ppt/notesSlides/notesSlide5.xml" Id="R7904cef87b8a49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8aa52867a4aaf" /><Relationship Type="http://schemas.openxmlformats.org/officeDocument/2006/relationships/image" Target="/ppt/media/image5.jpeg" Id="R89f093fbb8a04c63" /><Relationship Type="http://schemas.openxmlformats.org/officeDocument/2006/relationships/notesSlide" Target="/ppt/notesSlides/notesSlide6.xml" Id="R7932d0db3dab46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0125f4de74b8b" /><Relationship Type="http://schemas.openxmlformats.org/officeDocument/2006/relationships/image" Target="/ppt/media/image6.jpeg" Id="R7db2e44cc0124be5" /><Relationship Type="http://schemas.openxmlformats.org/officeDocument/2006/relationships/image" Target="/ppt/media/image7.jpeg" Id="Rbea5c088e46d441c" /><Relationship Type="http://schemas.openxmlformats.org/officeDocument/2006/relationships/notesSlide" Target="/ppt/notesSlides/notesSlide7.xml" Id="R1c6981edad0d4a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89cee078147e8" /><Relationship Type="http://schemas.openxmlformats.org/officeDocument/2006/relationships/image" Target="/ppt/media/image4.png" Id="R86eee34db8a44065" /><Relationship Type="http://schemas.openxmlformats.org/officeDocument/2006/relationships/image" Target="/ppt/media/image5.png" Id="R39a8c51040c44f76" /><Relationship Type="http://schemas.openxmlformats.org/officeDocument/2006/relationships/notesSlide" Target="/ppt/notesSlides/notesSlide8.xml" Id="R897d66d7c12944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9b9bcfccb4ef9" /><Relationship Type="http://schemas.openxmlformats.org/officeDocument/2006/relationships/image" Target="/ppt/media/image8.jpeg" Id="R1c5ab5f291fe4d48" /><Relationship Type="http://schemas.openxmlformats.org/officeDocument/2006/relationships/notesSlide" Target="/ppt/notesSlides/notesSlide9.xml" Id="R1129a2099b7c4d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3f43c57974c04" /><Relationship Type="http://schemas.openxmlformats.org/officeDocument/2006/relationships/notesSlide" Target="/ppt/notesSlides/notesSlide10.xml" Id="Rf7e331410aa044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543dd99b94370" /><Relationship Type="http://schemas.openxmlformats.org/officeDocument/2006/relationships/notesSlide" Target="/ppt/notesSlides/notesSlide11.xml" Id="R39f286df442040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7c5f67052463e" /><Relationship Type="http://schemas.openxmlformats.org/officeDocument/2006/relationships/image" Target="/ppt/media/image9.jpeg" Id="R0fa6983fd5264eea" /><Relationship Type="http://schemas.openxmlformats.org/officeDocument/2006/relationships/notesSlide" Target="/ppt/notesSlides/notesSlide12.xml" Id="R7d1e6d3e83a84a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5b113d4b045da" /><Relationship Type="http://schemas.openxmlformats.org/officeDocument/2006/relationships/notesSlide" Target="/ppt/notesSlides/notesSlide13.xml" Id="R716a4372517e4d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0a0c9de214861" /><Relationship Type="http://schemas.openxmlformats.org/officeDocument/2006/relationships/notesSlide" Target="/ppt/notesSlides/notesSlide14.xml" Id="R5b858980cbad4f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582792886452d" /><Relationship Type="http://schemas.openxmlformats.org/officeDocument/2006/relationships/notesSlide" Target="/ppt/notesSlides/notesSlide15.xml" Id="R4b288b0a93c845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d32349c3542fc" /><Relationship Type="http://schemas.openxmlformats.org/officeDocument/2006/relationships/image" Target="/ppt/media/image6.png" Id="R7fe24420151e4422" /><Relationship Type="http://schemas.openxmlformats.org/officeDocument/2006/relationships/notesSlide" Target="/ppt/notesSlides/notesSlide16.xml" Id="Rc3aec8ebcb1243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c05c8abec34211" /><Relationship Type="http://schemas.openxmlformats.org/officeDocument/2006/relationships/notesSlide" Target="/ppt/notesSlides/notesSlide17.xml" Id="Raf2216252bd84b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1b9bbc8864a2d" /><Relationship Type="http://schemas.openxmlformats.org/officeDocument/2006/relationships/notesSlide" Target="/ppt/notesSlides/notesSlide18.xml" Id="Rfdef77838f504e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d0393853c4a9a" /><Relationship Type="http://schemas.openxmlformats.org/officeDocument/2006/relationships/notesSlide" Target="/ppt/notesSlides/notesSlide19.xml" Id="R4f2ec310cf054a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f3a712de8487d" /><Relationship Type="http://schemas.openxmlformats.org/officeDocument/2006/relationships/notesSlide" Target="/ppt/notesSlides/notesSlide20.xml" Id="Rd391edc42ab643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6e31ce39e4d63" /><Relationship Type="http://schemas.openxmlformats.org/officeDocument/2006/relationships/notesSlide" Target="/ppt/notesSlides/notesSlide21.xml" Id="R3d5e29a8799947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615fea375451f" /><Relationship Type="http://schemas.openxmlformats.org/officeDocument/2006/relationships/notesSlide" Target="/ppt/notesSlides/notesSlide22.xml" Id="R1f050adf56d245b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f7e20c4fb43c8" /><Relationship Type="http://schemas.openxmlformats.org/officeDocument/2006/relationships/notesSlide" Target="/ppt/notesSlides/notesSlide23.xml" Id="R81c95fe6a8e74a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84ae4d27f47f9" /><Relationship Type="http://schemas.openxmlformats.org/officeDocument/2006/relationships/notesSlide" Target="/ppt/notesSlides/notesSlide24.xml" Id="Rb3e25d51eeae455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a11192d794987" /><Relationship Type="http://schemas.openxmlformats.org/officeDocument/2006/relationships/notesSlide" Target="/ppt/notesSlides/notesSlide25.xml" Id="R423eb39ac28e48e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b65460842479f" /><Relationship Type="http://schemas.openxmlformats.org/officeDocument/2006/relationships/notesSlide" Target="/ppt/notesSlides/notesSlide26.xml" Id="Rb140088556804e9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24accb11749ad" /><Relationship Type="http://schemas.openxmlformats.org/officeDocument/2006/relationships/notesSlide" Target="/ppt/notesSlides/notesSlide27.xml" Id="R41b030bf3769463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e894f9ac641fb" /><Relationship Type="http://schemas.openxmlformats.org/officeDocument/2006/relationships/notesSlide" Target="/ppt/notesSlides/notesSlide28.xml" Id="Rc2dfdb7e2e4f4a2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44811bb08439c" /><Relationship Type="http://schemas.openxmlformats.org/officeDocument/2006/relationships/notesSlide" Target="/ppt/notesSlides/notesSlide29.xml" Id="R5846b23a8653420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dc489bcfe4a90" /><Relationship Type="http://schemas.openxmlformats.org/officeDocument/2006/relationships/notesSlide" Target="/ppt/notesSlides/notesSlide30.xml" Id="R2f4835b13b0b41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210c990614653" /><Relationship Type="http://schemas.openxmlformats.org/officeDocument/2006/relationships/notesSlide" Target="/ppt/notesSlides/notesSlide31.xml" Id="Rf70eaf8ed29c4df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56f8d9d0043b5" /><Relationship Type="http://schemas.openxmlformats.org/officeDocument/2006/relationships/hyperlink" Target="https://pikminbloom.com/news/may26-seattleminiwalk?arkp=1&amp;country_code=JP&amp;game_client=android" TargetMode="External" Id="Rfb528f028b0545b4" /><Relationship Type="http://schemas.openxmlformats.org/officeDocument/2006/relationships/notesSlide" Target="/ppt/notesSlides/notesSlide32.xml" Id="R5672beea634c418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ab359ad2542fd" /><Relationship Type="http://schemas.openxmlformats.org/officeDocument/2006/relationships/notesSlide" Target="/ppt/notesSlides/notesSlide33.xml" Id="Rf3b3c3d6254a483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08130d7fb4bb6" /><Relationship Type="http://schemas.openxmlformats.org/officeDocument/2006/relationships/hyperlink" Target="https://ht-hackathon.tw/tw/challenge?item=6" TargetMode="External" Id="R46c340ec002945c6" /><Relationship Type="http://schemas.openxmlformats.org/officeDocument/2006/relationships/hyperlink" Target="https://ht-hackathon.tw/tw/faq/" TargetMode="External" Id="R5b7cc7b726364418" /><Relationship Type="http://schemas.openxmlformats.org/officeDocument/2006/relationships/hyperlink" Target="https://e40125.github.io/yoxi-meeting-review/" TargetMode="External" Id="R625a21c077034759" /><Relationship Type="http://schemas.openxmlformats.org/officeDocument/2006/relationships/hyperlink" Target="https://www.twtainan.net/zh-tw/attractions/detail/740/" TargetMode="External" Id="Rbb1b3af1d0944c07" /><Relationship Type="http://schemas.openxmlformats.org/officeDocument/2006/relationships/hyperlink" Target="https://info.tainan.gov.tw/News_Content.aspx?n=25742&amp;s=8539664" TargetMode="External" Id="Rfa632cb8e6814109" /><Relationship Type="http://schemas.openxmlformats.org/officeDocument/2006/relationships/hyperlink" Target="https://www.nmtl.gov.tw/cp.aspx?n=3801" TargetMode="External" Id="R1f975cedbd054199" /><Relationship Type="http://schemas.openxmlformats.org/officeDocument/2006/relationships/hyperlink" Target="https://www.nmtl.gov.tw/cp.aspx?n=3894" TargetMode="External" Id="R1ad7e30197cf4249" /><Relationship Type="http://schemas.openxmlformats.org/officeDocument/2006/relationships/hyperlink" Target="https://www.momatainan.gov.tw/cp.aspx?n=9522" TargetMode="External" Id="R8719597d43fd4653" /><Relationship Type="http://schemas.openxmlformats.org/officeDocument/2006/relationships/hyperlink" Target="https://www.momatainan.gov.tw/cp.aspx?n=9523" TargetMode="External" Id="R87539348ba0b4635" /><Relationship Type="http://schemas.openxmlformats.org/officeDocument/2006/relationships/notesSlide" Target="/ppt/notesSlides/notesSlide34.xml" Id="Rff679539bdf4406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daaf8cda64550" /><Relationship Type="http://schemas.openxmlformats.org/officeDocument/2006/relationships/hyperlink" Target="https://blog.google/products-and-platforms/products/maps/ask-maps-immersive-navigation/" TargetMode="External" Id="R738b412ac2a04995" /><Relationship Type="http://schemas.openxmlformats.org/officeDocument/2006/relationships/hyperlink" Target="https://blog.google/products-and-platforms/products/maps/order-food-in-ask-maps/" TargetMode="External" Id="R298074f26b3142c2" /><Relationship Type="http://schemas.openxmlformats.org/officeDocument/2006/relationships/hyperlink" Target="https://help.meetup.com/hc/en-us/articles/39235072484109-Finding-an-event" TargetMode="External" Id="Rb1c89ea3eab74a50" /><Relationship Type="http://schemas.openxmlformats.org/officeDocument/2006/relationships/hyperlink" Target="https://help.timeleft.com/hc/en-150/articles/28532932215964-How-Do-I-Book-an-Event" TargetMode="External" Id="R389f6e7386964e9c" /><Relationship Type="http://schemas.openxmlformats.org/officeDocument/2006/relationships/hyperlink" Target="https://niantic.helpshift.com/hc/en/23-pikmin-bloom/faq/2858-postcards/" TargetMode="External" Id="R8711778cfbd6498a" /><Relationship Type="http://schemas.openxmlformats.org/officeDocument/2006/relationships/hyperlink" Target="https://niantic.helpshift.com/hc/en/23-pikmin-bloom/faq/5083-local-events-hub/" TargetMode="External" Id="R777bec0bd4114a6f" /><Relationship Type="http://schemas.openxmlformats.org/officeDocument/2006/relationships/hyperlink" Target="https://developers.openai.com/api/docs/pricing" TargetMode="External" Id="R9744a7a32ad84a61" /><Relationship Type="http://schemas.openxmlformats.org/officeDocument/2006/relationships/hyperlink" Target="https://developers.cloudflare.com/workers/platform/pricing/" TargetMode="External" Id="R42c56b1f2f6447f8" /><Relationship Type="http://schemas.openxmlformats.org/officeDocument/2006/relationships/hyperlink" Target="https://developers.cloudflare.com/r2/pricing/" TargetMode="External" Id="Rc41dd89b48854d28" /><Relationship Type="http://schemas.openxmlformats.org/officeDocument/2006/relationships/hyperlink" Target="https://supabase.com/pricing" TargetMode="External" Id="Rc164609407db45f3" /><Relationship Type="http://schemas.openxmlformats.org/officeDocument/2006/relationships/hyperlink" Target="https://resend.com/pricing" TargetMode="External" Id="R319a11eb5d5a4852" /><Relationship Type="http://schemas.openxmlformats.org/officeDocument/2006/relationships/hyperlink" Target="https://firebase.google.com/pricing" TargetMode="External" Id="Rab5fec6e3237486f" /><Relationship Type="http://schemas.openxmlformats.org/officeDocument/2006/relationships/notesSlide" Target="/ppt/notesSlides/notesSlide35.xml" Id="Rf5337c2871d24b6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3b139146748bb" /><Relationship Type="http://schemas.openxmlformats.org/officeDocument/2006/relationships/hyperlink" Target="https://commons.wikimedia.org/wiki/File:20250719&#22283;&#31435;&#33274;&#28771;&#25991;&#23416;&#39208;.jpg" TargetMode="External" Id="Re6728d20b4844120" /><Relationship Type="http://schemas.openxmlformats.org/officeDocument/2006/relationships/hyperlink" Target="https://commons.wikimedia.org/wiki/File:18-&#21488;&#21335;&#34253;&#26194;&#22294;&#25991;&#21109;&#22290;&#21312;_(29484625966).jpg" TargetMode="External" Id="R00c1a7c2057440fe" /><Relationship Type="http://schemas.openxmlformats.org/officeDocument/2006/relationships/hyperlink" Target="https://commons.wikimedia.org/wiki/File:Taiwanese_cuisine.jpg" TargetMode="External" Id="Rd4c4409c71e54f65" /><Relationship Type="http://schemas.openxmlformats.org/officeDocument/2006/relationships/hyperlink" Target="https://creativecommons.org/licenses/by/4.0/" TargetMode="External" Id="R5f4bcee380ff41bc" /><Relationship Type="http://schemas.openxmlformats.org/officeDocument/2006/relationships/hyperlink" Target="https://creativecommons.org/licenses/by/2.0/" TargetMode="External" Id="Rd560561c006b42cc" /><Relationship Type="http://schemas.openxmlformats.org/officeDocument/2006/relationships/hyperlink" Target="https://creativecommons.org/licenses/by-sa/3.0/" TargetMode="External" Id="R27c719aa4e9b42da" /><Relationship Type="http://schemas.openxmlformats.org/officeDocument/2006/relationships/notesSlide" Target="/ppt/notesSlides/notesSlide36.xml" Id="Rd0584f16b42d46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官方摘要">
            <a:extLst xmlns:a="http://schemas.openxmlformats.org/drawingml/2006/main">
              <a:ext uri="{FF2B5EF4-FFF2-40B4-BE49-F238E27FC236}">
                <a16:creationId xmlns:a16="http://schemas.microsoft.com/office/drawing/2014/main" id="{B36A0AB1-9771-46AD-BBB8-5C9B892B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提案摘要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B4182-1ED8-471C-A546-3E1FAD751D2F}"/>
              </a:ext>
            </a:extLst>
          </p:cNvPr>
          <p:cNvGraphicFramePr/>
          <p:nvPr/>
        </p:nvGraphicFramePr>
        <p:xfrm>
          <a:off xmlns:a="http://schemas.openxmlformats.org/drawingml/2006/main" x="495300" y="1019175"/>
          <a:ext xmlns:a="http://schemas.openxmlformats.org/drawingml/2006/main" cx="11201400" cy="54387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1300"/>
                <a:gridCol w="8420100"/>
              </a:tblGrid>
              <a:tr h="48577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團隊名稱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yoxi 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產品/服務名稱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yoxi 城市生活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企業挑戰題目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不搭車，也打開 yoxi —— 打造高頻互動的AI出行夥伴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目標對象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想探索城市、找伴參與活動，或玩收藏遊戲的人。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解決方案設計重點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(至多3項)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城市探索：依興趣找地方，保留各自原意做共同安排。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同好體驗：看清活動、名額與分攤費用，決定一起參加。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遊戲成長：玩紙鳥取得可用小物，裝扮旅伴並拍成個人紀念卡。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運用到的AI技術、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服務或模型等資源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本機 Qwen3.5-4B（Q4_K_M）理解需求、從資料選活動。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multilingual-e5-small（q8）比對語意。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以規則核對時間、入場費與仍未安排的需求。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預期效益簡述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讓不叫車時也能探索、參與和收藏，出門時接交通入口。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試用將檢驗理解、回訪、實際成行與維運成本，真人效益尚待驗證。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311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41E0D-CEFD-4206-8379-A30E92F245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6c72947a54c40">
            <a:extLst>
              <a:ext uri="{96DAC541-7B7A-43D3-8B79-37D633B846F1}">
                <asvg:svgBlip xmlns:asvg="http://schemas.microsoft.com/office/drawing/2016/SVG/main" r:embed="Rfeb88e89c51a47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71500"/>
            <a:ext cx="1162050" cy="466725"/>
          </a:xfrm>
          <a:prstGeom xmlns:a="http://schemas.openxmlformats.org/drawingml/2006/main" prst="rect">
            <a:avLst/>
          </a:prstGeom>
        </p:spPr>
      </p:pic>
      <p:sp>
        <p:nvSpPr>
          <p:cNvPr id="2" name="產品描述名稱">
            <a:extLst xmlns:a="http://schemas.openxmlformats.org/drawingml/2006/main">
              <a:ext uri="{FF2B5EF4-FFF2-40B4-BE49-F238E27FC236}">
                <a16:creationId xmlns:a16="http://schemas.microsoft.com/office/drawing/2014/main" id="{4903076E-95C2-4D76-A297-11FE81E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53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城市生活</a:t>
            </a:r>
          </a:p>
        </p:txBody>
      </p:sp>
      <p:sp>
        <p:nvSpPr>
          <p:cNvPr id="3" name="企業題目">
            <a:extLst xmlns:a="http://schemas.openxmlformats.org/drawingml/2006/main">
              <a:ext uri="{FF2B5EF4-FFF2-40B4-BE49-F238E27FC236}">
                <a16:creationId xmlns:a16="http://schemas.microsoft.com/office/drawing/2014/main" id="{AAE5F7B4-2263-4EA8-A850-80F48E2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334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不搭車，也打開 yoxi</a:t>
            </a:r>
          </a:p>
        </p:txBody>
      </p:sp>
      <p:sp>
        <p:nvSpPr>
          <p:cNvPr id="4" name="地點資料摘錄">
            <a:extLst xmlns:a="http://schemas.openxmlformats.org/drawingml/2006/main">
              <a:ext uri="{FF2B5EF4-FFF2-40B4-BE49-F238E27FC236}">
                <a16:creationId xmlns:a16="http://schemas.microsoft.com/office/drawing/2014/main" id="{90E93273-B488-4A83-8AF7-BBD21DDC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3314700" cy="3476625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E3E9EF"/>
            </a:solidFill>
          </a:ln>
        </p:spPr>
      </p:sp>
      <p:sp>
        <p:nvSpPr>
          <p:cNvPr id="5" name="邀約資料摘錄">
            <a:extLst xmlns:a="http://schemas.openxmlformats.org/drawingml/2006/main">
              <a:ext uri="{FF2B5EF4-FFF2-40B4-BE49-F238E27FC236}">
                <a16:creationId xmlns:a16="http://schemas.microsoft.com/office/drawing/2014/main" id="{AC313C3A-0D85-40A1-BED4-5FE16653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62125"/>
            <a:ext cx="3314700" cy="3476625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E3E9EF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69AAB-58C6-4879-A058-9DA51F886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9c106e9544bf0"/>
          <a:srcRect xmlns:a="http://schemas.openxmlformats.org/drawingml/2006/main" l="0" t="2523" r="0" b="25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62125"/>
            <a:ext cx="33147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4981F-764C-45D7-9D37-718688741D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efa25cf9e47cf"/>
          <a:srcRect xmlns:a="http://schemas.openxmlformats.org/drawingml/2006/main" l="11221" t="0" r="112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762125"/>
            <a:ext cx="33147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8" name="推薦地點">
            <a:extLst xmlns:a="http://schemas.openxmlformats.org/drawingml/2006/main">
              <a:ext uri="{FF2B5EF4-FFF2-40B4-BE49-F238E27FC236}">
                <a16:creationId xmlns:a16="http://schemas.microsoft.com/office/drawing/2014/main" id="{AB5016B5-BC97-4DC6-AB61-857C632C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國立臺灣文學館</a:t>
            </a:r>
          </a:p>
        </p:txBody>
      </p:sp>
      <p:sp>
        <p:nvSpPr>
          <p:cNvPr id="9" name="符合的條件">
            <a:extLst xmlns:a="http://schemas.openxmlformats.org/drawingml/2006/main">
              <a:ext uri="{FF2B5EF4-FFF2-40B4-BE49-F238E27FC236}">
                <a16:creationId xmlns:a16="http://schemas.microsoft.com/office/drawing/2014/main" id="{23DFCAF8-7D7C-4CF7-A351-9FBDC30E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90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免門票 · 室內看展</a:t>
            </a:r>
          </a:p>
        </p:txBody>
      </p:sp>
      <p:sp>
        <p:nvSpPr>
          <p:cNvPr id="10" name="邀約名稱">
            <a:extLst xmlns:a="http://schemas.openxmlformats.org/drawingml/2006/main">
              <a:ext uri="{FF2B5EF4-FFF2-40B4-BE49-F238E27FC236}">
                <a16:creationId xmlns:a16="http://schemas.microsoft.com/office/drawing/2014/main" id="{DDAF7F6C-3683-4050-BCBE-7C4DE767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14825"/>
            <a:ext cx="2924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週末一起吃台菜</a:t>
            </a:r>
          </a:p>
        </p:txBody>
      </p:sp>
      <p:sp>
        <p:nvSpPr>
          <p:cNvPr id="11" name="邀約人數">
            <a:extLst xmlns:a="http://schemas.openxmlformats.org/drawingml/2006/main">
              <a:ext uri="{FF2B5EF4-FFF2-40B4-BE49-F238E27FC236}">
                <a16:creationId xmlns:a16="http://schemas.microsoft.com/office/drawing/2014/main" id="{E93F9E8B-AD8D-4BA6-AFEE-A5D49226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14875"/>
            <a:ext cx="2924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3 人加入，還有 1 個位子</a:t>
            </a:r>
          </a:p>
        </p:txBody>
      </p:sp>
      <p:sp>
        <p:nvSpPr>
          <p:cNvPr id="12" name="分攤條件">
            <a:extLst xmlns:a="http://schemas.openxmlformats.org/drawingml/2006/main">
              <a:ext uri="{FF2B5EF4-FFF2-40B4-BE49-F238E27FC236}">
                <a16:creationId xmlns:a16="http://schemas.microsoft.com/office/drawing/2014/main" id="{9578FA8E-7693-41D7-A9BB-83F7BC86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72050"/>
            <a:ext cx="2924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4 人時每人 NT$600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5A75D-CFF9-4580-AA83-25323617D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2ecb9d96a4143"/>
          <a:stretch xmlns:a="http://schemas.openxmlformats.org/drawingml/2006/main"/>
        </p:blipFill>
        <p:spPr>
          <a:xfrm xmlns:a="http://schemas.openxmlformats.org/drawingml/2006/main">
            <a:off x="8334375" y="1562100"/>
            <a:ext cx="3124200" cy="3905250"/>
          </a:xfrm>
          <a:prstGeom xmlns:a="http://schemas.openxmlformats.org/drawingml/2006/main" prst="rect">
            <a:avLst/>
          </a:prstGeom>
        </p:spPr>
      </p:pic>
      <p:sp>
        <p:nvSpPr>
          <p:cNvPr id="14" name="探索所得">
            <a:extLst xmlns:a="http://schemas.openxmlformats.org/drawingml/2006/main">
              <a:ext uri="{FF2B5EF4-FFF2-40B4-BE49-F238E27FC236}">
                <a16:creationId xmlns:a16="http://schemas.microsoft.com/office/drawing/2014/main" id="{DD68533F-EF04-4FE6-BEFF-EF58E3EE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找到喜歡的去處</a:t>
            </a:r>
          </a:p>
        </p:txBody>
      </p:sp>
      <p:sp>
        <p:nvSpPr>
          <p:cNvPr id="15" name="探索說明">
            <a:extLst xmlns:a="http://schemas.openxmlformats.org/drawingml/2006/main">
              <a:ext uri="{FF2B5EF4-FFF2-40B4-BE49-F238E27FC236}">
                <a16:creationId xmlns:a16="http://schemas.microsoft.com/office/drawing/2014/main" id="{489EE4ED-DAFA-46C9-B8D1-02B4EC3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從興趣找地方，安排想做的事</a:t>
            </a:r>
          </a:p>
        </p:txBody>
      </p:sp>
      <p:sp>
        <p:nvSpPr>
          <p:cNvPr id="16" name="同行所得">
            <a:extLst xmlns:a="http://schemas.openxmlformats.org/drawingml/2006/main">
              <a:ext uri="{FF2B5EF4-FFF2-40B4-BE49-F238E27FC236}">
                <a16:creationId xmlns:a16="http://schemas.microsoft.com/office/drawing/2014/main" id="{D0215D0A-54D3-41E9-9137-43A0C042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816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找到一起參與的人</a:t>
            </a:r>
          </a:p>
        </p:txBody>
      </p:sp>
      <p:sp>
        <p:nvSpPr>
          <p:cNvPr id="17" name="同行說明">
            <a:extLst xmlns:a="http://schemas.openxmlformats.org/drawingml/2006/main">
              <a:ext uri="{FF2B5EF4-FFF2-40B4-BE49-F238E27FC236}">
                <a16:creationId xmlns:a16="http://schemas.microsoft.com/office/drawing/2014/main" id="{0D4DC86E-4525-44D2-B6D9-63A26D27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0579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加入邀約，也能和朋友一起挑地方</a:t>
            </a:r>
          </a:p>
        </p:txBody>
      </p:sp>
      <p:sp>
        <p:nvSpPr>
          <p:cNvPr id="18" name="收藏所得">
            <a:extLst xmlns:a="http://schemas.openxmlformats.org/drawingml/2006/main">
              <a:ext uri="{FF2B5EF4-FFF2-40B4-BE49-F238E27FC236}">
                <a16:creationId xmlns:a16="http://schemas.microsoft.com/office/drawing/2014/main" id="{7C46FD03-66FD-4844-9A0A-57398B3C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816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養成自己的城市旅伴</a:t>
            </a:r>
          </a:p>
        </p:txBody>
      </p:sp>
      <p:sp>
        <p:nvSpPr>
          <p:cNvPr id="19" name="收藏說明">
            <a:extLst xmlns:a="http://schemas.openxmlformats.org/drawingml/2006/main">
              <a:ext uri="{FF2B5EF4-FFF2-40B4-BE49-F238E27FC236}">
                <a16:creationId xmlns:a16="http://schemas.microsoft.com/office/drawing/2014/main" id="{34B71C0F-770F-42A7-B39D-B88CE40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579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完成挑戰拿小物，裝扮旅伴、拍紀念卡</a:t>
            </a:r>
          </a:p>
        </p:txBody>
      </p:sp>
      <p:sp>
        <p:nvSpPr>
          <p:cNvPr id="20" name="必要狀態">
            <a:extLst xmlns:a="http://schemas.openxmlformats.org/drawingml/2006/main">
              <a:ext uri="{FF2B5EF4-FFF2-40B4-BE49-F238E27FC236}">
                <a16:creationId xmlns:a16="http://schemas.microsoft.com/office/drawing/2014/main" id="{7273E15C-231A-4F7F-BB8E-ED0195AB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產品資料摘錄與實際紀念卡；邀約、人物與費用為示例，交通另計。</a:t>
            </a:r>
          </a:p>
        </p:txBody>
      </p:sp>
    </p:spTree>
    <p:extLst>
      <p:ext uri="{BB962C8B-B14F-4D97-AF65-F5344CB8AC3E}">
        <p14:creationId xmlns:p14="http://schemas.microsoft.com/office/powerpoint/2010/main" val="962195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頁面主題">
            <a:extLst xmlns:a="http://schemas.openxmlformats.org/drawingml/2006/main">
              <a:ext uri="{FF2B5EF4-FFF2-40B4-BE49-F238E27FC236}">
                <a16:creationId xmlns:a16="http://schemas.microsoft.com/office/drawing/2014/main" id="{84C19BE9-5C69-49B7-90F1-48D796ED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三種打開 yoxi 的時刻</a:t>
            </a:r>
          </a:p>
        </p:txBody>
      </p:sp>
      <p:sp>
        <p:nvSpPr>
          <p:cNvPr id="2" name="情境欄名">
            <a:extLst xmlns:a="http://schemas.openxmlformats.org/drawingml/2006/main">
              <a:ext uri="{FF2B5EF4-FFF2-40B4-BE49-F238E27FC236}">
                <a16:creationId xmlns:a16="http://schemas.microsoft.com/office/drawing/2014/main" id="{6C648B83-234B-4BA7-AB5A-974466A1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A8B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97A8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97A8B"/>
                </a:solidFill>
                <a:latin typeface="PingFang TC"/>
                <a:ea typeface="PingFang TC"/>
                <a:cs typeface="PingFang TC"/>
              </a:rPr>
              <a:t>當下想做的事</a:t>
            </a:r>
          </a:p>
        </p:txBody>
      </p:sp>
      <p:sp>
        <p:nvSpPr>
          <p:cNvPr id="3" name="結果欄名">
            <a:extLst xmlns:a="http://schemas.openxmlformats.org/drawingml/2006/main">
              <a:ext uri="{FF2B5EF4-FFF2-40B4-BE49-F238E27FC236}">
                <a16:creationId xmlns:a16="http://schemas.microsoft.com/office/drawing/2014/main" id="{B94986A5-B688-4579-8395-8AD3283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66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A8B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97A8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97A8B"/>
                </a:solidFill>
                <a:latin typeface="PingFang TC"/>
                <a:ea typeface="PingFang TC"/>
                <a:cs typeface="PingFang TC"/>
              </a:rPr>
              <a:t>在 yoxi 可以怎麼開始</a:t>
            </a:r>
          </a:p>
        </p:txBody>
      </p:sp>
      <p:sp>
        <p:nvSpPr>
          <p:cNvPr id="4" name="段落1分隔線">
            <a:extLst xmlns:a="http://schemas.openxmlformats.org/drawingml/2006/main">
              <a:ext uri="{FF2B5EF4-FFF2-40B4-BE49-F238E27FC236}">
                <a16:creationId xmlns:a16="http://schemas.microsoft.com/office/drawing/2014/main" id="{920DCB86-E651-4152-B6B7-E6E55E37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5" name="段落1標記">
            <a:extLst xmlns:a="http://schemas.openxmlformats.org/drawingml/2006/main">
              <a:ext uri="{FF2B5EF4-FFF2-40B4-BE49-F238E27FC236}">
                <a16:creationId xmlns:a16="http://schemas.microsoft.com/office/drawing/2014/main" id="{7D389836-0719-4E9C-992F-7C311137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4A42"/>
          </a:solidFill>
          <a:ln xmlns:a="http://schemas.openxmlformats.org/drawingml/2006/main" w="0">
            <a:noFill/>
          </a:ln>
        </p:spPr>
      </p:sp>
      <p:sp>
        <p:nvSpPr>
          <p:cNvPr id="6" name="時刻1">
            <a:extLst xmlns:a="http://schemas.openxmlformats.org/drawingml/2006/main">
              <a:ext uri="{FF2B5EF4-FFF2-40B4-BE49-F238E27FC236}">
                <a16:creationId xmlns:a16="http://schemas.microsoft.com/office/drawing/2014/main" id="{949175B6-D6C6-413E-8D30-7B0B7910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想看展，今天想待室內</a:t>
            </a:r>
          </a:p>
        </p:txBody>
      </p:sp>
      <p:sp>
        <p:nvSpPr>
          <p:cNvPr id="7" name="成果1">
            <a:extLst xmlns:a="http://schemas.openxmlformats.org/drawingml/2006/main">
              <a:ext uri="{FF2B5EF4-FFF2-40B4-BE49-F238E27FC236}">
                <a16:creationId xmlns:a16="http://schemas.microsoft.com/office/drawing/2014/main" id="{296D49FC-ED01-4147-8784-B466E0BB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565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找到免門票的室內展館</a:t>
            </a:r>
          </a:p>
        </p:txBody>
      </p:sp>
      <p:sp>
        <p:nvSpPr>
          <p:cNvPr id="8" name="必要說明1">
            <a:extLst xmlns:a="http://schemas.openxmlformats.org/drawingml/2006/main">
              <a:ext uri="{FF2B5EF4-FFF2-40B4-BE49-F238E27FC236}">
                <a16:creationId xmlns:a16="http://schemas.microsoft.com/office/drawing/2014/main" id="{73F259D9-7D6D-43CC-9E08-0AB4821C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552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看現場能做什麼，再安排自己的時間。</a:t>
            </a:r>
          </a:p>
        </p:txBody>
      </p:sp>
      <p:sp>
        <p:nvSpPr>
          <p:cNvPr id="9" name="段落2分隔線">
            <a:extLst xmlns:a="http://schemas.openxmlformats.org/drawingml/2006/main">
              <a:ext uri="{FF2B5EF4-FFF2-40B4-BE49-F238E27FC236}">
                <a16:creationId xmlns:a16="http://schemas.microsoft.com/office/drawing/2014/main" id="{E8BB73BD-811B-4A95-BC21-B11016E2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0" name="段落2標記">
            <a:extLst xmlns:a="http://schemas.openxmlformats.org/drawingml/2006/main">
              <a:ext uri="{FF2B5EF4-FFF2-40B4-BE49-F238E27FC236}">
                <a16:creationId xmlns:a16="http://schemas.microsoft.com/office/drawing/2014/main" id="{C53F209D-54CA-4BE3-9D97-5824494D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4A42"/>
          </a:solidFill>
          <a:ln xmlns:a="http://schemas.openxmlformats.org/drawingml/2006/main" w="0">
            <a:noFill/>
          </a:ln>
        </p:spPr>
      </p:sp>
      <p:sp>
        <p:nvSpPr>
          <p:cNvPr id="11" name="時刻2">
            <a:extLst xmlns:a="http://schemas.openxmlformats.org/drawingml/2006/main">
              <a:ext uri="{FF2B5EF4-FFF2-40B4-BE49-F238E27FC236}">
                <a16:creationId xmlns:a16="http://schemas.microsoft.com/office/drawing/2014/main" id="{5E731303-C2D6-4AC7-8391-DC868216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想吃合菜，還缺一起吃的人</a:t>
            </a:r>
          </a:p>
        </p:txBody>
      </p:sp>
      <p:sp>
        <p:nvSpPr>
          <p:cNvPr id="12" name="成果2">
            <a:extLst xmlns:a="http://schemas.openxmlformats.org/drawingml/2006/main">
              <a:ext uri="{FF2B5EF4-FFF2-40B4-BE49-F238E27FC236}">
                <a16:creationId xmlns:a16="http://schemas.microsoft.com/office/drawing/2014/main" id="{FFE001DF-987D-4A81-8C1A-C9447DC6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05175"/>
            <a:ext cx="565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加入已有人帶頭的邀約</a:t>
            </a:r>
          </a:p>
        </p:txBody>
      </p:sp>
      <p:sp>
        <p:nvSpPr>
          <p:cNvPr id="13" name="必要說明2">
            <a:extLst xmlns:a="http://schemas.openxmlformats.org/drawingml/2006/main">
              <a:ext uri="{FF2B5EF4-FFF2-40B4-BE49-F238E27FC236}">
                <a16:creationId xmlns:a16="http://schemas.microsoft.com/office/drawing/2014/main" id="{ADA7BE54-A1C8-4F01-B131-EC6A324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0475"/>
            <a:ext cx="552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先看時間、名額與每人費用，再決定參加。</a:t>
            </a:r>
          </a:p>
        </p:txBody>
      </p:sp>
      <p:sp>
        <p:nvSpPr>
          <p:cNvPr id="14" name="段落3分隔線">
            <a:extLst xmlns:a="http://schemas.openxmlformats.org/drawingml/2006/main">
              <a:ext uri="{FF2B5EF4-FFF2-40B4-BE49-F238E27FC236}">
                <a16:creationId xmlns:a16="http://schemas.microsoft.com/office/drawing/2014/main" id="{3E6EC927-70F1-4578-9EB9-1875385C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5" name="段落3標記">
            <a:extLst xmlns:a="http://schemas.openxmlformats.org/drawingml/2006/main">
              <a:ext uri="{FF2B5EF4-FFF2-40B4-BE49-F238E27FC236}">
                <a16:creationId xmlns:a16="http://schemas.microsoft.com/office/drawing/2014/main" id="{07CFF2DB-4B27-48A8-8719-5EAE66E6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4A42"/>
          </a:solidFill>
          <a:ln xmlns:a="http://schemas.openxmlformats.org/drawingml/2006/main" w="0">
            <a:noFill/>
          </a:ln>
        </p:spPr>
      </p:sp>
      <p:sp>
        <p:nvSpPr>
          <p:cNvPr id="16" name="時刻3">
            <a:extLst xmlns:a="http://schemas.openxmlformats.org/drawingml/2006/main">
              <a:ext uri="{FF2B5EF4-FFF2-40B4-BE49-F238E27FC236}">
                <a16:creationId xmlns:a16="http://schemas.microsoft.com/office/drawing/2014/main" id="{126EE930-F93F-4709-8525-4DDB221E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今天不出門，想陪旅伴玩一會兒</a:t>
            </a:r>
          </a:p>
        </p:txBody>
      </p:sp>
      <p:sp>
        <p:nvSpPr>
          <p:cNvPr id="17" name="成果3">
            <a:extLst xmlns:a="http://schemas.openxmlformats.org/drawingml/2006/main">
              <a:ext uri="{FF2B5EF4-FFF2-40B4-BE49-F238E27FC236}">
                <a16:creationId xmlns:a16="http://schemas.microsoft.com/office/drawing/2014/main" id="{75110EEA-4C2F-4B4D-9C57-481D435E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10100"/>
            <a:ext cx="565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玩紙鳥、完成挑戰，拿小物裝扮旅伴</a:t>
            </a:r>
          </a:p>
        </p:txBody>
      </p:sp>
      <p:sp>
        <p:nvSpPr>
          <p:cNvPr id="18" name="必要說明3">
            <a:extLst xmlns:a="http://schemas.openxmlformats.org/drawingml/2006/main">
              <a:ext uri="{FF2B5EF4-FFF2-40B4-BE49-F238E27FC236}">
                <a16:creationId xmlns:a16="http://schemas.microsoft.com/office/drawing/2014/main" id="{DD94FC25-7703-4BB2-BA8D-3BC1A13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05400"/>
            <a:ext cx="552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完成三項挑戰後，還能和旅伴來回接力。</a:t>
            </a:r>
          </a:p>
        </p:txBody>
      </p:sp>
      <p:sp>
        <p:nvSpPr>
          <p:cNvPr id="19" name="底部收束底色">
            <a:extLst xmlns:a="http://schemas.openxmlformats.org/drawingml/2006/main">
              <a:ext uri="{FF2B5EF4-FFF2-40B4-BE49-F238E27FC236}">
                <a16:creationId xmlns:a16="http://schemas.microsoft.com/office/drawing/2014/main" id="{E188DBBB-E930-4A83-965B-63AB5E52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72175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5"/>
          </a:solidFill>
          <a:ln xmlns:a="http://schemas.openxmlformats.org/drawingml/2006/main" w="0">
            <a:noFill/>
          </a:ln>
        </p:spPr>
      </p:sp>
      <p:sp>
        <p:nvSpPr>
          <p:cNvPr id="20" name="企業機會">
            <a:extLst xmlns:a="http://schemas.openxmlformats.org/drawingml/2006/main">
              <a:ext uri="{FF2B5EF4-FFF2-40B4-BE49-F238E27FC236}">
                <a16:creationId xmlns:a16="http://schemas.microsoft.com/office/drawing/2014/main" id="{D9784E1E-8D0A-4EBE-937D-55ADD9B2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找去處、約人與日常遊玩，都能成為打開 yoxi 的理由。</a:t>
            </a:r>
          </a:p>
        </p:txBody>
      </p:sp>
      <p:sp>
        <p:nvSpPr>
          <p:cNvPr id="21" name="情境狀態">
            <a:extLst xmlns:a="http://schemas.openxmlformats.org/drawingml/2006/main">
              <a:ext uri="{FF2B5EF4-FFF2-40B4-BE49-F238E27FC236}">
                <a16:creationId xmlns:a16="http://schemas.microsoft.com/office/drawing/2014/main" id="{DD21A85B-7EBE-437F-AF75-C6F7B48F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A8B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97A8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97A8B"/>
                </a:solidFill>
                <a:latin typeface="PingFang TC"/>
                <a:ea typeface="PingFang TC"/>
                <a:cs typeface="PingFang TC"/>
              </a:rPr>
              <a:t>使用情境示例</a:t>
            </a:r>
          </a:p>
        </p:txBody>
      </p:sp>
    </p:spTree>
    <p:extLst>
      <p:ext uri="{BB962C8B-B14F-4D97-AF65-F5344CB8AC3E}">
        <p14:creationId xmlns:p14="http://schemas.microsoft.com/office/powerpoint/2010/main" val="507273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主要關係">
            <a:extLst xmlns:a="http://schemas.openxmlformats.org/drawingml/2006/main">
              <a:ext uri="{FF2B5EF4-FFF2-40B4-BE49-F238E27FC236}">
                <a16:creationId xmlns:a16="http://schemas.microsoft.com/office/drawing/2014/main" id="{F66F67FD-8045-4468-A60C-72A085C3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14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想去的地方，也能約人一起去、留下紀念</a:t>
            </a:r>
          </a:p>
        </p:txBody>
      </p:sp>
      <p:sp>
        <p:nvSpPr>
          <p:cNvPr id="2" name="案例起點">
            <a:extLst xmlns:a="http://schemas.openxmlformats.org/drawingml/2006/main">
              <a:ext uri="{FF2B5EF4-FFF2-40B4-BE49-F238E27FC236}">
                <a16:creationId xmlns:a16="http://schemas.microsoft.com/office/drawing/2014/main" id="{8D2BBF8C-8581-4DD1-A428-4F61EFA8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77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在遊戲裡喜歡這個街角，想親自去時，可以把靈感地點存起來。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14DB7-CFD6-4EA2-BF7C-B89091D0C5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82f0db57145ec"/>
          <a:stretch xmlns:a="http://schemas.openxmlformats.org/drawingml/2006/main"/>
        </p:blipFill>
        <p:spPr>
          <a:xfrm xmlns:a="http://schemas.openxmlformats.org/drawingml/2006/main">
            <a:off x="476250" y="1933575"/>
            <a:ext cx="27432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卡片種類">
            <a:extLst xmlns:a="http://schemas.openxmlformats.org/drawingml/2006/main">
              <a:ext uri="{FF2B5EF4-FFF2-40B4-BE49-F238E27FC236}">
                <a16:creationId xmlns:a16="http://schemas.microsoft.com/office/drawing/2014/main" id="{77D35CB9-991B-46BA-8A72-FA03ECF0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藍色街角</a:t>
            </a:r>
          </a:p>
        </p:txBody>
      </p:sp>
      <p:sp>
        <p:nvSpPr>
          <p:cNvPr id="5" name="卡片關係">
            <a:extLst xmlns:a="http://schemas.openxmlformats.org/drawingml/2006/main">
              <a:ext uri="{FF2B5EF4-FFF2-40B4-BE49-F238E27FC236}">
                <a16:creationId xmlns:a16="http://schemas.microsoft.com/office/drawing/2014/main" id="{87720820-B41F-4B96-84F1-65A8BFEF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自己裝扮與拍攝的場景卡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F4621-C984-4D54-98F7-2BFFE0951C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d5ea1653b4535"/>
          <a:srcRect xmlns:a="http://schemas.openxmlformats.org/drawingml/2006/main" l="0" t="25278" r="0" b="25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6150" y="2085975"/>
            <a:ext cx="3562350" cy="2638425"/>
          </a:xfrm>
          <a:prstGeom xmlns:a="http://schemas.openxmlformats.org/drawingml/2006/main" prst="rect">
            <a:avLst/>
          </a:prstGeom>
        </p:spPr>
      </p:pic>
      <p:sp>
        <p:nvSpPr>
          <p:cNvPr id="7" name="真實靈感地點">
            <a:extLst xmlns:a="http://schemas.openxmlformats.org/drawingml/2006/main">
              <a:ext uri="{FF2B5EF4-FFF2-40B4-BE49-F238E27FC236}">
                <a16:creationId xmlns:a16="http://schemas.microsoft.com/office/drawing/2014/main" id="{9718F67A-0879-466B-BEF9-20D9FDD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3743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藍晒圖文創園區</a:t>
            </a:r>
          </a:p>
        </p:txBody>
      </p:sp>
      <p:sp>
        <p:nvSpPr>
          <p:cNvPr id="8" name="實際收藏結果">
            <a:extLst xmlns:a="http://schemas.openxmlformats.org/drawingml/2006/main">
              <a:ext uri="{FF2B5EF4-FFF2-40B4-BE49-F238E27FC236}">
                <a16:creationId xmlns:a16="http://schemas.microsoft.com/office/drawing/2014/main" id="{78240905-4D34-4D3E-BA69-4AF0586D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05425"/>
            <a:ext cx="3705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已存進想去清單</a:t>
            </a:r>
          </a:p>
        </p:txBody>
      </p:sp>
      <p:sp>
        <p:nvSpPr>
          <p:cNvPr id="9" name="收藏操作">
            <a:extLst xmlns:a="http://schemas.openxmlformats.org/drawingml/2006/main">
              <a:ext uri="{FF2B5EF4-FFF2-40B4-BE49-F238E27FC236}">
                <a16:creationId xmlns:a16="http://schemas.microsoft.com/office/drawing/2014/main" id="{9AA7409A-DB17-4418-938D-66F8B5DA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1500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安排一趟　查看這個地點的邀約</a:t>
            </a:r>
          </a:p>
        </p:txBody>
      </p:sp>
      <p:sp>
        <p:nvSpPr>
          <p:cNvPr id="10" name="說明區分隔">
            <a:extLst xmlns:a="http://schemas.openxmlformats.org/drawingml/2006/main">
              <a:ext uri="{FF2B5EF4-FFF2-40B4-BE49-F238E27FC236}">
                <a16:creationId xmlns:a16="http://schemas.microsoft.com/office/drawing/2014/main" id="{CA80763F-4526-4443-81DC-B158C7D9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9525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1" name="出門時">
            <a:extLst xmlns:a="http://schemas.openxmlformats.org/drawingml/2006/main">
              <a:ext uri="{FF2B5EF4-FFF2-40B4-BE49-F238E27FC236}">
                <a16:creationId xmlns:a16="http://schemas.microsoft.com/office/drawing/2014/main" id="{A42EC081-B145-4764-9D8C-41E8AFA1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716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想親自去</a:t>
            </a:r>
          </a:p>
        </p:txBody>
      </p:sp>
      <p:sp>
        <p:nvSpPr>
          <p:cNvPr id="12" name="出門所得">
            <a:extLst xmlns:a="http://schemas.openxmlformats.org/drawingml/2006/main">
              <a:ext uri="{FF2B5EF4-FFF2-40B4-BE49-F238E27FC236}">
                <a16:creationId xmlns:a16="http://schemas.microsoft.com/office/drawing/2014/main" id="{B634A6A2-5E1E-4C5B-AF82-4BCE1940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38400"/>
            <a:ext cx="3752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把活動與已知費用帶入邀約，</a:t>
            </a:r>
          </a:p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再確認日期與人數。</a:t>
            </a:r>
          </a:p>
        </p:txBody>
      </p:sp>
      <p:sp>
        <p:nvSpPr>
          <p:cNvPr id="13" name="紀念時">
            <a:extLst xmlns:a="http://schemas.openxmlformats.org/drawingml/2006/main">
              <a:ext uri="{FF2B5EF4-FFF2-40B4-BE49-F238E27FC236}">
                <a16:creationId xmlns:a16="http://schemas.microsoft.com/office/drawing/2014/main" id="{2404DC9B-14EA-4633-98B6-0D3030FC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6232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想留下紀念</a:t>
            </a:r>
          </a:p>
        </p:txBody>
      </p:sp>
      <p:sp>
        <p:nvSpPr>
          <p:cNvPr id="14" name="紀念所得">
            <a:extLst xmlns:a="http://schemas.openxmlformats.org/drawingml/2006/main">
              <a:ext uri="{FF2B5EF4-FFF2-40B4-BE49-F238E27FC236}">
                <a16:creationId xmlns:a16="http://schemas.microsoft.com/office/drawing/2014/main" id="{EA6D47A6-2AF7-4F3C-9DCA-6561B685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3752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自己的照片與旅伴紀念卡，</a:t>
            </a:r>
          </a:p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按同一地點一起回看。</a:t>
            </a:r>
          </a:p>
        </p:txBody>
      </p:sp>
      <p:sp>
        <p:nvSpPr>
          <p:cNvPr id="15" name="下次">
            <a:extLst xmlns:a="http://schemas.openxmlformats.org/drawingml/2006/main">
              <a:ext uri="{FF2B5EF4-FFF2-40B4-BE49-F238E27FC236}">
                <a16:creationId xmlns:a16="http://schemas.microsoft.com/office/drawing/2014/main" id="{23A0F607-F4D4-4EA1-BC14-C481F790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7202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下次找地方</a:t>
            </a:r>
          </a:p>
        </p:txBody>
      </p:sp>
      <p:sp>
        <p:nvSpPr>
          <p:cNvPr id="16" name="下次所得">
            <a:extLst xmlns:a="http://schemas.openxmlformats.org/drawingml/2006/main">
              <a:ext uri="{FF2B5EF4-FFF2-40B4-BE49-F238E27FC236}">
                <a16:creationId xmlns:a16="http://schemas.microsoft.com/office/drawing/2014/main" id="{56D69DDB-20D8-405E-AB38-27BE482B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38750"/>
            <a:ext cx="3962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記下攝影與線條，開啟偏好推薦後，</a:t>
            </a:r>
          </a:p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下次先看符合的地方。</a:t>
            </a:r>
          </a:p>
        </p:txBody>
      </p:sp>
      <p:sp>
        <p:nvSpPr>
          <p:cNvPr id="17" name="底部界線">
            <a:extLst xmlns:a="http://schemas.openxmlformats.org/drawingml/2006/main">
              <a:ext uri="{FF2B5EF4-FFF2-40B4-BE49-F238E27FC236}">
                <a16:creationId xmlns:a16="http://schemas.microsoft.com/office/drawing/2014/main" id="{30D502BB-DDA5-4697-9511-C88F4F3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必要範圍">
            <a:extLst xmlns:a="http://schemas.openxmlformats.org/drawingml/2006/main">
              <a:ext uri="{FF2B5EF4-FFF2-40B4-BE49-F238E27FC236}">
                <a16:creationId xmlns:a16="http://schemas.microsoft.com/office/drawing/2014/main" id="{110C8636-2EBC-424B-A2B3-6600CACD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左圖為實際保存的原創場景卡，中圖為地點來源照片與產品資料摘錄。</a:t>
            </a:r>
          </a:p>
        </p:txBody>
      </p:sp>
    </p:spTree>
    <p:extLst>
      <p:ext uri="{BB962C8B-B14F-4D97-AF65-F5344CB8AC3E}">
        <p14:creationId xmlns:p14="http://schemas.microsoft.com/office/powerpoint/2010/main" val="359968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探索價值">
            <a:extLst xmlns:a="http://schemas.openxmlformats.org/drawingml/2006/main">
              <a:ext uri="{FF2B5EF4-FFF2-40B4-BE49-F238E27FC236}">
                <a16:creationId xmlns:a16="http://schemas.microsoft.com/office/drawing/2014/main" id="{54B4BD72-B509-40AD-B48A-6F02C289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照著自己的興趣，找到想親自體驗的地方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397A6-5453-4745-BAFF-599728CC3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60a577b734829"/>
          <a:srcRect xmlns:a="http://schemas.openxmlformats.org/drawingml/2006/main" l="0" t="11226" r="0" b="11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19225"/>
            <a:ext cx="6010275" cy="3495675"/>
          </a:xfrm>
          <a:prstGeom xmlns:a="http://schemas.openxmlformats.org/drawingml/2006/main" prst="rect">
            <a:avLst/>
          </a:prstGeom>
        </p:spPr>
      </p:pic>
      <p:sp>
        <p:nvSpPr>
          <p:cNvPr id="3" name="真搜尋選中地點">
            <a:extLst xmlns:a="http://schemas.openxmlformats.org/drawingml/2006/main">
              <a:ext uri="{FF2B5EF4-FFF2-40B4-BE49-F238E27FC236}">
                <a16:creationId xmlns:a16="http://schemas.microsoft.com/office/drawing/2014/main" id="{31838198-8551-4DD0-97D0-5FE58B8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33975"/>
            <a:ext cx="614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臺南國家美術館</a:t>
            </a:r>
          </a:p>
        </p:txBody>
      </p:sp>
      <p:sp>
        <p:nvSpPr>
          <p:cNvPr id="4" name="攝影的具體所得">
            <a:extLst xmlns:a="http://schemas.openxmlformats.org/drawingml/2006/main">
              <a:ext uri="{FF2B5EF4-FFF2-40B4-BE49-F238E27FC236}">
                <a16:creationId xmlns:a16="http://schemas.microsoft.com/office/drawing/2014/main" id="{B9A3F0AE-7C92-4398-893D-7A2F03DC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6219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換一個站位，觀察水平線、立柱與屋頂，</a:t>
            </a:r>
          </a:p>
          <a:p xmlns:a="http://schemas.openxmlformats.org/drawingml/2006/main">
            <a: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找出自己喜歡的構圖。</a:t>
            </a:r>
          </a:p>
        </p:txBody>
      </p:sp>
      <p:sp>
        <p:nvSpPr>
          <p:cNvPr id="5" name="實際查詢">
            <a:extLst xmlns:a="http://schemas.openxmlformats.org/drawingml/2006/main">
              <a:ext uri="{FF2B5EF4-FFF2-40B4-BE49-F238E27FC236}">
                <a16:creationId xmlns:a16="http://schemas.microsoft.com/office/drawing/2014/main" id="{6B1ECD85-2F9B-4CEE-AAA7-192B7745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95425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「想拍建築線條與空間」</a:t>
            </a:r>
          </a:p>
        </p:txBody>
      </p:sp>
      <p:sp>
        <p:nvSpPr>
          <p:cNvPr id="6" name="安排條件">
            <a:extLst xmlns:a="http://schemas.openxmlformats.org/drawingml/2006/main">
              <a:ext uri="{FF2B5EF4-FFF2-40B4-BE49-F238E27FC236}">
                <a16:creationId xmlns:a16="http://schemas.microsoft.com/office/drawing/2014/main" id="{79A29B4A-65A5-4F39-B7FB-93AB8C1F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05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選好地點，再安排現場時間</a:t>
            </a:r>
          </a:p>
        </p:txBody>
      </p:sp>
      <p:sp>
        <p:nvSpPr>
          <p:cNvPr id="7" name="活動一">
            <a:extLst xmlns:a="http://schemas.openxmlformats.org/drawingml/2006/main">
              <a:ext uri="{FF2B5EF4-FFF2-40B4-BE49-F238E27FC236}">
                <a16:creationId xmlns:a16="http://schemas.microsoft.com/office/drawing/2014/main" id="{ED241C1B-A0F5-4501-9710-D41A68AE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860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看建築的層次與線條</a:t>
            </a:r>
          </a:p>
        </p:txBody>
      </p:sp>
      <p:sp>
        <p:nvSpPr>
          <p:cNvPr id="8" name="時間一">
            <a:extLst xmlns:a="http://schemas.openxmlformats.org/drawingml/2006/main">
              <a:ext uri="{FF2B5EF4-FFF2-40B4-BE49-F238E27FC236}">
                <a16:creationId xmlns:a16="http://schemas.microsoft.com/office/drawing/2014/main" id="{C74BE7B1-606B-455E-A30A-2FC66F81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905125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15 分鐘</a:t>
            </a:r>
          </a:p>
        </p:txBody>
      </p:sp>
      <p:sp>
        <p:nvSpPr>
          <p:cNvPr id="9" name="活動分隔一">
            <a:extLst xmlns:a="http://schemas.openxmlformats.org/drawingml/2006/main">
              <a:ext uri="{FF2B5EF4-FFF2-40B4-BE49-F238E27FC236}">
                <a16:creationId xmlns:a16="http://schemas.microsoft.com/office/drawing/2014/main" id="{8330D008-1A91-4993-9C35-11B13F53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337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0" name="活動二">
            <a:extLst xmlns:a="http://schemas.openxmlformats.org/drawingml/2006/main">
              <a:ext uri="{FF2B5EF4-FFF2-40B4-BE49-F238E27FC236}">
                <a16:creationId xmlns:a16="http://schemas.microsoft.com/office/drawing/2014/main" id="{93EEF7E4-A6D5-42B7-B2DB-01C6C07A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337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選一個角度拍建築</a:t>
            </a:r>
          </a:p>
        </p:txBody>
      </p:sp>
      <p:sp>
        <p:nvSpPr>
          <p:cNvPr id="11" name="時間二">
            <a:extLst xmlns:a="http://schemas.openxmlformats.org/drawingml/2006/main">
              <a:ext uri="{FF2B5EF4-FFF2-40B4-BE49-F238E27FC236}">
                <a16:creationId xmlns:a16="http://schemas.microsoft.com/office/drawing/2014/main" id="{3E083A12-F653-43C4-89CA-AE77791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552825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10 分鐘</a:t>
            </a:r>
          </a:p>
        </p:txBody>
      </p:sp>
      <p:sp>
        <p:nvSpPr>
          <p:cNvPr id="12" name="活動分隔二">
            <a:extLst xmlns:a="http://schemas.openxmlformats.org/drawingml/2006/main">
              <a:ext uri="{FF2B5EF4-FFF2-40B4-BE49-F238E27FC236}">
                <a16:creationId xmlns:a16="http://schemas.microsoft.com/office/drawing/2014/main" id="{F9080F97-5A7A-4AEC-9287-9EA7177E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9814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3" name="活動三">
            <a:extLst xmlns:a="http://schemas.openxmlformats.org/drawingml/2006/main">
              <a:ext uri="{FF2B5EF4-FFF2-40B4-BE49-F238E27FC236}">
                <a16:creationId xmlns:a16="http://schemas.microsoft.com/office/drawing/2014/main" id="{A7CA8B94-E5FE-43D3-B8EE-EA2ABC2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814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留一段看展時間</a:t>
            </a:r>
          </a:p>
        </p:txBody>
      </p:sp>
      <p:sp>
        <p:nvSpPr>
          <p:cNvPr id="14" name="時間三">
            <a:extLst xmlns:a="http://schemas.openxmlformats.org/drawingml/2006/main">
              <a:ext uri="{FF2B5EF4-FFF2-40B4-BE49-F238E27FC236}">
                <a16:creationId xmlns:a16="http://schemas.microsoft.com/office/drawing/2014/main" id="{509C2DB0-2AF5-47E2-9E7A-6118E820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200525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30 分鐘</a:t>
            </a:r>
          </a:p>
        </p:txBody>
      </p:sp>
      <p:sp>
        <p:nvSpPr>
          <p:cNvPr id="15" name="安排總計">
            <a:extLst xmlns:a="http://schemas.openxmlformats.org/drawingml/2006/main">
              <a:ext uri="{FF2B5EF4-FFF2-40B4-BE49-F238E27FC236}">
                <a16:creationId xmlns:a16="http://schemas.microsoft.com/office/drawing/2014/main" id="{51CADBE7-7C53-4469-A7A6-CA0E0D0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768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這次 55 分鐘，已知入場費 NT$160</a:t>
            </a:r>
          </a:p>
        </p:txBody>
      </p:sp>
      <p:sp>
        <p:nvSpPr>
          <p:cNvPr id="16" name="其他選擇">
            <a:extLst xmlns:a="http://schemas.openxmlformats.org/drawingml/2006/main">
              <a:ext uri="{FF2B5EF4-FFF2-40B4-BE49-F238E27FC236}">
                <a16:creationId xmlns:a16="http://schemas.microsoft.com/office/drawing/2014/main" id="{C31D1FB5-7047-4DB4-8258-318AC5B2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054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也能比較藍晒圖的立體框架，</a:t>
            </a:r>
          </a:p>
          <a:p xmlns:a="http://schemas.openxmlformats.org/drawingml/2006/main">
            <a: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或文學館的窗框與柱頭。</a:t>
            </a:r>
          </a:p>
        </p:txBody>
      </p:sp>
      <p:sp>
        <p:nvSpPr>
          <p:cNvPr id="17" name="頁尾線">
            <a:extLst xmlns:a="http://schemas.openxmlformats.org/drawingml/2006/main">
              <a:ext uri="{FF2B5EF4-FFF2-40B4-BE49-F238E27FC236}">
                <a16:creationId xmlns:a16="http://schemas.microsoft.com/office/drawing/2014/main" id="{44C1E038-59D6-4F4E-921C-18219B9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條件與範圍">
            <a:extLst xmlns:a="http://schemas.openxmlformats.org/drawingml/2006/main">
              <a:ext uri="{FF2B5EF4-FFF2-40B4-BE49-F238E27FC236}">
                <a16:creationId xmlns:a16="http://schemas.microsoft.com/office/drawing/2014/main" id="{057A4E87-38D1-41BE-9A31-23B7A1A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目前收錄台南三個地點。停留時間為估計；交通另計，展覽與開放依館方公告。</a:t>
            </a:r>
          </a:p>
        </p:txBody>
      </p:sp>
    </p:spTree>
    <p:extLst>
      <p:ext uri="{BB962C8B-B14F-4D97-AF65-F5344CB8AC3E}">
        <p14:creationId xmlns:p14="http://schemas.microsoft.com/office/powerpoint/2010/main" val="891148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1B82A-7F4E-4257-8446-2D63C7EB24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093fbb8a04c63"/>
          <a:srcRect xmlns:a="http://schemas.openxmlformats.org/drawingml/2006/main" l="5419" t="0" r="5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5362575" cy="3324225"/>
          </a:xfrm>
          <a:prstGeom xmlns:a="http://schemas.openxmlformats.org/drawingml/2006/main" prst="rect">
            <a:avLst/>
          </a:prstGeom>
        </p:spPr>
      </p:pic>
      <p:sp>
        <p:nvSpPr>
          <p:cNvPr id="2" name="主張">
            <a:extLst xmlns:a="http://schemas.openxmlformats.org/drawingml/2006/main">
              <a:ext uri="{FF2B5EF4-FFF2-40B4-BE49-F238E27FC236}">
                <a16:creationId xmlns:a16="http://schemas.microsoft.com/office/drawing/2014/main" id="{DF9D487F-C39C-43E7-A667-A655B82D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想吃一桌合菜，先找到一起去的人</a:t>
            </a:r>
          </a:p>
        </p:txBody>
      </p:sp>
      <p:sp>
        <p:nvSpPr>
          <p:cNvPr id="3" name="活動內容">
            <a:extLst xmlns:a="http://schemas.openxmlformats.org/drawingml/2006/main">
              <a:ext uri="{FF2B5EF4-FFF2-40B4-BE49-F238E27FC236}">
                <a16:creationId xmlns:a16="http://schemas.microsoft.com/office/drawing/2014/main" id="{8807D6D2-6388-48BA-8FF1-B80ADF2F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週末一起吃台菜</a:t>
            </a:r>
          </a:p>
        </p:txBody>
      </p:sp>
      <p:sp>
        <p:nvSpPr>
          <p:cNvPr id="4" name="活動條件">
            <a:extLst xmlns:a="http://schemas.openxmlformats.org/drawingml/2006/main">
              <a:ext uri="{FF2B5EF4-FFF2-40B4-BE49-F238E27FC236}">
                <a16:creationId xmlns:a16="http://schemas.microsoft.com/office/drawing/2014/main" id="{95345DED-DDD8-47EA-9D77-07452B8E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10/17（六）18:00　台南中西區</a:t>
            </a:r>
          </a:p>
          <a:p xmlns:a="http://schemas.openxmlformats.org/drawingml/2006/main">
            <a: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4 人成團，餐廳待確認</a:t>
            </a:r>
          </a:p>
        </p:txBody>
      </p:sp>
      <p:sp>
        <p:nvSpPr>
          <p:cNvPr id="5" name="缺少的是同行人">
            <a:extLst xmlns:a="http://schemas.openxmlformats.org/drawingml/2006/main">
              <a:ext uri="{FF2B5EF4-FFF2-40B4-BE49-F238E27FC236}">
                <a16:creationId xmlns:a16="http://schemas.microsoft.com/office/drawing/2014/main" id="{17EDC9B9-733E-4126-A1E8-635E3431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144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3 人已加入，還差 1 人</a:t>
            </a:r>
          </a:p>
        </p:txBody>
      </p:sp>
      <p:sp>
        <p:nvSpPr>
          <p:cNvPr id="6" name="人均條件">
            <a:extLst xmlns:a="http://schemas.openxmlformats.org/drawingml/2006/main">
              <a:ext uri="{FF2B5EF4-FFF2-40B4-BE49-F238E27FC236}">
                <a16:creationId xmlns:a16="http://schemas.microsoft.com/office/drawing/2014/main" id="{611F50CC-B1EC-46F1-8D30-F48D4C3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193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加入前，先看清時間、名額和費用。</a:t>
            </a:r>
          </a:p>
        </p:txBody>
      </p:sp>
      <p:sp>
        <p:nvSpPr>
          <p:cNvPr id="7" name="桌費">
            <a:extLst xmlns:a="http://schemas.openxmlformats.org/drawingml/2006/main">
              <a:ext uri="{FF2B5EF4-FFF2-40B4-BE49-F238E27FC236}">
                <a16:creationId xmlns:a16="http://schemas.microsoft.com/office/drawing/2014/main" id="{1FDFDCD8-DF4B-4393-B967-4E6ACF5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一桌 NT$2,400，4 人分攤</a:t>
            </a:r>
          </a:p>
        </p:txBody>
      </p:sp>
      <p:sp>
        <p:nvSpPr>
          <p:cNvPr id="8" name="每人餐費">
            <a:extLst xmlns:a="http://schemas.openxmlformats.org/drawingml/2006/main">
              <a:ext uri="{FF2B5EF4-FFF2-40B4-BE49-F238E27FC236}">
                <a16:creationId xmlns:a16="http://schemas.microsoft.com/office/drawing/2014/main" id="{BFEA6974-AE4F-4F68-A77B-2C8FE8EF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43275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每人 NT$600</a:t>
            </a:r>
          </a:p>
        </p:txBody>
      </p:sp>
      <p:sp>
        <p:nvSpPr>
          <p:cNvPr id="9" name="交通與截止">
            <a:extLst xmlns:a="http://schemas.openxmlformats.org/drawingml/2006/main">
              <a:ext uri="{FF2B5EF4-FFF2-40B4-BE49-F238E27FC236}">
                <a16:creationId xmlns:a16="http://schemas.microsoft.com/office/drawing/2014/main" id="{DF036C19-A23D-43FC-AB90-E6B2DE40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交通另計　10/16（五）18:00 截止</a:t>
            </a:r>
          </a:p>
        </p:txBody>
      </p:sp>
      <p:sp>
        <p:nvSpPr>
          <p:cNvPr id="10" name="同行方式分隔">
            <a:extLst xmlns:a="http://schemas.openxmlformats.org/drawingml/2006/main">
              <a:ext uri="{FF2B5EF4-FFF2-40B4-BE49-F238E27FC236}">
                <a16:creationId xmlns:a16="http://schemas.microsoft.com/office/drawing/2014/main" id="{E9656DB7-C7EC-4F87-802C-D8CDC9F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1" name="重新決定">
            <a:extLst xmlns:a="http://schemas.openxmlformats.org/drawingml/2006/main">
              <a:ext uri="{FF2B5EF4-FFF2-40B4-BE49-F238E27FC236}">
                <a16:creationId xmlns:a16="http://schemas.microsoft.com/office/drawing/2014/main" id="{4ED9E2D6-EB9B-4DF9-B39E-5D56FD81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62525"/>
            <a:ext cx="516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人數或費用變了，再確認是否參加</a:t>
            </a:r>
          </a:p>
        </p:txBody>
      </p:sp>
      <p:sp>
        <p:nvSpPr>
          <p:cNvPr id="12" name="明確變更後果">
            <a:extLst xmlns:a="http://schemas.openxmlformats.org/drawingml/2006/main">
              <a:ext uri="{FF2B5EF4-FFF2-40B4-BE49-F238E27FC236}">
                <a16:creationId xmlns:a16="http://schemas.microsoft.com/office/drawing/2014/main" id="{1C89C226-C500-47A0-8190-38774BD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054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加入後重新試算，原成員確認後才成團。</a:t>
            </a:r>
          </a:p>
          <a:p xmlns:a="http://schemas.openxmlformats.org/drawingml/2006/main">
            <a:pPr algn="l">
              <a:def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房間保留聊天和安排變更，方便一起討論。</a:t>
            </a:r>
          </a:p>
        </p:txBody>
      </p:sp>
      <p:sp>
        <p:nvSpPr>
          <p:cNvPr id="13" name="頁尾線">
            <a:extLst xmlns:a="http://schemas.openxmlformats.org/drawingml/2006/main">
              <a:ext uri="{FF2B5EF4-FFF2-40B4-BE49-F238E27FC236}">
                <a16:creationId xmlns:a16="http://schemas.microsoft.com/office/drawing/2014/main" id="{E53CAE42-642F-4EFD-BDE9-E234F381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4" name="示例界線">
            <a:extLst xmlns:a="http://schemas.openxmlformats.org/drawingml/2006/main">
              <a:ext uri="{FF2B5EF4-FFF2-40B4-BE49-F238E27FC236}">
                <a16:creationId xmlns:a16="http://schemas.microsoft.com/office/drawing/2014/main" id="{078DE023-769F-4089-AF2F-38C01AB6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本機邀約示例。人物與餐費為測試資料，菜色為示意；尚未向餐廳訂位。</a:t>
            </a:r>
          </a:p>
        </p:txBody>
      </p:sp>
    </p:spTree>
    <p:extLst>
      <p:ext uri="{BB962C8B-B14F-4D97-AF65-F5344CB8AC3E}">
        <p14:creationId xmlns:p14="http://schemas.microsoft.com/office/powerpoint/2010/main" val="148313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遊戲與收藏價值">
            <a:extLst xmlns:a="http://schemas.openxmlformats.org/drawingml/2006/main">
              <a:ext uri="{FF2B5EF4-FFF2-40B4-BE49-F238E27FC236}">
                <a16:creationId xmlns:a16="http://schemas.microsoft.com/office/drawing/2014/main" id="{B3D08D8D-ACC9-4C44-B690-AE780E2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和旅伴玩紙鳥，收下能帶在身上的小物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F7592-8AAC-424E-95C5-482CD7324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2e44cc0124be5"/>
          <a:stretch xmlns:a="http://schemas.openxmlformats.org/drawingml/2006/main"/>
        </p:blipFill>
        <p:spPr>
          <a:xfrm xmlns:a="http://schemas.openxmlformats.org/drawingml/2006/main">
            <a:off x="381124" y="1343025"/>
            <a:ext cx="6400551" cy="4819650"/>
          </a:xfrm>
          <a:prstGeom xmlns:a="http://schemas.openxmlformats.org/drawingml/2006/main" prst="rect">
            <a:avLst/>
          </a:prstGeom>
        </p:spPr>
      </p:pic>
      <p:sp>
        <p:nvSpPr>
          <p:cNvPr id="3" name="紙鳥的技巧">
            <a:extLst xmlns:a="http://schemas.openxmlformats.org/drawingml/2006/main">
              <a:ext uri="{FF2B5EF4-FFF2-40B4-BE49-F238E27FC236}">
                <a16:creationId xmlns:a16="http://schemas.microsoft.com/office/drawing/2014/main" id="{53A81DC6-CCB9-4883-9E3E-B59FC8E3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62650"/>
            <a:ext cx="6429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調方向、力道，讓紙鳥落在書頁上。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C8500-A975-446B-B65C-5A898E739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5c088e46d441c"/>
          <a:stretch xmlns:a="http://schemas.openxmlformats.org/drawingml/2006/main"/>
        </p:blipFill>
        <p:spPr>
          <a:xfrm xmlns:a="http://schemas.openxmlformats.org/drawingml/2006/main">
            <a:off x="8406186" y="1362075"/>
            <a:ext cx="2218579" cy="2743200"/>
          </a:xfrm>
          <a:prstGeom xmlns:a="http://schemas.openxmlformats.org/drawingml/2006/main" prst="rect">
            <a:avLst/>
          </a:prstGeom>
        </p:spPr>
      </p:pic>
      <p:sp>
        <p:nvSpPr>
          <p:cNvPr id="5" name="葉片書籤名稱">
            <a:extLst xmlns:a="http://schemas.openxmlformats.org/drawingml/2006/main">
              <a:ext uri="{FF2B5EF4-FFF2-40B4-BE49-F238E27FC236}">
                <a16:creationId xmlns:a16="http://schemas.microsoft.com/office/drawing/2014/main" id="{9288ACAB-2ADE-4899-BF1D-D9D6207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196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葉片書籤</a:t>
            </a:r>
          </a:p>
        </p:txBody>
      </p:sp>
      <p:sp>
        <p:nvSpPr>
          <p:cNvPr id="6" name="取得與用途">
            <a:extLst xmlns:a="http://schemas.openxmlformats.org/drawingml/2006/main">
              <a:ext uri="{FF2B5EF4-FFF2-40B4-BE49-F238E27FC236}">
                <a16:creationId xmlns:a16="http://schemas.microsoft.com/office/drawing/2014/main" id="{83DA5A38-073A-4FF9-8EDF-AF5C8486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10150"/>
            <a:ext cx="4410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第一次在書店接住後取得。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帶上後，會放在旅伴的旅行本上。</a:t>
            </a:r>
          </a:p>
        </p:txBody>
      </p:sp>
      <p:sp>
        <p:nvSpPr>
          <p:cNvPr id="7" name="另一種技巧">
            <a:extLst xmlns:a="http://schemas.openxmlformats.org/drawingml/2006/main">
              <a:ext uri="{FF2B5EF4-FFF2-40B4-BE49-F238E27FC236}">
                <a16:creationId xmlns:a16="http://schemas.microsoft.com/office/drawing/2014/main" id="{CBDB9708-AD0E-4FA2-8918-F736701A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34075"/>
            <a:ext cx="4476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開窗後，還能練習克服側風。</a:t>
            </a:r>
          </a:p>
        </p:txBody>
      </p:sp>
      <p:sp>
        <p:nvSpPr>
          <p:cNvPr id="8" name="頁尾線">
            <a:extLst xmlns:a="http://schemas.openxmlformats.org/drawingml/2006/main">
              <a:ext uri="{FF2B5EF4-FFF2-40B4-BE49-F238E27FC236}">
                <a16:creationId xmlns:a16="http://schemas.microsoft.com/office/drawing/2014/main" id="{7ADA0693-794D-4A01-B535-0C7EFB23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9" name="原型範圍">
            <a:extLst xmlns:a="http://schemas.openxmlformats.org/drawingml/2006/main">
              <a:ext uri="{FF2B5EF4-FFF2-40B4-BE49-F238E27FC236}">
                <a16:creationId xmlns:a16="http://schemas.microsoft.com/office/drawing/2014/main" id="{DE7697CE-2C76-4218-AC17-A2C5C20C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本機實際遊戲畫面。雨後書店為原創虛擬場景；小物及經驗不代表和泰 Points。</a:t>
            </a:r>
          </a:p>
        </p:txBody>
      </p:sp>
    </p:spTree>
    <p:extLst>
      <p:ext uri="{BB962C8B-B14F-4D97-AF65-F5344CB8AC3E}">
        <p14:creationId xmlns:p14="http://schemas.microsoft.com/office/powerpoint/2010/main" val="20692583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個人收藏與後續用途">
            <a:extLst xmlns:a="http://schemas.openxmlformats.org/drawingml/2006/main">
              <a:ext uri="{FF2B5EF4-FFF2-40B4-BE49-F238E27FC236}">
                <a16:creationId xmlns:a16="http://schemas.microsoft.com/office/drawing/2014/main" id="{0DC6CAC0-A8AD-4A1A-A543-35A9EFF7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換個光線、換個姿勢，留下自己的城市收藏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4F85A-B280-49B6-897C-4A31562BB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ee34db8a44065"/>
          <a:stretch xmlns:a="http://schemas.openxmlformats.org/drawingml/2006/main"/>
        </p:blipFill>
        <p:spPr>
          <a:xfrm xmlns:a="http://schemas.openxmlformats.org/drawingml/2006/main">
            <a:off x="552450" y="1568053"/>
            <a:ext cx="2809875" cy="3512344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22EFA-4751-4D4B-873E-054B2B2AC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8c51040c44f76"/>
          <a:stretch xmlns:a="http://schemas.openxmlformats.org/drawingml/2006/main"/>
        </p:blipFill>
        <p:spPr>
          <a:xfrm xmlns:a="http://schemas.openxmlformats.org/drawingml/2006/main">
            <a:off x="3552825" y="2063353"/>
            <a:ext cx="2809875" cy="3512344"/>
          </a:xfrm>
          <a:prstGeom xmlns:a="http://schemas.openxmlformats.org/drawingml/2006/main" prst="rect">
            <a:avLst/>
          </a:prstGeom>
        </p:spPr>
      </p:pic>
      <p:sp>
        <p:nvSpPr>
          <p:cNvPr id="4" name="白天構圖">
            <a:extLst xmlns:a="http://schemas.openxmlformats.org/drawingml/2006/main">
              <a:ext uri="{FF2B5EF4-FFF2-40B4-BE49-F238E27FC236}">
                <a16:creationId xmlns:a16="http://schemas.microsoft.com/office/drawing/2014/main" id="{1F92D248-CDA5-4DB6-8B74-AD8B0144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日光，坐下看書</a:t>
            </a:r>
          </a:p>
        </p:txBody>
      </p:sp>
      <p:sp>
        <p:nvSpPr>
          <p:cNvPr id="5" name="夜間構圖">
            <a:extLst xmlns:a="http://schemas.openxmlformats.org/drawingml/2006/main">
              <a:ext uri="{FF2B5EF4-FFF2-40B4-BE49-F238E27FC236}">
                <a16:creationId xmlns:a16="http://schemas.microsoft.com/office/drawing/2014/main" id="{995B670A-18DF-4A9D-A086-F478CEEE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7435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夜色，站著打招呼</a:t>
            </a:r>
          </a:p>
        </p:txBody>
      </p:sp>
      <p:sp>
        <p:nvSpPr>
          <p:cNvPr id="6" name="新玩法標題">
            <a:extLst xmlns:a="http://schemas.openxmlformats.org/drawingml/2006/main">
              <a:ext uri="{FF2B5EF4-FFF2-40B4-BE49-F238E27FC236}">
                <a16:creationId xmlns:a16="http://schemas.microsoft.com/office/drawing/2014/main" id="{2FB419EC-063E-4A12-8699-25A68C2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76375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進一步玩來回接力</a:t>
            </a:r>
          </a:p>
        </p:txBody>
      </p:sp>
      <p:sp>
        <p:nvSpPr>
          <p:cNvPr id="7" name="新玩法內容">
            <a:extLst xmlns:a="http://schemas.openxmlformats.org/drawingml/2006/main">
              <a:ext uri="{FF2B5EF4-FFF2-40B4-BE49-F238E27FC236}">
                <a16:creationId xmlns:a16="http://schemas.microsoft.com/office/drawing/2014/main" id="{3DC48C33-C271-4A7E-B6CA-4F34248B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9775"/>
            <a:ext cx="471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完成三項挑戰，旅伴升到 3 級。</a:t>
            </a:r>
          </a:p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牠會拋回紙鳥，換自己移動接住。</a:t>
            </a:r>
          </a:p>
        </p:txBody>
      </p:sp>
      <p:sp>
        <p:nvSpPr>
          <p:cNvPr id="8" name="收藏標題">
            <a:extLst xmlns:a="http://schemas.openxmlformats.org/drawingml/2006/main">
              <a:ext uri="{FF2B5EF4-FFF2-40B4-BE49-F238E27FC236}">
                <a16:creationId xmlns:a16="http://schemas.microsoft.com/office/drawing/2014/main" id="{3523EF24-547F-4E7D-AFCB-B55182B5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004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留下自己的選擇</a:t>
            </a:r>
          </a:p>
        </p:txBody>
      </p:sp>
      <p:sp>
        <p:nvSpPr>
          <p:cNvPr id="9" name="收藏內容">
            <a:extLst xmlns:a="http://schemas.openxmlformats.org/drawingml/2006/main">
              <a:ext uri="{FF2B5EF4-FFF2-40B4-BE49-F238E27FC236}">
                <a16:creationId xmlns:a16="http://schemas.microsoft.com/office/drawing/2014/main" id="{5C979A2F-4F1D-457B-B811-BC3E895A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43325"/>
            <a:ext cx="471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光線、動作、角度和裝備由本人選。</a:t>
            </a:r>
          </a:p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已取得的小物和卡片會保留。</a:t>
            </a:r>
          </a:p>
        </p:txBody>
      </p:sp>
      <p:sp>
        <p:nvSpPr>
          <p:cNvPr id="10" name="接回城市標題">
            <a:extLst xmlns:a="http://schemas.openxmlformats.org/drawingml/2006/main">
              <a:ext uri="{FF2B5EF4-FFF2-40B4-BE49-F238E27FC236}">
                <a16:creationId xmlns:a16="http://schemas.microsoft.com/office/drawing/2014/main" id="{9C072247-6C2D-4B35-8A9A-78D52EE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339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接著安排下一次出門</a:t>
            </a:r>
          </a:p>
        </p:txBody>
      </p:sp>
      <p:sp>
        <p:nvSpPr>
          <p:cNvPr id="11" name="接回城市內容">
            <a:extLst xmlns:a="http://schemas.openxmlformats.org/drawingml/2006/main">
              <a:ext uri="{FF2B5EF4-FFF2-40B4-BE49-F238E27FC236}">
                <a16:creationId xmlns:a16="http://schemas.microsoft.com/office/drawing/2014/main" id="{1351457E-CB25-44ED-8CFB-F3DD637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67350"/>
            <a:ext cx="471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從想去清單查看地點的邀約，</a:t>
            </a:r>
          </a:p>
          <a:p xmlns:a="http://schemas.openxmlformats.org/drawingml/2006/main">
            <a:pPr algn="l">
              <a:def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也能以同一個地點發起活動。</a:t>
            </a:r>
          </a:p>
        </p:txBody>
      </p:sp>
      <p:sp>
        <p:nvSpPr>
          <p:cNvPr id="12" name="頁尾線">
            <a:extLst xmlns:a="http://schemas.openxmlformats.org/drawingml/2006/main">
              <a:ext uri="{FF2B5EF4-FFF2-40B4-BE49-F238E27FC236}">
                <a16:creationId xmlns:a16="http://schemas.microsoft.com/office/drawing/2014/main" id="{F433D46C-0F41-442A-B9AD-C0C47263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3" name="實際範圍">
            <a:extLst xmlns:a="http://schemas.openxmlformats.org/drawingml/2006/main">
              <a:ext uri="{FF2B5EF4-FFF2-40B4-BE49-F238E27FC236}">
                <a16:creationId xmlns:a16="http://schemas.microsoft.com/office/drawing/2014/main" id="{4CB0C1B3-0A30-4DE6-9131-152109F2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兩張為同日實際保存的原創場景卡。目前有兩個場景、三件小物；尚未測得真人回訪效果。</a:t>
            </a:r>
          </a:p>
        </p:txBody>
      </p:sp>
    </p:spTree>
    <p:extLst>
      <p:ext uri="{BB962C8B-B14F-4D97-AF65-F5344CB8AC3E}">
        <p14:creationId xmlns:p14="http://schemas.microsoft.com/office/powerpoint/2010/main" val="660816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先有朋友的價值">
            <a:extLst xmlns:a="http://schemas.openxmlformats.org/drawingml/2006/main">
              <a:ext uri="{FF2B5EF4-FFF2-40B4-BE49-F238E27FC236}">
                <a16:creationId xmlns:a16="http://schemas.microsoft.com/office/drawing/2014/main" id="{3CDAB1A8-072C-4DE5-A89B-0C1DF4C5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我想拍照、朋友想看展，AI 幫我們一起安排</a:t>
            </a:r>
          </a:p>
        </p:txBody>
      </p:sp>
      <p:sp>
        <p:nvSpPr>
          <p:cNvPr id="2" name="本人原意">
            <a:extLst xmlns:a="http://schemas.openxmlformats.org/drawingml/2006/main">
              <a:ext uri="{FF2B5EF4-FFF2-40B4-BE49-F238E27FC236}">
                <a16:creationId xmlns:a16="http://schemas.microsoft.com/office/drawing/2014/main" id="{2BDBC61B-3190-44E9-92BA-86029738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我想拍窗框和柱頭的線條，</a:t>
            </a:r>
          </a:p>
          <a:p xmlns:a="http://schemas.openxmlformats.org/drawingml/2006/main">
            <a: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慢慢看老建築。</a:t>
            </a:r>
          </a:p>
        </p:txBody>
      </p:sp>
      <p:sp>
        <p:nvSpPr>
          <p:cNvPr id="3" name="朋友原意">
            <a:extLst xmlns:a="http://schemas.openxmlformats.org/drawingml/2006/main">
              <a:ext uri="{FF2B5EF4-FFF2-40B4-BE49-F238E27FC236}">
                <a16:creationId xmlns:a16="http://schemas.microsoft.com/office/drawing/2014/main" id="{35D4CF22-E396-4525-BD8D-4E6C874D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朋友想看文學展，</a:t>
            </a:r>
          </a:p>
          <a:p xmlns:a="http://schemas.openxmlformats.org/drawingml/2006/main">
            <a: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也可以一起拍幾張照片。</a:t>
            </a:r>
          </a:p>
        </p:txBody>
      </p:sp>
      <p:sp>
        <p:nvSpPr>
          <p:cNvPr id="4" name="共同可行條件">
            <a:extLst xmlns:a="http://schemas.openxmlformats.org/drawingml/2006/main">
              <a:ext uri="{FF2B5EF4-FFF2-40B4-BE49-F238E27FC236}">
                <a16:creationId xmlns:a16="http://schemas.microsoft.com/office/drawing/2014/main" id="{F2932A29-3361-469A-BD23-903554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兩人現場都有 60 分鐘</a:t>
            </a:r>
          </a:p>
          <a:p xmlns:a="http://schemas.openxmlformats.org/drawingml/2006/main">
            <a:pPr algn="l">
              <a:def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1667F"/>
                </a:solidFill>
                <a:latin typeface="PingFang TC"/>
                <a:ea typeface="PingFang TC"/>
                <a:cs typeface="PingFang TC"/>
              </a:rPr>
              <a:t>每人入場預算 NT$200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7E42C-BD92-4776-AF89-7040BA5B2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ab5f291fe4d48"/>
          <a:srcRect xmlns:a="http://schemas.openxmlformats.org/drawingml/2006/main" l="0" t="24029" r="0" b="240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466850"/>
            <a:ext cx="5619750" cy="2190750"/>
          </a:xfrm>
          <a:prstGeom xmlns:a="http://schemas.openxmlformats.org/drawingml/2006/main" prst="rect">
            <a:avLst/>
          </a:prstGeom>
        </p:spPr>
      </p:pic>
      <p:sp>
        <p:nvSpPr>
          <p:cNvPr id="6" name="真模型與規則共同结果">
            <a:extLst xmlns:a="http://schemas.openxmlformats.org/drawingml/2006/main">
              <a:ext uri="{FF2B5EF4-FFF2-40B4-BE49-F238E27FC236}">
                <a16:creationId xmlns:a16="http://schemas.microsoft.com/office/drawing/2014/main" id="{751DB0DF-2AD6-4792-867E-1AB91C03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561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國立臺灣文學館</a:t>
            </a:r>
          </a:p>
        </p:txBody>
      </p:sp>
      <p:sp>
        <p:nvSpPr>
          <p:cNvPr id="7" name="各自具體所得">
            <a:extLst xmlns:a="http://schemas.openxmlformats.org/drawingml/2006/main">
              <a:ext uri="{FF2B5EF4-FFF2-40B4-BE49-F238E27FC236}">
                <a16:creationId xmlns:a16="http://schemas.microsoft.com/office/drawing/2014/main" id="{54E96E16-8108-482A-A8DF-94004153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我：看拱窗與柱頭，拍建築細節。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朋友：看文學展，也能在館外一起拍照。</a:t>
            </a:r>
          </a:p>
        </p:txBody>
      </p:sp>
      <p:sp>
        <p:nvSpPr>
          <p:cNvPr id="8" name="实际時間費用">
            <a:extLst xmlns:a="http://schemas.openxmlformats.org/drawingml/2006/main">
              <a:ext uri="{FF2B5EF4-FFF2-40B4-BE49-F238E27FC236}">
                <a16:creationId xmlns:a16="http://schemas.microsoft.com/office/drawing/2014/main" id="{DC88DFF6-8523-444C-8CB1-E4DBEEF2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197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現場約 50 分鐘　已知入場費 NT$0／人</a:t>
            </a:r>
          </a:p>
        </p:txBody>
      </p:sp>
      <p:sp>
        <p:nvSpPr>
          <p:cNvPr id="9" name="條件改動分界">
            <a:extLst xmlns:a="http://schemas.openxmlformats.org/drawingml/2006/main">
              <a:ext uri="{FF2B5EF4-FFF2-40B4-BE49-F238E27FC236}">
                <a16:creationId xmlns:a16="http://schemas.microsoft.com/office/drawing/2014/main" id="{A1A9FE1C-FC41-4538-AC6F-0C380000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0" name="更改條件仍留原意">
            <a:extLst xmlns:a="http://schemas.openxmlformats.org/drawingml/2006/main">
              <a:ext uri="{FF2B5EF4-FFF2-40B4-BE49-F238E27FC236}">
                <a16:creationId xmlns:a16="http://schemas.microsoft.com/office/drawing/2014/main" id="{E56B3346-71C5-459E-BFE8-7BEC7485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4667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朋友只剩 25 分鐘時</a:t>
            </a:r>
          </a:p>
        </p:txBody>
      </p:sp>
      <p:sp>
        <p:nvSpPr>
          <p:cNvPr id="11" name="替代說明">
            <a:extLst xmlns:a="http://schemas.openxmlformats.org/drawingml/2006/main">
              <a:ext uri="{FF2B5EF4-FFF2-40B4-BE49-F238E27FC236}">
                <a16:creationId xmlns:a16="http://schemas.microsoft.com/office/drawing/2014/main" id="{B9BC356C-2476-44F1-9EBE-1A168B69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81675"/>
            <a:ext cx="5619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另列藍晒圖 25 分鐘拍照，文學展未排入。</a:t>
            </a:r>
          </a:p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由兩人決定改時間，或選用替代安排。</a:t>
            </a:r>
          </a:p>
        </p:txBody>
      </p:sp>
      <p:sp>
        <p:nvSpPr>
          <p:cNvPr id="12" name="頁尾線">
            <a:extLst xmlns:a="http://schemas.openxmlformats.org/drawingml/2006/main">
              <a:ext uri="{FF2B5EF4-FFF2-40B4-BE49-F238E27FC236}">
                <a16:creationId xmlns:a16="http://schemas.microsoft.com/office/drawing/2014/main" id="{245987A0-8BEE-4A90-9204-4852C1B0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3" name="資料與時間條件">
            <a:extLst xmlns:a="http://schemas.openxmlformats.org/drawingml/2006/main">
              <a:ext uri="{FF2B5EF4-FFF2-40B4-BE49-F238E27FC236}">
                <a16:creationId xmlns:a16="http://schemas.microsoft.com/office/drawing/2014/main" id="{21341C8A-7C96-40EE-AFD4-553CB2EB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實際輸入與結果摘錄，目前收錄 3 個地點。停留時間為估計、不含交通；展覽內容與開放另確認。</a:t>
            </a:r>
          </a:p>
        </p:txBody>
      </p:sp>
    </p:spTree>
    <p:extLst>
      <p:ext uri="{BB962C8B-B14F-4D97-AF65-F5344CB8AC3E}">
        <p14:creationId xmlns:p14="http://schemas.microsoft.com/office/powerpoint/2010/main" val="1326339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方法主題">
            <a:extLst xmlns:a="http://schemas.openxmlformats.org/drawingml/2006/main">
              <a:ext uri="{FF2B5EF4-FFF2-40B4-BE49-F238E27FC236}">
                <a16:creationId xmlns:a16="http://schemas.microsoft.com/office/drawing/2014/main" id="{2BC3B1DE-75CE-4551-80FB-686EF946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共同安排中的 AI、資料與規則</a:t>
            </a:r>
          </a:p>
        </p:txBody>
      </p:sp>
      <p:sp>
        <p:nvSpPr>
          <p:cNvPr id="2" name="理解原話">
            <a:extLst xmlns:a="http://schemas.openxmlformats.org/drawingml/2006/main">
              <a:ext uri="{FF2B5EF4-FFF2-40B4-BE49-F238E27FC236}">
                <a16:creationId xmlns:a16="http://schemas.microsoft.com/office/drawing/2014/main" id="{434F9A3D-F479-433B-B8BF-39EE0BCF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3400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理解每個人的原話</a:t>
            </a:r>
          </a:p>
        </p:txBody>
      </p:sp>
      <p:sp>
        <p:nvSpPr>
          <p:cNvPr id="3" name="理解模型">
            <a:extLst xmlns:a="http://schemas.openxmlformats.org/drawingml/2006/main">
              <a:ext uri="{FF2B5EF4-FFF2-40B4-BE49-F238E27FC236}">
                <a16:creationId xmlns:a16="http://schemas.microsoft.com/office/drawing/2014/main" id="{A241D142-D5C6-4B27-8A60-8089E43A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Qwen 理解、程式保留</a:t>
            </a:r>
          </a:p>
        </p:txBody>
      </p:sp>
      <p:sp>
        <p:nvSpPr>
          <p:cNvPr id="4" name="理解帶來的作用">
            <a:extLst xmlns:a="http://schemas.openxmlformats.org/drawingml/2006/main">
              <a:ext uri="{FF2B5EF4-FFF2-40B4-BE49-F238E27FC236}">
                <a16:creationId xmlns:a16="http://schemas.microsoft.com/office/drawing/2014/main" id="{92FEB13B-E77E-4708-B9FD-B83E281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4004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分清各自想做的事和條件。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只改朋友的時間，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自己的原意仍然保留。</a:t>
            </a:r>
          </a:p>
        </p:txBody>
      </p:sp>
      <p:sp>
        <p:nvSpPr>
          <p:cNvPr id="5" name="資料選擇">
            <a:extLst xmlns:a="http://schemas.openxmlformats.org/drawingml/2006/main">
              <a:ext uri="{FF2B5EF4-FFF2-40B4-BE49-F238E27FC236}">
                <a16:creationId xmlns:a16="http://schemas.microsoft.com/office/drawing/2014/main" id="{D1B4EFE2-0E14-474D-8913-8767826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76400"/>
            <a:ext cx="3400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選擇有資料的活動</a:t>
            </a:r>
          </a:p>
        </p:txBody>
      </p:sp>
      <p:sp>
        <p:nvSpPr>
          <p:cNvPr id="6" name="選擇分工">
            <a:extLst xmlns:a="http://schemas.openxmlformats.org/drawingml/2006/main">
              <a:ext uri="{FF2B5EF4-FFF2-40B4-BE49-F238E27FC236}">
                <a16:creationId xmlns:a16="http://schemas.microsoft.com/office/drawing/2014/main" id="{C7D9796A-6D7B-4790-8CD6-E8B949C4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3400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E5、Qwen 與條件核對</a:t>
            </a:r>
          </a:p>
        </p:txBody>
      </p:sp>
      <p:sp>
        <p:nvSpPr>
          <p:cNvPr id="7" name="活動選擇作用">
            <a:extLst xmlns:a="http://schemas.openxmlformats.org/drawingml/2006/main">
              <a:ext uri="{FF2B5EF4-FFF2-40B4-BE49-F238E27FC236}">
                <a16:creationId xmlns:a16="http://schemas.microsoft.com/office/drawing/2014/main" id="{8B4EA732-22F4-46CE-A848-36B46670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4004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E5 找相關內容，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規則核對時間與入場費，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Qwen 選各自可做的活動。</a:t>
            </a:r>
          </a:p>
        </p:txBody>
      </p:sp>
      <p:sp>
        <p:nvSpPr>
          <p:cNvPr id="8" name="結果保留">
            <a:extLst xmlns:a="http://schemas.openxmlformats.org/drawingml/2006/main">
              <a:ext uri="{FF2B5EF4-FFF2-40B4-BE49-F238E27FC236}">
                <a16:creationId xmlns:a16="http://schemas.microsoft.com/office/drawing/2014/main" id="{4E1CD170-5D03-4538-883A-3A85C0E7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把結果對回原本的想法</a:t>
            </a:r>
          </a:p>
        </p:txBody>
      </p:sp>
      <p:sp>
        <p:nvSpPr>
          <p:cNvPr id="9" name="結果核對分工">
            <a:extLst xmlns:a="http://schemas.openxmlformats.org/drawingml/2006/main">
              <a:ext uri="{FF2B5EF4-FFF2-40B4-BE49-F238E27FC236}">
                <a16:creationId xmlns:a16="http://schemas.microsoft.com/office/drawing/2014/main" id="{16F1C6C2-ADF1-4273-BE6F-7BD5DEFF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地點資料與規則</a:t>
            </a:r>
          </a:p>
        </p:txBody>
      </p:sp>
      <p:sp>
        <p:nvSpPr>
          <p:cNvPr id="10" name="結果對照作用">
            <a:extLst xmlns:a="http://schemas.openxmlformats.org/drawingml/2006/main">
              <a:ext uri="{FF2B5EF4-FFF2-40B4-BE49-F238E27FC236}">
                <a16:creationId xmlns:a16="http://schemas.microsoft.com/office/drawing/2014/main" id="{D2BBE13E-A0E6-4900-9D7C-D686FE0A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52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只剩 25 分鐘時，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文學展仍列為未安排。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兩人可改時間或選拍照。</a:t>
            </a:r>
          </a:p>
        </p:txBody>
      </p:sp>
      <p:sp>
        <p:nvSpPr>
          <p:cNvPr id="11" name="方法與資料分界">
            <a:extLst xmlns:a="http://schemas.openxmlformats.org/drawingml/2006/main">
              <a:ext uri="{FF2B5EF4-FFF2-40B4-BE49-F238E27FC236}">
                <a16:creationId xmlns:a16="http://schemas.microsoft.com/office/drawing/2014/main" id="{D0B3FA9C-F18D-4C12-9F0A-75E883B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2" name="已用資料">
            <a:extLst xmlns:a="http://schemas.openxmlformats.org/drawingml/2006/main">
              <a:ext uri="{FF2B5EF4-FFF2-40B4-BE49-F238E27FC236}">
                <a16:creationId xmlns:a16="http://schemas.microsoft.com/office/drawing/2014/main" id="{91864043-D11C-4E38-ADB8-00A37928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476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現在使用的資料</a:t>
            </a:r>
          </a:p>
        </p:txBody>
      </p:sp>
      <p:sp>
        <p:nvSpPr>
          <p:cNvPr id="13" name="已用內容">
            <a:extLst xmlns:a="http://schemas.openxmlformats.org/drawingml/2006/main">
              <a:ext uri="{FF2B5EF4-FFF2-40B4-BE49-F238E27FC236}">
                <a16:creationId xmlns:a16="http://schemas.microsoft.com/office/drawing/2014/main" id="{0BEA8C86-CE28-4532-B862-A5767FAE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已整理的地點與活動內容，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以及本人確認的偏好。</a:t>
            </a:r>
          </a:p>
        </p:txBody>
      </p:sp>
      <p:sp>
        <p:nvSpPr>
          <p:cNvPr id="14" name="資料接入計畫">
            <a:extLst xmlns:a="http://schemas.openxmlformats.org/drawingml/2006/main">
              <a:ext uri="{FF2B5EF4-FFF2-40B4-BE49-F238E27FC236}">
                <a16:creationId xmlns:a16="http://schemas.microsoft.com/office/drawing/2014/main" id="{FCD0B92D-8DB9-498D-BF56-0DCC530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28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官方資料取得後</a:t>
            </a:r>
          </a:p>
        </p:txBody>
      </p:sp>
      <p:sp>
        <p:nvSpPr>
          <p:cNvPr id="15" name="資料接入用途">
            <a:extLst xmlns:a="http://schemas.openxmlformats.org/drawingml/2006/main">
              <a:ext uri="{FF2B5EF4-FFF2-40B4-BE49-F238E27FC236}">
                <a16:creationId xmlns:a16="http://schemas.microsoft.com/office/drawing/2014/main" id="{42112572-65DB-4839-86A0-D2AD1CCD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34000"/>
            <a:ext cx="528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用地區、場域與時段趨勢，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規劃在哪裡、何時提供內容與活動。</a:t>
            </a:r>
          </a:p>
        </p:txBody>
      </p:sp>
      <p:sp>
        <p:nvSpPr>
          <p:cNvPr id="16" name="頁尾線">
            <a:extLst xmlns:a="http://schemas.openxmlformats.org/drawingml/2006/main">
              <a:ext uri="{FF2B5EF4-FFF2-40B4-BE49-F238E27FC236}">
                <a16:creationId xmlns:a16="http://schemas.microsoft.com/office/drawing/2014/main" id="{1B631792-DA7C-4984-B072-4B46FA6F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7" name="技術和範圍">
            <a:extLst xmlns:a="http://schemas.openxmlformats.org/drawingml/2006/main">
              <a:ext uri="{FF2B5EF4-FFF2-40B4-BE49-F238E27FC236}">
                <a16:creationId xmlns:a16="http://schemas.microsoft.com/office/drawing/2014/main" id="{49002C97-6AD2-4163-816B-76B2D0C7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本機 Qwen3.5-4B（Q4_K_M）與 multilingual-e5-small（q8）。目前 3 個地點；官方解題資料尚未取得。</a:t>
            </a:r>
          </a:p>
        </p:txBody>
      </p:sp>
    </p:spTree>
    <p:extLst>
      <p:ext uri="{BB962C8B-B14F-4D97-AF65-F5344CB8AC3E}">
        <p14:creationId xmlns:p14="http://schemas.microsoft.com/office/powerpoint/2010/main" val="18510205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接續價值">
            <a:extLst xmlns:a="http://schemas.openxmlformats.org/drawingml/2006/main">
              <a:ext uri="{FF2B5EF4-FFF2-40B4-BE49-F238E27FC236}">
                <a16:creationId xmlns:a16="http://schemas.microsoft.com/office/drawing/2014/main" id="{1DAB7173-BC74-4F91-8EBF-5CCB241F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同一份興趣與地點，接著探索、邀約、留下紀念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28F2C-D752-4355-AAF6-55ACC69059DF}"/>
              </a:ext>
            </a:extLst>
          </p:cNvPr>
          <p:cNvGraphicFramePr/>
          <p:nvPr/>
        </p:nvGraphicFramePr>
        <p:xfrm>
          <a:off xmlns:a="http://schemas.openxmlformats.org/drawingml/2006/main" x="571500" y="1600200"/>
          <a:ext xmlns:a="http://schemas.openxmlformats.org/drawingml/2006/main" cx="11049000" cy="4057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85950"/>
                <a:gridCol w="3381375"/>
                <a:gridCol w="5781675"/>
              </a:tblGrid>
              <a:tr h="5715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服務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已有的強項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本案帶來的體驗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11620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Google Maps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複合需求與個人化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規劃、清單與分享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兩人想做、還沒安排的事留到邀約。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活動、時間與已知費用不用重填。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Meetup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Timeleft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活動報名與主辦工具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陌生人配桌與餐廳安排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先看合菜內容、名額與分攤費用。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人數或安排改變後，再確認參加。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11620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Pikmin Bloom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養成、地方收藏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朋友互動與實體活動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玩出可佩戴的小物，自己構圖拍紀念卡。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同地點回看場景卡與自己的照片。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內容及供給的累積">
            <a:extLst xmlns:a="http://schemas.openxmlformats.org/drawingml/2006/main">
              <a:ext uri="{FF2B5EF4-FFF2-40B4-BE49-F238E27FC236}">
                <a16:creationId xmlns:a16="http://schemas.microsoft.com/office/drawing/2014/main" id="{C8ED3808-34A8-4BB7-B213-1B865828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下一步擴充地方內容、有人主持的活動，以及新的收藏。</a:t>
            </a:r>
          </a:p>
        </p:txBody>
      </p:sp>
      <p:sp>
        <p:nvSpPr>
          <p:cNvPr id="4" name="比較邊界">
            <a:extLst xmlns:a="http://schemas.openxmlformats.org/drawingml/2006/main">
              <a:ext uri="{FF2B5EF4-FFF2-40B4-BE49-F238E27FC236}">
                <a16:creationId xmlns:a16="http://schemas.microsoft.com/office/drawing/2014/main" id="{38B7698D-0521-4198-B5C2-E89C7FE7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依各服務官方資料比較設計重點，未做同條件真人比較。本案為本機原型；邀約與人物為測試資料。</a:t>
            </a:r>
          </a:p>
        </p:txBody>
      </p:sp>
    </p:spTree>
    <p:extLst>
      <p:ext uri="{BB962C8B-B14F-4D97-AF65-F5344CB8AC3E}">
        <p14:creationId xmlns:p14="http://schemas.microsoft.com/office/powerpoint/2010/main" val="20019083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合作機會">
            <a:extLst xmlns:a="http://schemas.openxmlformats.org/drawingml/2006/main">
              <a:ext uri="{FF2B5EF4-FFF2-40B4-BE49-F238E27FC236}">
                <a16:creationId xmlns:a16="http://schemas.microsoft.com/office/drawing/2014/main" id="{2076622A-3013-452E-BF30-F9952CC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探索與邀約，帶來交通與地方合作的機會</a:t>
            </a:r>
          </a:p>
        </p:txBody>
      </p:sp>
      <p:sp>
        <p:nvSpPr>
          <p:cNvPr id="2" name="參與者">
            <a:extLst xmlns:a="http://schemas.openxmlformats.org/drawingml/2006/main">
              <a:ext uri="{FF2B5EF4-FFF2-40B4-BE49-F238E27FC236}">
                <a16:creationId xmlns:a16="http://schemas.microsoft.com/office/drawing/2014/main" id="{4452C69C-92F2-40C7-AD49-BF1B6E87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參與者先找到想做的事</a:t>
            </a:r>
          </a:p>
        </p:txBody>
      </p:sp>
      <p:sp>
        <p:nvSpPr>
          <p:cNvPr id="3" name="參與者所得">
            <a:extLst xmlns:a="http://schemas.openxmlformats.org/drawingml/2006/main">
              <a:ext uri="{FF2B5EF4-FFF2-40B4-BE49-F238E27FC236}">
                <a16:creationId xmlns:a16="http://schemas.microsoft.com/office/drawing/2014/main" id="{9E7BE7F8-B245-4425-AD80-67861CA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看清活動、同行者與費用，</a:t>
            </a:r>
          </a:p>
          <a:p xmlns:a="http://schemas.openxmlformats.org/drawingml/2006/main">
            <a: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決定參加後，各自選擇怎麼去。</a:t>
            </a:r>
          </a:p>
        </p:txBody>
      </p:sp>
      <p:sp>
        <p:nvSpPr>
          <p:cNvPr id="4" name="主揪店家">
            <a:extLst xmlns:a="http://schemas.openxmlformats.org/drawingml/2006/main">
              <a:ext uri="{FF2B5EF4-FFF2-40B4-BE49-F238E27FC236}">
                <a16:creationId xmlns:a16="http://schemas.microsoft.com/office/drawing/2014/main" id="{1C1A2D49-6E49-49EE-89DE-C3FDEDF8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主揪與店家準備接待</a:t>
            </a:r>
          </a:p>
        </p:txBody>
      </p:sp>
      <p:sp>
        <p:nvSpPr>
          <p:cNvPr id="5" name="主揪所得">
            <a:extLst xmlns:a="http://schemas.openxmlformats.org/drawingml/2006/main">
              <a:ext uri="{FF2B5EF4-FFF2-40B4-BE49-F238E27FC236}">
                <a16:creationId xmlns:a16="http://schemas.microsoft.com/office/drawing/2014/main" id="{3A5D3ECA-50B4-428B-A3B7-A5F90312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依確認的人數與安排準備活動，</a:t>
            </a:r>
          </a:p>
          <a:p xmlns:a="http://schemas.openxmlformats.org/drawingml/2006/main">
            <a: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用實際到場和回饋，調整下次內容。</a:t>
            </a:r>
          </a:p>
        </p:txBody>
      </p:sp>
      <p:sp>
        <p:nvSpPr>
          <p:cNvPr id="6" name="yoxi所得">
            <a:extLst xmlns:a="http://schemas.openxmlformats.org/drawingml/2006/main">
              <a:ext uri="{FF2B5EF4-FFF2-40B4-BE49-F238E27FC236}">
                <a16:creationId xmlns:a16="http://schemas.microsoft.com/office/drawing/2014/main" id="{EADB6250-EC06-4A1F-84C4-579C355A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339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yoxi 連接已選去處與叫車入口</a:t>
            </a:r>
          </a:p>
        </p:txBody>
      </p:sp>
      <p:sp>
        <p:nvSpPr>
          <p:cNvPr id="7" name="合作條件">
            <a:extLst xmlns:a="http://schemas.openxmlformats.org/drawingml/2006/main">
              <a:ext uri="{FF2B5EF4-FFF2-40B4-BE49-F238E27FC236}">
                <a16:creationId xmlns:a16="http://schemas.microsoft.com/office/drawing/2014/main" id="{D2AB7ACF-5AB7-40A3-9714-D3BA09E8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以新增訂單與合作淨收入，</a:t>
            </a:r>
          </a:p>
          <a:p xmlns:a="http://schemas.openxmlformats.org/drawingml/2006/main">
            <a: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判斷這項服務是否值得持續投入。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2F78D-26C1-4F93-9869-A109FD2F6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6983fd5264eea"/>
          <a:stretch xmlns:a="http://schemas.openxmlformats.org/drawingml/2006/main"/>
        </p:blipFill>
        <p:spPr>
          <a:xfrm xmlns:a="http://schemas.openxmlformats.org/drawingml/2006/main">
            <a:off x="6972300" y="1466637"/>
            <a:ext cx="4552950" cy="4810551"/>
          </a:xfrm>
          <a:prstGeom xmlns:a="http://schemas.openxmlformats.org/drawingml/2006/main" prst="rect">
            <a:avLst/>
          </a:prstGeom>
        </p:spPr>
      </p:pic>
      <p:sp>
        <p:nvSpPr>
          <p:cNvPr id="9" name="範圍">
            <a:extLst xmlns:a="http://schemas.openxmlformats.org/drawingml/2006/main">
              <a:ext uri="{FF2B5EF4-FFF2-40B4-BE49-F238E27FC236}">
                <a16:creationId xmlns:a16="http://schemas.microsoft.com/office/drawing/2014/main" id="{47CC3C40-BAD4-4DBD-9E66-526BD43B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合作模式待試用驗證。本機已提供地點與官方入口；尚無訂單回傳、真實訂位或支付。</a:t>
            </a:r>
          </a:p>
        </p:txBody>
      </p:sp>
    </p:spTree>
    <p:extLst>
      <p:ext uri="{BB962C8B-B14F-4D97-AF65-F5344CB8AC3E}">
        <p14:creationId xmlns:p14="http://schemas.microsoft.com/office/powerpoint/2010/main" val="1073267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首批服務">
            <a:extLst xmlns:a="http://schemas.openxmlformats.org/drawingml/2006/main">
              <a:ext uri="{FF2B5EF4-FFF2-40B4-BE49-F238E27FC236}">
                <a16:creationId xmlns:a16="http://schemas.microsoft.com/office/drawing/2014/main" id="{2AD0F12C-04F6-4C07-8197-97052A6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先用一座城市，驗證內容、活動和再次使用</a:t>
            </a:r>
          </a:p>
        </p:txBody>
      </p:sp>
      <p:sp>
        <p:nvSpPr>
          <p:cNvPr id="2" name="試用範圍">
            <a:extLst xmlns:a="http://schemas.openxmlformats.org/drawingml/2006/main">
              <a:ext uri="{FF2B5EF4-FFF2-40B4-BE49-F238E27FC236}">
                <a16:creationId xmlns:a16="http://schemas.microsoft.com/office/drawing/2014/main" id="{5632C034-3337-4457-8FCD-2198A54F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試用規劃：10 個地點、2 場活動、2 個既有場景，最多 100 名受邀者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23676-4663-4B24-B1DB-4EE7B5384AC2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8858250"/>
              </a:tblGrid>
              <a:tr h="561975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完成的工作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704850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第 1–2 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確認資料、範圍與權限，開始聯繫活動方。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第 3–5 週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帳戶與同步、介面接合，並行核對地點和測試模型。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704850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第 6–9 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多人通知、裝置與故障恢復測試，整合並修正問題。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接著 1 個月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邀請真人試用，記錄再次使用、到場與支援成本。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啟動條件">
            <a:extLst xmlns:a="http://schemas.openxmlformats.org/drawingml/2006/main">
              <a:ext uri="{FF2B5EF4-FFF2-40B4-BE49-F238E27FC236}">
                <a16:creationId xmlns:a16="http://schemas.microsoft.com/office/drawing/2014/main" id="{F169E38D-6B1B-4455-86C4-E574589A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正式權限、活動供給、支援與量測準備好，才啟動試用。</a:t>
            </a:r>
          </a:p>
        </p:txBody>
      </p:sp>
      <p:sp>
        <p:nvSpPr>
          <p:cNvPr id="5" name="時程條件">
            <a:extLst xmlns:a="http://schemas.openxmlformats.org/drawingml/2006/main">
              <a:ext uri="{FF2B5EF4-FFF2-40B4-BE49-F238E27FC236}">
                <a16:creationId xmlns:a16="http://schemas.microsoft.com/office/drawing/2014/main" id="{775F404C-0E8F-4060-8B12-90E92DC3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規劃假設：兩人各 20 小時／週，且能分攤工程。地區與人力未定；台南僅為案例。</a:t>
            </a:r>
          </a:p>
          <a:p xmlns:a="http://schemas.openxmlformats.org/drawingml/2006/main">
            <a:pPr algn="l">
              <a:def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基準 329 小時，初排 9 週；不含尚未確定的外部等待，並非競賽交件前的工期。</a:t>
            </a:r>
          </a:p>
        </p:txBody>
      </p:sp>
    </p:spTree>
    <p:extLst>
      <p:ext uri="{BB962C8B-B14F-4D97-AF65-F5344CB8AC3E}">
        <p14:creationId xmlns:p14="http://schemas.microsoft.com/office/powerpoint/2010/main" val="3940786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資源評估">
            <a:extLst xmlns:a="http://schemas.openxmlformats.org/drawingml/2006/main">
              <a:ext uri="{FF2B5EF4-FFF2-40B4-BE49-F238E27FC236}">
                <a16:creationId xmlns:a16="http://schemas.microsoft.com/office/drawing/2014/main" id="{F9C9A316-7435-4136-B402-02A5BE24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從現有原型補強到首批試用，需要多少資源</a:t>
            </a:r>
          </a:p>
        </p:txBody>
      </p:sp>
      <p:sp>
        <p:nvSpPr>
          <p:cNvPr id="2" name="一次投入">
            <a:extLst xmlns:a="http://schemas.openxmlformats.org/drawingml/2006/main">
              <a:ext uri="{FF2B5EF4-FFF2-40B4-BE49-F238E27FC236}">
                <a16:creationId xmlns:a16="http://schemas.microsoft.com/office/drawing/2014/main" id="{5C6A027D-18EA-44B4-9DD8-F05BB78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一次補強</a:t>
            </a:r>
          </a:p>
        </p:txBody>
      </p:sp>
      <p:sp>
        <p:nvSpPr>
          <p:cNvPr id="3" name="一次金額">
            <a:extLst xmlns:a="http://schemas.openxmlformats.org/drawingml/2006/main">
              <a:ext uri="{FF2B5EF4-FFF2-40B4-BE49-F238E27FC236}">
                <a16:creationId xmlns:a16="http://schemas.microsoft.com/office/drawing/2014/main" id="{82F6DD18-1392-4047-A6DB-C7D9972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5143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AA97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FFAA97"/>
                </a:solidFill>
                <a:latin typeface="PingFang TC"/>
                <a:ea typeface="PingFang TC"/>
                <a:cs typeface="PingFang TC"/>
              </a:defRPr>
            </a:pPr>
            <a:r>
              <a:rPr sz="5250" b="1">
                <a:solidFill>
                  <a:srgbClr val="FFAA97"/>
                </a:solidFill>
                <a:latin typeface="PingFang TC"/>
                <a:ea typeface="PingFang TC"/>
                <a:cs typeface="PingFang TC"/>
              </a:rPr>
              <a:t>約 34 萬元</a:t>
            </a:r>
          </a:p>
        </p:txBody>
      </p:sp>
      <p:sp>
        <p:nvSpPr>
          <p:cNvPr id="4" name="一次拆項">
            <a:extLst xmlns:a="http://schemas.openxmlformats.org/drawingml/2006/main">
              <a:ext uri="{FF2B5EF4-FFF2-40B4-BE49-F238E27FC236}">
                <a16:creationId xmlns:a16="http://schemas.microsoft.com/office/drawing/2014/main" id="{9CD17234-CD60-4406-B77D-4EDB6484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329 小時的人力估值 280,300 元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加 20% 準備金，共 336,360 元</a:t>
            </a:r>
          </a:p>
        </p:txBody>
      </p:sp>
      <p:sp>
        <p:nvSpPr>
          <p:cNvPr id="5" name="一次用途">
            <a:extLst xmlns:a="http://schemas.openxmlformats.org/drawingml/2006/main">
              <a:ext uri="{FF2B5EF4-FFF2-40B4-BE49-F238E27FC236}">
                <a16:creationId xmlns:a16="http://schemas.microsoft.com/office/drawing/2014/main" id="{667CBA5A-A843-4BED-B487-94E7140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正式帳戶、多人同步與通知，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模型整合、內容核對與發布測試。</a:t>
            </a:r>
          </a:p>
        </p:txBody>
      </p:sp>
      <p:sp>
        <p:nvSpPr>
          <p:cNvPr id="6" name="一次與每月分界">
            <a:extLst xmlns:a="http://schemas.openxmlformats.org/drawingml/2006/main">
              <a:ext uri="{FF2B5EF4-FFF2-40B4-BE49-F238E27FC236}">
                <a16:creationId xmlns:a16="http://schemas.microsoft.com/office/drawing/2014/main" id="{ACC03746-BC6D-40AE-8F6C-E12F68B5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952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06C"/>
          </a:solidFill>
          <a:ln xmlns:a="http://schemas.openxmlformats.org/drawingml/2006/main" w="0">
            <a:noFill/>
          </a:ln>
        </p:spPr>
      </p:sp>
      <p:sp>
        <p:nvSpPr>
          <p:cNvPr id="7" name="每月投入">
            <a:extLst xmlns:a="http://schemas.openxmlformats.org/drawingml/2006/main">
              <a:ext uri="{FF2B5EF4-FFF2-40B4-BE49-F238E27FC236}">
                <a16:creationId xmlns:a16="http://schemas.microsoft.com/office/drawing/2014/main" id="{CCC34805-2633-498D-B335-2EFBC3C0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049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每月試用維運</a:t>
            </a:r>
          </a:p>
        </p:txBody>
      </p:sp>
      <p:sp>
        <p:nvSpPr>
          <p:cNvPr id="8" name="月金額">
            <a:extLst xmlns:a="http://schemas.openxmlformats.org/drawingml/2006/main">
              <a:ext uri="{FF2B5EF4-FFF2-40B4-BE49-F238E27FC236}">
                <a16:creationId xmlns:a16="http://schemas.microsoft.com/office/drawing/2014/main" id="{D319D120-068C-454A-A96C-10F37591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4953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AA97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FFAA97"/>
                </a:solidFill>
                <a:latin typeface="PingFang TC"/>
                <a:ea typeface="PingFang TC"/>
                <a:cs typeface="PingFang TC"/>
              </a:defRPr>
            </a:pPr>
            <a:r>
              <a:rPr sz="5250" b="1">
                <a:solidFill>
                  <a:srgbClr val="FFAA97"/>
                </a:solidFill>
                <a:latin typeface="PingFang TC"/>
                <a:ea typeface="PingFang TC"/>
                <a:cs typeface="PingFang TC"/>
              </a:rPr>
              <a:t>約 3.3 萬元</a:t>
            </a:r>
          </a:p>
        </p:txBody>
      </p:sp>
      <p:sp>
        <p:nvSpPr>
          <p:cNvPr id="9" name="月拆項">
            <a:extLst xmlns:a="http://schemas.openxmlformats.org/drawingml/2006/main">
              <a:ext uri="{FF2B5EF4-FFF2-40B4-BE49-F238E27FC236}">
                <a16:creationId xmlns:a16="http://schemas.microsoft.com/office/drawing/2014/main" id="{7C4954AB-1B44-4B4A-8949-459374E2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29025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雲端 2,542 元＋人力 30,275 元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合計 32,817 元／月</a:t>
            </a:r>
          </a:p>
        </p:txBody>
      </p:sp>
      <p:sp>
        <p:nvSpPr>
          <p:cNvPr id="10" name="月用途">
            <a:extLst xmlns:a="http://schemas.openxmlformats.org/drawingml/2006/main">
              <a:ext uri="{FF2B5EF4-FFF2-40B4-BE49-F238E27FC236}">
                <a16:creationId xmlns:a16="http://schemas.microsoft.com/office/drawing/2014/main" id="{CF05D4A1-E5EE-4522-BD69-C856BB27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內容與活動聯繫、使用者支援，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系統監測與問題處理。</a:t>
            </a:r>
          </a:p>
        </p:txBody>
      </p:sp>
      <p:sp>
        <p:nvSpPr>
          <p:cNvPr id="11" name="估值含義">
            <a:extLst xmlns:a="http://schemas.openxmlformats.org/drawingml/2006/main">
              <a:ext uri="{FF2B5EF4-FFF2-40B4-BE49-F238E27FC236}">
                <a16:creationId xmlns:a16="http://schemas.microsoft.com/office/drawing/2014/main" id="{700760D5-6861-46FE-8242-BF8A4E55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104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人力按投入時間估值；團隊自行完成，不等於同額現金支出。</a:t>
            </a:r>
          </a:p>
        </p:txBody>
      </p:sp>
      <p:sp>
        <p:nvSpPr>
          <p:cNvPr id="12" name="成本條件">
            <a:extLst xmlns:a="http://schemas.openxmlformats.org/drawingml/2006/main">
              <a:ext uri="{FF2B5EF4-FFF2-40B4-BE49-F238E27FC236}">
                <a16:creationId xmlns:a16="http://schemas.microsoft.com/office/drawing/2014/main" id="{2A7CDC22-0807-4F81-ABF2-14212C5C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4D0D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4D0D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4D0DF"/>
                </a:solidFill>
                <a:latin typeface="PingFang TC"/>
                <a:ea typeface="PingFang TC"/>
                <a:cs typeface="PingFang TC"/>
              </a:rPr>
              <a:t>單位為新台幣。沿用前頁試用範圍；工時、時薪與用量為假設。開發期雲端、未定外部費用和新增場景另估。</a:t>
            </a:r>
          </a:p>
        </p:txBody>
      </p:sp>
    </p:spTree>
    <p:extLst>
      <p:ext uri="{BB962C8B-B14F-4D97-AF65-F5344CB8AC3E}">
        <p14:creationId xmlns:p14="http://schemas.microsoft.com/office/powerpoint/2010/main" val="20838906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試用要回答的事">
            <a:extLst xmlns:a="http://schemas.openxmlformats.org/drawingml/2006/main">
              <a:ext uri="{FF2B5EF4-FFF2-40B4-BE49-F238E27FC236}">
                <a16:creationId xmlns:a16="http://schemas.microsoft.com/office/drawing/2014/main" id="{118BB021-2DCE-4B7F-BA6D-226C47DE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3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有人想用、願意再用，也真的成行嗎</a:t>
            </a:r>
          </a:p>
        </p:txBody>
      </p:sp>
      <p:sp>
        <p:nvSpPr>
          <p:cNvPr id="2" name="理解">
            <a:extLst xmlns:a="http://schemas.openxmlformats.org/drawingml/2006/main">
              <a:ext uri="{FF2B5EF4-FFF2-40B4-BE49-F238E27FC236}">
                <a16:creationId xmlns:a16="http://schemas.microsoft.com/office/drawing/2014/main" id="{02274771-EACD-4F56-ACF5-B70E9753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看得懂，想試哪一項</a:t>
            </a:r>
          </a:p>
        </p:txBody>
      </p:sp>
      <p:sp>
        <p:nvSpPr>
          <p:cNvPr id="3" name="理解方法">
            <a:extLst xmlns:a="http://schemas.openxmlformats.org/drawingml/2006/main">
              <a:ext uri="{FF2B5EF4-FFF2-40B4-BE49-F238E27FC236}">
                <a16:creationId xmlns:a16="http://schemas.microsoft.com/office/drawing/2014/main" id="{39D4F0F6-7A1A-421F-A823-869021F5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3409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讓第一次接觸的人自己操作，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說出會先用什麼、為什麼。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觀察哪裡卡住、哪裡有吸引力。</a:t>
            </a:r>
          </a:p>
        </p:txBody>
      </p:sp>
      <p:sp>
        <p:nvSpPr>
          <p:cNvPr id="4" name="回訪">
            <a:extLst xmlns:a="http://schemas.openxmlformats.org/drawingml/2006/main">
              <a:ext uri="{FF2B5EF4-FFF2-40B4-BE49-F238E27FC236}">
                <a16:creationId xmlns:a16="http://schemas.microsoft.com/office/drawing/2014/main" id="{DA535F8D-5CF8-4A05-91D6-E4A9EED6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什麼讓人再次打開</a:t>
            </a:r>
          </a:p>
        </p:txBody>
      </p:sp>
      <p:sp>
        <p:nvSpPr>
          <p:cNvPr id="5" name="回訪方法">
            <a:extLst xmlns:a="http://schemas.openxmlformats.org/drawingml/2006/main">
              <a:ext uri="{FF2B5EF4-FFF2-40B4-BE49-F238E27FC236}">
                <a16:creationId xmlns:a16="http://schemas.microsoft.com/office/drawing/2014/main" id="{DC286388-4136-44D8-907A-38EF599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3409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分開記錄探索、同行與收藏，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隔天、一週及一個月後，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回來的人做了什麼。</a:t>
            </a:r>
          </a:p>
        </p:txBody>
      </p:sp>
      <p:sp>
        <p:nvSpPr>
          <p:cNvPr id="6" name="成行">
            <a:extLst xmlns:a="http://schemas.openxmlformats.org/drawingml/2006/main">
              <a:ext uri="{FF2B5EF4-FFF2-40B4-BE49-F238E27FC236}">
                <a16:creationId xmlns:a16="http://schemas.microsoft.com/office/drawing/2014/main" id="{C30AEAFB-1F73-4B42-880C-A788E632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活動能成行，也值得經營</a:t>
            </a:r>
          </a:p>
        </p:txBody>
      </p:sp>
      <p:sp>
        <p:nvSpPr>
          <p:cNvPr id="7" name="成行方法">
            <a:extLst xmlns:a="http://schemas.openxmlformats.org/drawingml/2006/main">
              <a:ext uri="{FF2B5EF4-FFF2-40B4-BE49-F238E27FC236}">
                <a16:creationId xmlns:a16="http://schemas.microsoft.com/office/drawing/2014/main" id="{9B877AE7-B326-4B7A-AC2D-AE89E110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14625"/>
            <a:ext cx="35433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核對報名、到場和取消原因，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再看新增訂單、合作所得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與持續提供服務的成本。</a:t>
            </a:r>
          </a:p>
        </p:txBody>
      </p:sp>
      <p:sp>
        <p:nvSpPr>
          <p:cNvPr id="8" name="判斷分界">
            <a:extLst xmlns:a="http://schemas.openxmlformats.org/drawingml/2006/main">
              <a:ext uri="{FF2B5EF4-FFF2-40B4-BE49-F238E27FC236}">
                <a16:creationId xmlns:a16="http://schemas.microsoft.com/office/drawing/2014/main" id="{A2F3CD28-586E-4474-8A0E-D7714589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9" name="如何回應結果">
            <a:extLst xmlns:a="http://schemas.openxmlformats.org/drawingml/2006/main">
              <a:ext uri="{FF2B5EF4-FFF2-40B4-BE49-F238E27FC236}">
                <a16:creationId xmlns:a16="http://schemas.microsoft.com/office/drawing/2014/main" id="{3A2D3B3F-B5A1-46D3-971D-E6C0E540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沒看懂，改說明與操作。</a:t>
            </a:r>
          </a:p>
          <a:p xmlns:a="http://schemas.openxmlformats.org/drawingml/2006/main">
            <a:pPr algn="l">
              <a:defRPr sz="25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看懂卻不想用，改功能與內容。</a:t>
            </a:r>
          </a:p>
        </p:txBody>
      </p:sp>
      <p:sp>
        <p:nvSpPr>
          <p:cNvPr id="10" name="目前證據">
            <a:extLst xmlns:a="http://schemas.openxmlformats.org/drawingml/2006/main">
              <a:ext uri="{FF2B5EF4-FFF2-40B4-BE49-F238E27FC236}">
                <a16:creationId xmlns:a16="http://schemas.microsoft.com/office/drawing/2014/main" id="{19FADFF9-CAE9-4F30-B894-91806F92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已完成本機操作與限定模型反例檢查；真人吸引力、回訪、到場及營收尚未驗證。</a:t>
            </a:r>
          </a:p>
        </p:txBody>
      </p:sp>
    </p:spTree>
    <p:extLst>
      <p:ext uri="{BB962C8B-B14F-4D97-AF65-F5344CB8AC3E}">
        <p14:creationId xmlns:p14="http://schemas.microsoft.com/office/powerpoint/2010/main" val="14877904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結尾主張">
            <a:extLst xmlns:a="http://schemas.openxmlformats.org/drawingml/2006/main">
              <a:ext uri="{FF2B5EF4-FFF2-40B4-BE49-F238E27FC236}">
                <a16:creationId xmlns:a16="http://schemas.microsoft.com/office/drawing/2014/main" id="{1B328ED6-11F6-4B83-B698-3558A2D8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6286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今天不搭車，</a:t>
            </a:r>
          </a:p>
          <a:p xmlns:a="http://schemas.openxmlformats.org/drawingml/2006/main">
            <a:pPr algn="l">
              <a:defRPr sz="36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也有打開 yoxi 的理由</a:t>
            </a:r>
          </a:p>
        </p:txBody>
      </p:sp>
      <p:sp>
        <p:nvSpPr>
          <p:cNvPr id="2" name="探索">
            <a:extLst xmlns:a="http://schemas.openxmlformats.org/drawingml/2006/main">
              <a:ext uri="{FF2B5EF4-FFF2-40B4-BE49-F238E27FC236}">
                <a16:creationId xmlns:a16="http://schemas.microsoft.com/office/drawing/2014/main" id="{76265CFF-7463-4F0A-B94F-7B5BBF3D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從興趣找到想做的事</a:t>
            </a:r>
          </a:p>
        </p:txBody>
      </p:sp>
      <p:sp>
        <p:nvSpPr>
          <p:cNvPr id="3" name="探索所得">
            <a:extLst xmlns:a="http://schemas.openxmlformats.org/drawingml/2006/main">
              <a:ext uri="{FF2B5EF4-FFF2-40B4-BE49-F238E27FC236}">
                <a16:creationId xmlns:a16="http://schemas.microsoft.com/office/drawing/2014/main" id="{02F5A1FB-3271-4D2B-93CB-D0DEEA45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623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保留各自的想法，一起安排合適的去處。</a:t>
            </a:r>
          </a:p>
        </p:txBody>
      </p:sp>
      <p:sp>
        <p:nvSpPr>
          <p:cNvPr id="4" name="同行">
            <a:extLst xmlns:a="http://schemas.openxmlformats.org/drawingml/2006/main">
              <a:ext uri="{FF2B5EF4-FFF2-40B4-BE49-F238E27FC236}">
                <a16:creationId xmlns:a16="http://schemas.microsoft.com/office/drawing/2014/main" id="{87141A93-25AA-40BC-BB0B-1C5D9572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看清內容與費用，再一起參加</a:t>
            </a:r>
          </a:p>
        </p:txBody>
      </p:sp>
      <p:sp>
        <p:nvSpPr>
          <p:cNvPr id="5" name="收藏">
            <a:extLst xmlns:a="http://schemas.openxmlformats.org/drawingml/2006/main">
              <a:ext uri="{FF2B5EF4-FFF2-40B4-BE49-F238E27FC236}">
                <a16:creationId xmlns:a16="http://schemas.microsoft.com/office/drawing/2014/main" id="{80B74F3D-7468-441F-A868-A1965258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86325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和旅伴玩，留下自己的城市收藏</a:t>
            </a:r>
          </a:p>
        </p:txBody>
      </p:sp>
      <p:sp>
        <p:nvSpPr>
          <p:cNvPr id="6" name="交通接續">
            <a:extLst xmlns:a="http://schemas.openxmlformats.org/drawingml/2006/main">
              <a:ext uri="{FF2B5EF4-FFF2-40B4-BE49-F238E27FC236}">
                <a16:creationId xmlns:a16="http://schemas.microsoft.com/office/drawing/2014/main" id="{89EBD5CB-2AFC-4D66-B2A3-30C95C21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636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想出門時，從已選去處接到交通入口。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86A25-14E2-4F52-BC6F-D644D521D5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24420151e4422"/>
          <a:stretch xmlns:a="http://schemas.openxmlformats.org/drawingml/2006/main"/>
        </p:blipFill>
        <p:spPr>
          <a:xfrm xmlns:a="http://schemas.openxmlformats.org/drawingml/2006/main">
            <a:off x="7086600" y="438150"/>
            <a:ext cx="4572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隊伍">
            <a:extLst xmlns:a="http://schemas.openxmlformats.org/drawingml/2006/main">
              <a:ext uri="{FF2B5EF4-FFF2-40B4-BE49-F238E27FC236}">
                <a16:creationId xmlns:a16="http://schemas.microsoft.com/office/drawing/2014/main" id="{F8B45808-73A3-4368-849A-66F2BA7F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yoxi 王</a:t>
            </a:r>
          </a:p>
        </p:txBody>
      </p:sp>
      <p:sp>
        <p:nvSpPr>
          <p:cNvPr id="9" name="圖片種類">
            <a:extLst xmlns:a="http://schemas.openxmlformats.org/drawingml/2006/main">
              <a:ext uri="{FF2B5EF4-FFF2-40B4-BE49-F238E27FC236}">
                <a16:creationId xmlns:a16="http://schemas.microsoft.com/office/drawing/2014/main" id="{8B058884-597E-4CBD-AE2B-79F6FCAF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57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原創場景的實際紀念卡；以藍晒圖為靈感。</a:t>
            </a:r>
          </a:p>
        </p:txBody>
      </p:sp>
    </p:spTree>
    <p:extLst>
      <p:ext uri="{BB962C8B-B14F-4D97-AF65-F5344CB8AC3E}">
        <p14:creationId xmlns:p14="http://schemas.microsoft.com/office/powerpoint/2010/main" val="11067971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01FF03C3-B6D6-46DC-BF23-057BAD64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完整展示：從三個入口，看到各自的用途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BB6FF-08DC-4574-BED6-BE0DD6C199F6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838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入口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實際操作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8382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城市探索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用「免費、室內的看展去處」搜尋，確認地點。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保存想去與想做的事，再安排停留內容。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共同安排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我想拍照，朋友想看展。把朋友的 60 分鐘改成 25 分鐘，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看仍未安排的原意，再選去處、保存並建立邀約。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8382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一起參加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看台菜內容、名額與分攤，加入本機示例。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人數或費用改變後，各成員重新確認。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城市收藏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依風向調整投擲方向與力道，取得可用小物。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替旅伴佩戴、選光線與姿勢、保存自己的紀念卡。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8382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同一個去處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查看同地點的個人照片與場景卡，接回安排與邀約。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確定目的地後，按需要開啟官方交通入口。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6FF2A2BB-98BA-434B-AC19-38D9817B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各入口可單獨使用。展示在 Mac mini 本機運行；示例人物與邀約不代表真實活動。對應正文：第 3–8、11 頁。</a:t>
            </a:r>
          </a:p>
        </p:txBody>
      </p:sp>
    </p:spTree>
    <p:extLst>
      <p:ext uri="{BB962C8B-B14F-4D97-AF65-F5344CB8AC3E}">
        <p14:creationId xmlns:p14="http://schemas.microsoft.com/office/powerpoint/2010/main" val="19165484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A7B49906-3066-43B1-9294-530A242E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想去清單與安排：保留想做的事，再選內容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1B340-2B81-48E8-BA7D-F5391B41CF4A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838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功能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操作與實作狀態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貼上想去的地方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貼文文字、具名地圖連結或地點名稱，找出已收錄的候選。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本人逐地勾選後才保存；找不到時，補全名或手動選地點。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記下想做的事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本人逐地確認興趣，可修改或移除。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收藏能保留「想去、考慮中、已安排、已到訪」等不同狀態。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安排一次停留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查看收藏地點的邀約，或安排一次停留，再自己開團。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保留想做的事、現場時間與入場費；收藏不等於報名。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原生分享與媒體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iOS 分享選單、圖片與影片辨識尚未接入。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影片是否支援第一版仍未決定；現有入口為貼上文字。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後續規劃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推薦附近替代地點時，仍保留遠方原收藏。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跨城搜尋、多站路線與新內容提醒需補資料，尚未完成。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A8302FD6-46DD-4C93-8301-C097D1C1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目前收錄 3 個真實地點；收藏不會自動報名、訂位或確認到訪。對應正文：第 3、4、8 頁。</a:t>
            </a:r>
          </a:p>
        </p:txBody>
      </p:sp>
    </p:spTree>
    <p:extLst>
      <p:ext uri="{BB962C8B-B14F-4D97-AF65-F5344CB8AC3E}">
        <p14:creationId xmlns:p14="http://schemas.microsoft.com/office/powerpoint/2010/main" val="72456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626796D4-B1A0-44B9-BC08-04D3A2A1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邀約會變動，費用與參加意願一起確認</a:t>
            </a:r>
          </a:p>
        </p:txBody>
      </p:sp>
      <p:sp>
        <p:nvSpPr>
          <p:cNvPr id="2" name="金額示例">
            <a:extLst xmlns:a="http://schemas.openxmlformats.org/drawingml/2006/main">
              <a:ext uri="{FF2B5EF4-FFF2-40B4-BE49-F238E27FC236}">
                <a16:creationId xmlns:a16="http://schemas.microsoft.com/office/drawing/2014/main" id="{A92EB041-0C04-4F47-BA64-34812ED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示例：合菜總額 NT$2,400，3 人均分 NT$800，4 人均分 NT$600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F063C-5720-4E47-83FF-B24D0E40243E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4362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時機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使用者看到與決定的事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914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加入之前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活動內容、時間、地點、成團與最多人數、截止時間。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分開顯示餐費、活動費和交通費；未知費用保留未知。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有興趣或參加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「先記為有興趣」保留邀約，不占名額。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確認條件才加入；已滿、過期或與自己行程衝突時不能加入。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多個候選同時等人、成團後再選，規則待定。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914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人數與安排變動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人數、時間或費用改變，更新分攤與安排版本。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其他成員收到本機通知，需看過新條件再確認。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退出與後續安排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退出會更新名額與分攤，主揪退出後需由成員接手。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截止前可修改安排；逾期後另建邀約，正式取消與退款流程待設計。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A8A858C1-ECDD-4AF6-9125-D01B9633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金額和邀約為測試示例，交通另計。加入本機邀約不會向店家訂位或扣款。對應正文：第 5、8、11 頁。</a:t>
            </a:r>
          </a:p>
        </p:txBody>
      </p:sp>
    </p:spTree>
    <p:extLst>
      <p:ext uri="{BB962C8B-B14F-4D97-AF65-F5344CB8AC3E}">
        <p14:creationId xmlns:p14="http://schemas.microsoft.com/office/powerpoint/2010/main" val="998366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E98A2550-2FB7-4F6C-ACE4-29942BB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交通與互動：共同參加，也能各自前往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EE75D-4383-40F9-A3FE-F701B9D41FD1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838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目前實作與後續條件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交通入口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確認目的地與地址後，提供複製與官方 yoxi 入口。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上車位置、車資與叫車仍到官方 App 確認；未自動帶入地址。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本人偏好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確認過的興趣才參與推薦，可改、可移除，也能關閉收藏偏好。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朋友這一次的需求，保留為朋友的條件。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互動權限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邀約與訊息在本機測試人物間運作，封鎖會限制加入與邀請。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定位、推播、公開帳號與正式檢舉處理尚未接入。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同車與費用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不同上車點、繞路、等待及車資分攤仍需正式交通資料。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共同參加不強制同車；現在不估未取得的即時車資。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待設計的選項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匿名、同性別篩選與附近的人是會議提議，尚未實作。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須先定義同意、可見範圍、退出方式與申訴處理。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BB4068E6-8900-4969-876D-FB5DEBCF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偏好設定與測試狀態目前留在本瀏覽器；跨裝置帳戶及正式權限列入試用補強。對應正文：第 3、5、8、11 頁。</a:t>
            </a:r>
          </a:p>
        </p:txBody>
      </p:sp>
    </p:spTree>
    <p:extLst>
      <p:ext uri="{BB962C8B-B14F-4D97-AF65-F5344CB8AC3E}">
        <p14:creationId xmlns:p14="http://schemas.microsoft.com/office/powerpoint/2010/main" val="20713274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A9F5FB14-9AEF-4AED-B1A6-2C65F092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遊戲的收穫：取得小物，再帶進自己的紀念</a:t>
            </a:r>
          </a:p>
        </p:txBody>
      </p:sp>
      <p:sp>
        <p:nvSpPr>
          <p:cNvPr id="2" name="成長門檻">
            <a:extLst xmlns:a="http://schemas.openxmlformats.org/drawingml/2006/main">
              <a:ext uri="{FF2B5EF4-FFF2-40B4-BE49-F238E27FC236}">
                <a16:creationId xmlns:a16="http://schemas.microsoft.com/office/drawing/2014/main" id="{EC9C1A2D-90AA-4549-A3B5-70B354A4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四個任務，完成三項達 3 級，開啟來回接力。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B0159-624A-4436-B277-0A1C89E50016}"/>
              </a:ext>
            </a:extLst>
          </p:cNvPr>
          <p:cNvGraphicFramePr/>
          <p:nvPr/>
        </p:nvGraphicFramePr>
        <p:xfrm>
          <a:off xmlns:a="http://schemas.openxmlformats.org/drawingml/2006/main" x="571500" y="1962150"/>
          <a:ext xmlns:a="http://schemas.openxmlformats.org/drawingml/2006/main" cx="11049000" cy="4362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機制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目前的規則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933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取得小物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任一場景首次接住，取得旅行包；街角首次接住，取得藍屋徽章。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書店首次讓紙鳥停在書頁上，取得葉片書籤。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完成任務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街角接住一次、從街角三個位置接住、紙鳥停在書頁上、開窗後成功兩次。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每項完成得 20 經驗，上限 60；重做同一任務不重複加經驗。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933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重玩與自訂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可調投擲方向、仰角與力道，觀察側風和落點。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已取得的小物可佩戴；紀念卡能重選構圖、光線、動作與文字。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成長的範圍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 3 級、3 件小物、2 個場景。新的玩法與收藏需要新增內容。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步數、搭車里程、會員等級與可兌換點數仍待資料和成本設計。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BF795A3E-61CB-432E-B994-5A7BCC49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遊戲進度保存在本機；經驗值不等於 yoxi 里程或可兌換點數。真人樂趣與回訪尚待試用。對應正文：第 6、7 頁。</a:t>
            </a:r>
          </a:p>
        </p:txBody>
      </p:sp>
    </p:spTree>
    <p:extLst>
      <p:ext uri="{BB962C8B-B14F-4D97-AF65-F5344CB8AC3E}">
        <p14:creationId xmlns:p14="http://schemas.microsoft.com/office/powerpoint/2010/main" val="8618471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7FECED71-7616-4FA0-A9F5-2BE2A4B1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個人紀念：同一地方，保留不同的體驗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A7752-8337-42DB-AE44-BE6722BCF2FB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838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內容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如何保存與接續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自己的照片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本人選擇照片、加上文字，保存到對應地點。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同地點可回看自己的照片與場景卡，兩種來源分開標示。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場景紀念卡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選光線、角度、姿勢與裝備，拍成自己的卡片。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可以收藏及回去調整；線上場景不當成實地到訪紀錄。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從收藏想到出門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藍色街角以藍晒圖為靈感，可另存為想去的地方。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想做的事由本人確認，再接續安排與邀約。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內容的來源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雨後書店是原創場景，沒有對應真實店家。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真實地點的照片與故事保留來源；開放、展覽及限制須更新。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8572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接下來的累積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增加地方主題、物件和玩法，讓收藏有新的內容可選。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照片投稿、文化地圖與共同紀念仍需權利、同意及審核方式。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660B4D0E-979D-4AC7-AC9C-3AF85CE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現有場景與卡片是原創互動內容，非官方景點模型或到訪證明。對應正文：第 3、6、7 頁。</a:t>
            </a:r>
          </a:p>
        </p:txBody>
      </p:sp>
    </p:spTree>
    <p:extLst>
      <p:ext uri="{BB962C8B-B14F-4D97-AF65-F5344CB8AC3E}">
        <p14:creationId xmlns:p14="http://schemas.microsoft.com/office/powerpoint/2010/main" val="12259604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4964ADF2-7DB2-4FA6-B806-C455D7C2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模型理解語句，規則核對時間、費用與權限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C58E5-4811-4C0F-8CD6-1755390C78C3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目前使用方式與選用原因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理解需求與修改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Qwen3.5-4B，Q4_K_M，本機 llama.cpp／Metal。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處理自然語句和每個人的條件，修改其中一項時保留其餘原意。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找出相關內容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multilingual-e5-small，q8，ONNX CPU。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用語意比對地點內容，再依現場時間與已知入場費篩選。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共同安排與導覽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Qwen 從已整理的候選中選活動；地方問答附所依來源。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資料未支持的部分保留未知，不把即時現況由歷史資料推定。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條件與個人資料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名額、費用版本、成員確認及遊戲進度用明確規則處理。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本人確認的偏好才帶入推薦，朋友當次需求不改寫本人偏好。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3" name="現有界線">
            <a:extLst xmlns:a="http://schemas.openxmlformats.org/drawingml/2006/main">
              <a:ext uri="{FF2B5EF4-FFF2-40B4-BE49-F238E27FC236}">
                <a16:creationId xmlns:a16="http://schemas.microsoft.com/office/drawing/2014/main" id="{82E01DC7-B375-4F63-89D3-40963692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找伴目前依興趣與條件比對，尚未使用生成模型做人員配對。</a:t>
            </a:r>
          </a:p>
        </p:txBody>
      </p:sp>
      <p:sp>
        <p:nvSpPr>
          <p:cNvPr id="4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2297F891-BFD3-4421-9DB4-612C5F6B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本機模型選擇考慮中文任務與現有設備；未完成同版本、同資料的多模型品質比較。對應正文：第 9 頁。</a:t>
            </a:r>
          </a:p>
        </p:txBody>
      </p:sp>
    </p:spTree>
    <p:extLst>
      <p:ext uri="{BB962C8B-B14F-4D97-AF65-F5344CB8AC3E}">
        <p14:creationId xmlns:p14="http://schemas.microsoft.com/office/powerpoint/2010/main" val="1733521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E96E8D2D-379A-41B3-8854-FCAB2306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官方資料用來決定在哪裡、何時提供內容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50FC5-ACB4-44FB-8087-A4126CDAAB6B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93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官方列出的資料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預計用法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109537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叫車時段與使用頻率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比較不同地區與時段，安排內容更新及活動供給。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試用後再核對互動和出行的關係。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場域屬性（POI）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補足地點分類，讓興趣和活動內容有可核對的地方資料。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與景點、店家及展覽公告一起維護。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109537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熱門上下車地點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辨認常見出發與抵達區域，優先核對附近的探索內容。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交通量不直接視為對某項活動的需求。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交通樞紐與活動熱點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安排適合轉乘、等候或活動前後的城市內容。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還要核對步行時間、開放狀況與可接待人數。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744650F8-936F-4970-95A1-A6ABA25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解題資料尚未取得。接入前先核對期間、地理粒度、欄位與使用範圍；區域趨勢不直接當成個人偏好。對應正文：第 9、12 頁。</a:t>
            </a:r>
          </a:p>
        </p:txBody>
      </p:sp>
    </p:spTree>
    <p:extLst>
      <p:ext uri="{BB962C8B-B14F-4D97-AF65-F5344CB8AC3E}">
        <p14:creationId xmlns:p14="http://schemas.microsoft.com/office/powerpoint/2010/main" val="14199731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B2153A98-3C43-47D1-8BC9-C0495746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共同安排實例：只改朋友的時間，仍保留原意</a:t>
            </a:r>
          </a:p>
        </p:txBody>
      </p:sp>
      <p:sp>
        <p:nvSpPr>
          <p:cNvPr id="2" name="原話">
            <a:extLst xmlns:a="http://schemas.openxmlformats.org/drawingml/2006/main">
              <a:ext uri="{FF2B5EF4-FFF2-40B4-BE49-F238E27FC236}">
                <a16:creationId xmlns:a16="http://schemas.microsoft.com/office/drawing/2014/main" id="{AC2FCAFE-BB09-428F-A918-3AE2CDEA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763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我想拍窗框、柱頭，慢看老建築；朋友想看文學展，也能一起拍照。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D0950-28CC-42A9-A2C6-16462EA9174D}"/>
              </a:ext>
            </a:extLst>
          </p:cNvPr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800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43125"/>
                <a:gridCol w="4448175"/>
                <a:gridCol w="4457700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比較項目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兩人各有 60 分鐘現場時間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朋友現場時間改為 25 分鐘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10287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可用安排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國立臺灣文學館，50 分鐘。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拍建築細節，館內看文學展。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原有 50 分鐘安排放不進去。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另列藍晒圖 25 分鐘拍照。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每個人的想法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保留本人與朋友各自的需求。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已知入場費 0 元，交通另計。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朋友仍想看文學展，列為未安排。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本人要的窗框、柱頭、老建築未確認。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10287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下一個決定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確認展覽、開放空間與攝影限制，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再保存安排或建立邀約。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選擇改時間或接受拍照替代。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未安排的內容跟著保留到邀約。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實測的範圍">
            <a:extLst xmlns:a="http://schemas.openxmlformats.org/drawingml/2006/main">
              <a:ext uri="{FF2B5EF4-FFF2-40B4-BE49-F238E27FC236}">
                <a16:creationId xmlns:a16="http://schemas.microsoft.com/office/drawing/2014/main" id="{832DF575-AA85-4A39-B2AD-D5E0F880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已保存真模型回覆、修正紀錄與實際操作。</a:t>
            </a:r>
          </a:p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尚未用相同版本、相同資料完成 AI 與規則基線的品質比較。</a:t>
            </a:r>
          </a:p>
        </p:txBody>
      </p:sp>
    </p:spTree>
    <p:extLst>
      <p:ext uri="{BB962C8B-B14F-4D97-AF65-F5344CB8AC3E}">
        <p14:creationId xmlns:p14="http://schemas.microsoft.com/office/powerpoint/2010/main" val="1299096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D82BBD98-46B7-4011-8E25-E213306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首批地區要能到場，活動要有人負責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FE86C-D861-4F01-B23C-3FD4404124D2}"/>
              </a:ext>
            </a:extLst>
          </p:cNvPr>
          <p:cNvGraphicFramePr/>
          <p:nvPr/>
        </p:nvGraphicFramePr>
        <p:xfrm>
          <a:off xmlns:a="http://schemas.openxmlformats.org/drawingml/2006/main" x="571500" y="1457325"/>
          <a:ext xmlns:a="http://schemas.openxmlformats.org/drawingml/2006/main" cx="11049000" cy="4362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選擇條件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首批要確認的事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9525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地區與地方內容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台南是目前展示案例，試辦城市尚未決定。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以團隊可到場、資料可核對、興趣主題和活動密度選擇。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活動如何開始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先與在地店家或主持人安排 2 場可參加的活動。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先確認內容、時間、名額與費用，再開放受邀者加入。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9525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內容與參加支援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合作方核對生活資訊、菜色、評論來源與多人優惠。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團隊維護邀約，雙方事先約定未成團、取消與現場支援。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持續累積的價值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逐城累積可更新的地方內容、合作關係與活動經驗。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本人確認的興趣用於推薦，保存的紀念可接續回看與安排。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3" name="目前條件">
            <a:extLst xmlns:a="http://schemas.openxmlformats.org/drawingml/2006/main">
              <a:ext uri="{FF2B5EF4-FFF2-40B4-BE49-F238E27FC236}">
                <a16:creationId xmlns:a16="http://schemas.microsoft.com/office/drawing/2014/main" id="{D40E6385-E3FA-4BBF-935F-96B3727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目前尚未確認首批合作方，也尚未形成難以複製的門檻。</a:t>
            </a:r>
          </a:p>
        </p:txBody>
      </p:sp>
      <p:sp>
        <p:nvSpPr>
          <p:cNvPr id="4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DFE60E2E-983C-447F-BC08-1C2C304B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試辦規劃：1 城市、10 個核對過的地點、2 場活動。實際城市與人力須確認。對應正文：第 10–12 頁。</a:t>
            </a:r>
          </a:p>
        </p:txBody>
      </p:sp>
    </p:spTree>
    <p:extLst>
      <p:ext uri="{BB962C8B-B14F-4D97-AF65-F5344CB8AC3E}">
        <p14:creationId xmlns:p14="http://schemas.microsoft.com/office/powerpoint/2010/main" val="5322397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A494583B-9560-4C1C-82EE-47DF1AD0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每月成本會隨使用量與維護工作改變</a:t>
            </a:r>
          </a:p>
        </p:txBody>
      </p:sp>
      <p:sp>
        <p:nvSpPr>
          <p:cNvPr id="2" name="假設性質">
            <a:extLst xmlns:a="http://schemas.openxmlformats.org/drawingml/2006/main">
              <a:ext uri="{FF2B5EF4-FFF2-40B4-BE49-F238E27FC236}">
                <a16:creationId xmlns:a16="http://schemas.microsoft.com/office/drawing/2014/main" id="{5AC1AB8D-253D-418E-88C9-64ADFBF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不同用量的預算情境，並非使用者成長預測。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C034A-E607-42D7-80F9-2EE035F197F2}"/>
              </a:ext>
            </a:extLst>
          </p:cNvPr>
          <p:cNvGraphicFramePr/>
          <p:nvPr/>
        </p:nvGraphicFramePr>
        <p:xfrm>
          <a:off xmlns:a="http://schemas.openxmlformats.org/drawingml/2006/main" x="571500" y="1914525"/>
          <a:ext xmlns:a="http://schemas.openxmlformats.org/drawingml/2006/main" cx="11049000" cy="3228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2667000"/>
                <a:gridCol w="2667000"/>
                <a:gridCol w="2952750"/>
              </a:tblGrid>
              <a:tr h="56197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每月活躍人數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雲端費用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人力估值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每月合計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100 人試用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2,542 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30,275 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32,817 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1,000 人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3,273 元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47,850 元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51,123 元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10,000 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46,765 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151,350 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198,115 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50,000 人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562,165 元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509,400 元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1,071,565 元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計價條件">
            <a:extLst xmlns:a="http://schemas.openxmlformats.org/drawingml/2006/main">
              <a:ext uri="{FF2B5EF4-FFF2-40B4-BE49-F238E27FC236}">
                <a16:creationId xmlns:a16="http://schemas.microsoft.com/office/drawing/2014/main" id="{A17EC39D-CC1E-40AE-8FC7-3FD295B7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5925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人力包含內容更新、活動聯繫、支援與維運。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新台幣、未稅；預算匯率 1 美元＝32 元，非即時匯率。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行銷、獎勵、現場活動、保險及外部授權費，需另詢價加入。</a:t>
            </a:r>
          </a:p>
        </p:txBody>
      </p:sp>
      <p:sp>
        <p:nvSpPr>
          <p:cNvPr id="5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C57D9265-C57C-42F0-B78E-E5245D4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沿用既定功能與情境用量；各欄四捨五入，合計依未取整數值計算。對應正文：第 13 頁。</a:t>
            </a:r>
          </a:p>
        </p:txBody>
      </p:sp>
    </p:spTree>
    <p:extLst>
      <p:ext uri="{BB962C8B-B14F-4D97-AF65-F5344CB8AC3E}">
        <p14:creationId xmlns:p14="http://schemas.microsoft.com/office/powerpoint/2010/main" val="18327175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B5D18254-EB52-47F3-90A4-0AA77DAD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收入要看新增的交易，以及每筆留下多少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1AE0B-4948-4119-8175-9EB0201BD81F}"/>
              </a:ext>
            </a:extLst>
          </p:cNvPr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可能的收入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如何判斷是否值得投入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交通服務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確認經此入口完成多少訂單，再與相同條件的基準比較。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新增訂單扣除該筆成本後，留下的金額才用來估算效益。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活動與合作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可測試活動服務費或商家合作費，須先確認合作條件。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交易總額不等於平台收入，也不重複計入同一筆收益。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每月能否支應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新增交通與活動的淨貢獻，加上合作淨收入，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需覆蓋每月維運、行銷、獎勵和其他持續費用。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一次投入能否回收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另計正式建置與開發期雲端，按預定回收期間攤回。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收入不足時，分辨交易量、每筆收益及維護工作哪裡不合適。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35844D17-6E17-4F5B-B51B-C3215F45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尚無真實收入、抽成或轉換率。需以實際合作條件與試用結果重算。對應正文：第 11、13、14 頁。</a:t>
            </a:r>
          </a:p>
        </p:txBody>
      </p:sp>
    </p:spTree>
    <p:extLst>
      <p:ext uri="{BB962C8B-B14F-4D97-AF65-F5344CB8AC3E}">
        <p14:creationId xmlns:p14="http://schemas.microsoft.com/office/powerpoint/2010/main" val="11765310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762B45AA-47C1-4E71-A910-B483B08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首批試用的 329 小時，主要花在哪裡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6066-4AC4-46C1-8E3A-1F56B77048D7}"/>
              </a:ext>
            </a:extLst>
          </p:cNvPr>
          <p:cNvGraphicFramePr/>
          <p:nvPr/>
        </p:nvGraphicFramePr>
        <p:xfrm>
          <a:off xmlns:a="http://schemas.openxmlformats.org/drawingml/2006/main" x="571500" y="1333500"/>
          <a:ext xmlns:a="http://schemas.openxmlformats.org/drawingml/2006/main" cx="11049000" cy="4619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762750"/>
                <a:gridCol w="1666875"/>
                <a:gridCol w="26193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工作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基準人時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人力估值（元）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5810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正式帳戶、權限、資料同步與刪除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90,000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共同狀態、加入退出與通知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43,200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5810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模型接入、索引及語意核對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36,000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介面接合與兩場景裝置檢查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32,000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5810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 地點核對與 2 場活動準備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13,500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試用規則、發布、整合與監測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76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65,600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5810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280,300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準備金">
            <a:extLst xmlns:a="http://schemas.openxmlformats.org/drawingml/2006/main">
              <a:ext uri="{FF2B5EF4-FFF2-40B4-BE49-F238E27FC236}">
                <a16:creationId xmlns:a16="http://schemas.microsoft.com/office/drawing/2014/main" id="{553A1E25-0C1E-45C4-B0EE-BF40852D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75546"/>
                </a:solidFill>
                <a:latin typeface="PingFang TC"/>
                <a:ea typeface="PingFang TC"/>
                <a:cs typeface="PingFang TC"/>
              </a:rPr>
              <a:t>加 20% 回修準備金，共 336,360 元。</a:t>
            </a:r>
          </a:p>
        </p:txBody>
      </p:sp>
      <p:sp>
        <p:nvSpPr>
          <p:cNvPr id="4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A6CB26D4-4F2B-4292-84B8-ED4FBC81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金額為新台幣。時薪假設 500–900 元；非報價或已支出。開發期雲端、正式 yoxi／金流介接及外部費用另估。對應正文：第 12、13 頁。</a:t>
            </a:r>
          </a:p>
        </p:txBody>
      </p:sp>
    </p:spTree>
    <p:extLst>
      <p:ext uri="{BB962C8B-B14F-4D97-AF65-F5344CB8AC3E}">
        <p14:creationId xmlns:p14="http://schemas.microsoft.com/office/powerpoint/2010/main" val="16268673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220B6E0F-1A96-4A6F-B347-F88C835A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正式服務還要補上跨裝置與多人共同狀態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E353B-F2F5-43D2-8172-9505C0E8474C}"/>
              </a:ext>
            </a:extLst>
          </p:cNvPr>
          <p:cNvGraphicFramePr/>
          <p:nvPr/>
        </p:nvGraphicFramePr>
        <p:xfrm>
          <a:off xmlns:a="http://schemas.openxmlformats.org/drawingml/2006/main" x="571500" y="145732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實作與正式化的安排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帳戶與邀約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目前資料存在瀏覽器，測試人物共用本機狀態。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正式服務需登入、資料權限、伺服器同步，以及同時加入名額的處理。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通知與恢復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目前提供本機通知清單。正式推播需使用者同意。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共同狀態需保留版本、備份與恢復，確認失敗時不能誤報成功。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模型與雲端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 Qwen、E5 在 Mac mini 運行。雲端候選需用相同任務比較。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成本以 API、資料庫、檔案儲存和通知服務估算，尚未正式部署。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正式平台整合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原生手機分享、yoxi 帳號、叫車與獎勵，需另確認介接方式。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訂位、金流、退款與對帳也需服務方條件，未列為已完成能力。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EEED891B-B78A-4DA0-BB78-A903721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目前為可操作的本機原型。首批試用與正式平台整合分開估算。對應正文：第 9、12、13 頁。</a:t>
            </a:r>
          </a:p>
        </p:txBody>
      </p:sp>
    </p:spTree>
    <p:extLst>
      <p:ext uri="{BB962C8B-B14F-4D97-AF65-F5344CB8AC3E}">
        <p14:creationId xmlns:p14="http://schemas.microsoft.com/office/powerpoint/2010/main" val="10614272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F922CFDA-9337-4E74-B6FE-C913B995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試用先分清楚：看懂、想用，以及真的回來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F1160-4A5B-43CA-9228-E6B30F9628C1}"/>
              </a:ext>
            </a:extLst>
          </p:cNvPr>
          <p:cNvGraphicFramePr/>
          <p:nvPr/>
        </p:nvGraphicFramePr>
        <p:xfrm>
          <a:off xmlns:a="http://schemas.openxmlformats.org/drawingml/2006/main" x="571500" y="1409700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要知道什麼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觀察方法與判斷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第一次能否理解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先讓新使用者自行看與操作，再請他說這是做什麼、想用哪部分。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記下卡住之處，分開處理文字、操作和功能本身的問題。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願不願意再用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以各功能首次有效使用日為起點，觀察第 1、7、30 天有沒有再次使用。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分別記錄探索、同行和遊戲的有效行動，詢問回來與不回來的原因。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有沒有形成活動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從看過邀約、確認加入到實際到場，分開計人數與取消原因。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查看交通入口與完成訂單也分開，不能用點擊當作搭車。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值得持續投入嗎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比較內容與活動維護工時、雲端帳單及實際合作結果。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看懂卻不想用，就修改內容或功能，再觀察同一問題是否改善。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6FD32716-4C43-4304-A7C1-050539EF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目前沒有真人試用或留存結果。正式收集前需告知用途並取得必要同意。對應正文：第 14 頁。</a:t>
            </a:r>
          </a:p>
        </p:txBody>
      </p:sp>
    </p:spTree>
    <p:extLst>
      <p:ext uri="{BB962C8B-B14F-4D97-AF65-F5344CB8AC3E}">
        <p14:creationId xmlns:p14="http://schemas.microsoft.com/office/powerpoint/2010/main" val="14826365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2DA5DAEE-452B-41A8-8B76-291A6C28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地方收藏如何和真實活動一起運作</a:t>
            </a:r>
          </a:p>
        </p:txBody>
      </p:sp>
      <p:sp>
        <p:nvSpPr>
          <p:cNvPr id="2" name="案例">
            <a:extLst xmlns:a="http://schemas.openxmlformats.org/drawingml/2006/main">
              <a:ext uri="{FF2B5EF4-FFF2-40B4-BE49-F238E27FC236}">
                <a16:creationId xmlns:a16="http://schemas.microsoft.com/office/drawing/2014/main" id="{61D5A9E2-960E-439D-960B-E5F3A8B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Pikmin Bloom × Seattle Aquarium</a:t>
            </a:r>
          </a:p>
        </p:txBody>
      </p:sp>
      <p:sp>
        <p:nvSpPr>
          <p:cNvPr id="3" name="案例內容">
            <a:extLst xmlns:a="http://schemas.openxmlformats.org/drawingml/2006/main">
              <a:ext uri="{FF2B5EF4-FFF2-40B4-BE49-F238E27FC236}">
                <a16:creationId xmlns:a16="http://schemas.microsoft.com/office/drawing/2014/main" id="{0F1441D1-A10F-4524-B03C-0FEF8E50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2026 年 5/23–9/7，於西雅圖海濱設置 9 個遊戲地點。</a:t>
            </a:r>
          </a:p>
          <a:p xmlns:a="http://schemas.openxmlformats.org/drawingml/2006/main">
            <a:pPr algn="l">
              <a:defRPr sz="21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參加者到各點取得與該地點相關的飾品皮克敏金色盆苗；</a:t>
            </a:r>
          </a:p>
          <a:p xmlns:a="http://schemas.openxmlformats.org/drawingml/2006/main">
            <a:pPr algn="l">
              <a:defRPr sz="2100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活動期間，每個地點每 30 天可再取得一次。</a:t>
            </a:r>
          </a:p>
        </p:txBody>
      </p:sp>
      <p:sp>
        <p:nvSpPr>
          <p:cNvPr id="4" name="可借鏡方法">
            <a:extLst xmlns:a="http://schemas.openxmlformats.org/drawingml/2006/main">
              <a:ext uri="{FF2B5EF4-FFF2-40B4-BE49-F238E27FC236}">
                <a16:creationId xmlns:a16="http://schemas.microsoft.com/office/drawing/2014/main" id="{28A8A1FD-C156-41E0-B21B-B6F22B7F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可借鏡的做法</a:t>
            </a:r>
          </a:p>
        </p:txBody>
      </p:sp>
      <p:sp>
        <p:nvSpPr>
          <p:cNvPr id="5" name="方法">
            <a:extLst xmlns:a="http://schemas.openxmlformats.org/drawingml/2006/main">
              <a:ext uri="{FF2B5EF4-FFF2-40B4-BE49-F238E27FC236}">
                <a16:creationId xmlns:a16="http://schemas.microsoft.com/office/drawing/2014/main" id="{E63BC6B1-D593-4464-BBE1-96064F76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地方機構提供場域，遊戲提供收藏與再次參與的理由。</a:t>
            </a:r>
          </a:p>
          <a:p xmlns:a="http://schemas.openxmlformats.org/drawingml/2006/main">
            <a:pPr algn="l">
              <a:def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本案可先與少數地方夥伴做主題活動，逐步累積可維護的內容。</a:t>
            </a:r>
          </a:p>
        </p:txBody>
      </p:sp>
      <p:sp>
        <p:nvSpPr>
          <p:cNvPr id="6" name="本案契機">
            <a:extLst xmlns:a="http://schemas.openxmlformats.org/drawingml/2006/main">
              <a:ext uri="{FF2B5EF4-FFF2-40B4-BE49-F238E27FC236}">
                <a16:creationId xmlns:a16="http://schemas.microsoft.com/office/drawing/2014/main" id="{64DC58D0-B7BC-4348-B469-4B3BD4FD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yoxi 已提出日常互動題目，並規劃提供去識別化出行與地點資料。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我們先做可操作體驗，再用試辦檢驗參與、回訪與交通需求。</a:t>
            </a:r>
          </a:p>
        </p:txBody>
      </p:sp>
      <p:sp>
        <p:nvSpPr>
          <p:cNvPr id="7" name="案例來源">
            <a:extLst xmlns:a="http://schemas.openxmlformats.org/drawingml/2006/main">
              <a:ext uri="{FF2B5EF4-FFF2-40B4-BE49-F238E27FC236}">
                <a16:creationId xmlns:a16="http://schemas.microsoft.com/office/drawing/2014/main" id="{259302BF-ABDC-4A2D-B2F4-76B0C170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fb528f028b0545b4"/>
              </a:rPr>
              <a:t>案例：Pikmin Bloom 官方活動說明</a:t>
            </a:r>
          </a:p>
        </p:txBody>
      </p:sp>
      <p:sp>
        <p:nvSpPr>
          <p:cNvPr id="8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A395C61A-37EC-4310-83C0-1C2C96D4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此案例說明合作形式；未取得其參與、回訪或營收數據，不能推估本案成效。官方解題資料尚未取得。</a:t>
            </a:r>
          </a:p>
        </p:txBody>
      </p:sp>
    </p:spTree>
    <p:extLst>
      <p:ext uri="{BB962C8B-B14F-4D97-AF65-F5344CB8AC3E}">
        <p14:creationId xmlns:p14="http://schemas.microsoft.com/office/powerpoint/2010/main" val="17739307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F24A838A-8BF9-40E6-82D4-077BDA8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把後續功能接回三個體驗，保留各自的好處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A9BC3-A52A-491D-97DD-437E834C5A94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819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8524875"/>
              </a:tblGrid>
              <a:tr h="5524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延伸方向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增加的用途與下一步條件</a:t>
                      </a:r>
                    </a:p>
                  </a:txBody>
                  <a:tcPr marL="91440" marR="91440" marT="45720" marB="45720" anchor="ctr">
                    <a:solidFill>
                      <a:srgbClr val="0B2345"/>
                    </a:solidFill>
                  </a:tcPr>
                </a:tc>
              </a:tr>
              <a:tr h="10668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分享與遠方收藏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從手機分享選單帶入貼文，確認其中多個地點。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跨城查找、附近提醒與多站行程，需媒體解析、定位與路線資料。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地方蒐集與投稿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展覽蒐集、文化地圖、日記與投稿；同角度拍照可設定時間及相似度。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挑戰與解鎖需先定義判定、來源、同意和審核，保留自願參加。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  <a:tr h="10668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成長與回饋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加入車輛貼紙、小驚喜、主題收藏與會員等級。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步數、消費和里程連動，需本人授權、資料介接與獎勵成本。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找到更多同伴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AI 找伴、跨圈活動、神祕目的地與戀愛巴士是延伸提議。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0B2345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長途順風車、不同上車點共乘，需供給、等待費用與責任安排。</a:t>
                      </a:r>
                    </a:p>
                  </a:txBody>
                  <a:tcPr marL="91440" marR="91440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3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3D646A83-221C-456B-8B3E-9A502728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以上為會議或會後保留構想，尚未全部實作或決定納入第一版。影片輸入是否屬第一版仍待決定。</a:t>
            </a:r>
          </a:p>
        </p:txBody>
      </p:sp>
    </p:spTree>
    <p:extLst>
      <p:ext uri="{BB962C8B-B14F-4D97-AF65-F5344CB8AC3E}">
        <p14:creationId xmlns:p14="http://schemas.microsoft.com/office/powerpoint/2010/main" val="3154002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4687D004-3AD1-421C-BA53-C094AA9F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官方條件與地方資訊的來源</a:t>
            </a:r>
          </a:p>
        </p:txBody>
      </p:sp>
      <p:sp>
        <p:nvSpPr>
          <p:cNvPr id="2" name="官方">
            <a:extLst xmlns:a="http://schemas.openxmlformats.org/drawingml/2006/main">
              <a:ext uri="{FF2B5EF4-FFF2-40B4-BE49-F238E27FC236}">
                <a16:creationId xmlns:a16="http://schemas.microsoft.com/office/drawing/2014/main" id="{F99FF47C-5B62-4D74-A298-34989A09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競賽要求</a:t>
            </a:r>
          </a:p>
        </p:txBody>
      </p:sp>
      <p:sp>
        <p:nvSpPr>
          <p:cNvPr id="3" name="yoxi 題目與資料資源">
            <a:extLst xmlns:a="http://schemas.openxmlformats.org/drawingml/2006/main">
              <a:ext uri="{FF2B5EF4-FFF2-40B4-BE49-F238E27FC236}">
                <a16:creationId xmlns:a16="http://schemas.microsoft.com/office/drawing/2014/main" id="{11FCD5FF-B50C-46FA-AA85-582070F4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46c340ec002945c6"/>
              </a:rPr>
              <a:t>yoxi 題目與資料資源</a:t>
            </a:r>
          </a:p>
        </p:txBody>
      </p:sp>
      <p:sp>
        <p:nvSpPr>
          <p:cNvPr id="4" name="官方 FAQ 與繳件規定">
            <a:extLst xmlns:a="http://schemas.openxmlformats.org/drawingml/2006/main">
              <a:ext uri="{FF2B5EF4-FFF2-40B4-BE49-F238E27FC236}">
                <a16:creationId xmlns:a16="http://schemas.microsoft.com/office/drawing/2014/main" id="{DD837785-B8B5-4B72-AC94-42220427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5b7cc7b726364418"/>
              </a:rPr>
              <a:t>官方 FAQ 與繳件規定</a:t>
            </a:r>
          </a:p>
        </p:txBody>
      </p:sp>
      <p:sp>
        <p:nvSpPr>
          <p:cNvPr id="5" name="模板">
            <a:extLst xmlns:a="http://schemas.openxmlformats.org/drawingml/2006/main">
              <a:ext uri="{FF2B5EF4-FFF2-40B4-BE49-F238E27FC236}">
                <a16:creationId xmlns:a16="http://schemas.microsoft.com/office/drawing/2014/main" id="{EE9EFC05-19A0-4D5E-9AD5-3519E935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一頁七欄摘要，正文至多 15 頁。</a:t>
            </a:r>
          </a:p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附錄另列，正式繳交 PDF。</a:t>
            </a:r>
          </a:p>
        </p:txBody>
      </p:sp>
      <p:sp>
        <p:nvSpPr>
          <p:cNvPr id="6" name="官方模板入口">
            <a:extLst xmlns:a="http://schemas.openxmlformats.org/drawingml/2006/main">
              <a:ext uri="{FF2B5EF4-FFF2-40B4-BE49-F238E27FC236}">
                <a16:creationId xmlns:a16="http://schemas.microsoft.com/office/drawing/2014/main" id="{00D71D9E-D7B7-437B-92A2-E40B77DB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原始模板保存在團隊資料網站。</a:t>
            </a:r>
          </a:p>
        </p:txBody>
      </p:sp>
      <p:sp>
        <p:nvSpPr>
          <p:cNvPr id="7" name="團隊會議與官方資料">
            <a:extLst xmlns:a="http://schemas.openxmlformats.org/drawingml/2006/main">
              <a:ext uri="{FF2B5EF4-FFF2-40B4-BE49-F238E27FC236}">
                <a16:creationId xmlns:a16="http://schemas.microsoft.com/office/drawing/2014/main" id="{71ABDD4E-4A66-44C0-BA23-768C5AF4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625a21c077034759"/>
              </a:rPr>
              <a:t>團隊會議與官方資料</a:t>
            </a:r>
          </a:p>
        </p:txBody>
      </p:sp>
      <p:sp>
        <p:nvSpPr>
          <p:cNvPr id="8" name="地方">
            <a:extLst xmlns:a="http://schemas.openxmlformats.org/drawingml/2006/main">
              <a:ext uri="{FF2B5EF4-FFF2-40B4-BE49-F238E27FC236}">
                <a16:creationId xmlns:a16="http://schemas.microsoft.com/office/drawing/2014/main" id="{89081FA1-2431-4898-BA15-E5AEF79D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71600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地方內容</a:t>
            </a:r>
          </a:p>
        </p:txBody>
      </p:sp>
      <p:sp>
        <p:nvSpPr>
          <p:cNvPr id="9" name="藍晒圖文創園區：地點與參觀資訊">
            <a:extLst xmlns:a="http://schemas.openxmlformats.org/drawingml/2006/main">
              <a:ext uri="{FF2B5EF4-FFF2-40B4-BE49-F238E27FC236}">
                <a16:creationId xmlns:a16="http://schemas.microsoft.com/office/drawing/2014/main" id="{105A9CEF-7EDD-4BFB-9260-6DA47FB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3357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bb1b3af1d0944c07"/>
              </a:rPr>
              <a:t>藍晒圖文創園區：地點與參觀資訊</a:t>
            </a:r>
          </a:p>
        </p:txBody>
      </p:sp>
      <p:sp>
        <p:nvSpPr>
          <p:cNvPr id="10" name="藍晒圖公共藝術：創作沿革">
            <a:extLst xmlns:a="http://schemas.openxmlformats.org/drawingml/2006/main">
              <a:ext uri="{FF2B5EF4-FFF2-40B4-BE49-F238E27FC236}">
                <a16:creationId xmlns:a16="http://schemas.microsoft.com/office/drawing/2014/main" id="{E12D9D33-4846-4248-9754-8978AFB5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0300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fa632cb8e6814109"/>
              </a:rPr>
              <a:t>藍晒圖公共藝術：創作沿革</a:t>
            </a:r>
          </a:p>
        </p:txBody>
      </p:sp>
      <p:sp>
        <p:nvSpPr>
          <p:cNvPr id="11" name="國立臺灣文學館：參觀資訊">
            <a:extLst xmlns:a="http://schemas.openxmlformats.org/drawingml/2006/main">
              <a:ext uri="{FF2B5EF4-FFF2-40B4-BE49-F238E27FC236}">
                <a16:creationId xmlns:a16="http://schemas.microsoft.com/office/drawing/2014/main" id="{5EB84210-0010-4F73-AEA3-AA6361DB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6702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1f975cedbd054199"/>
              </a:rPr>
              <a:t>國立臺灣文學館：參觀資訊</a:t>
            </a:r>
          </a:p>
        </p:txBody>
      </p:sp>
      <p:sp>
        <p:nvSpPr>
          <p:cNvPr id="12" name="國立臺灣文學館：館舍歷史">
            <a:extLst xmlns:a="http://schemas.openxmlformats.org/drawingml/2006/main">
              <a:ext uri="{FF2B5EF4-FFF2-40B4-BE49-F238E27FC236}">
                <a16:creationId xmlns:a16="http://schemas.microsoft.com/office/drawing/2014/main" id="{4BBEB9F2-7CE3-4503-8E93-349FE057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1ad7e30197cf4249"/>
              </a:rPr>
              <a:t>國立臺灣文學館：館舍歷史</a:t>
            </a:r>
          </a:p>
        </p:txBody>
      </p:sp>
      <p:sp>
        <p:nvSpPr>
          <p:cNvPr id="13" name="臺南國家美術館：票價資訊">
            <a:extLst xmlns:a="http://schemas.openxmlformats.org/drawingml/2006/main">
              <a:ext uri="{FF2B5EF4-FFF2-40B4-BE49-F238E27FC236}">
                <a16:creationId xmlns:a16="http://schemas.microsoft.com/office/drawing/2014/main" id="{268EA49B-A495-45CB-9967-8666676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0047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8719597d43fd4653"/>
              </a:rPr>
              <a:t>臺南國家美術館：票價資訊</a:t>
            </a:r>
          </a:p>
        </p:txBody>
      </p:sp>
      <p:sp>
        <p:nvSpPr>
          <p:cNvPr id="14" name="臺南國家美術館：開館時間">
            <a:extLst xmlns:a="http://schemas.openxmlformats.org/drawingml/2006/main">
              <a:ext uri="{FF2B5EF4-FFF2-40B4-BE49-F238E27FC236}">
                <a16:creationId xmlns:a16="http://schemas.microsoft.com/office/drawing/2014/main" id="{C24BA9A3-6426-489D-B6B3-09A279CA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67200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87539348ba0b4635"/>
              </a:rPr>
              <a:t>臺南國家美術館：開館時間</a:t>
            </a:r>
          </a:p>
        </p:txBody>
      </p:sp>
      <p:sp>
        <p:nvSpPr>
          <p:cNvPr id="15" name="資料範圍">
            <a:extLst xmlns:a="http://schemas.openxmlformats.org/drawingml/2006/main">
              <a:ext uri="{FF2B5EF4-FFF2-40B4-BE49-F238E27FC236}">
                <a16:creationId xmlns:a16="http://schemas.microsoft.com/office/drawing/2014/main" id="{FBCE0216-991A-4F96-92C8-440CC17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來源提供地方事實，活動安排與停留時間由本案設計。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來源照片不代表即時現況，當期展覽與店家營業須再確認。</a:t>
            </a:r>
          </a:p>
        </p:txBody>
      </p:sp>
      <p:sp>
        <p:nvSpPr>
          <p:cNvPr id="16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8A58FD84-D647-4DF6-9945-6DDFDC51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來源核對日：2026-10-11。連結可點選；細節與原始檔另存研究紀錄。</a:t>
            </a:r>
          </a:p>
        </p:txBody>
      </p:sp>
    </p:spTree>
    <p:extLst>
      <p:ext uri="{BB962C8B-B14F-4D97-AF65-F5344CB8AC3E}">
        <p14:creationId xmlns:p14="http://schemas.microsoft.com/office/powerpoint/2010/main" val="19367142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FF627F90-E51C-4283-96B7-F3B62C30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服務比較與雲端估價的依據</a:t>
            </a:r>
          </a:p>
        </p:txBody>
      </p:sp>
      <p:sp>
        <p:nvSpPr>
          <p:cNvPr id="2" name="比較">
            <a:extLst xmlns:a="http://schemas.openxmlformats.org/drawingml/2006/main">
              <a:ext uri="{FF2B5EF4-FFF2-40B4-BE49-F238E27FC236}">
                <a16:creationId xmlns:a16="http://schemas.microsoft.com/office/drawing/2014/main" id="{544C2FD0-6145-4E89-8EA2-E0F7544A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同類服務的官方功能說明</a:t>
            </a:r>
          </a:p>
        </p:txBody>
      </p:sp>
      <p:sp>
        <p:nvSpPr>
          <p:cNvPr id="3" name="Google Maps：Ask Maps">
            <a:extLst xmlns:a="http://schemas.openxmlformats.org/drawingml/2006/main">
              <a:ext uri="{FF2B5EF4-FFF2-40B4-BE49-F238E27FC236}">
                <a16:creationId xmlns:a16="http://schemas.microsoft.com/office/drawing/2014/main" id="{15E8CA3F-5AB3-4E36-8F9C-ADF31B01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738b412ac2a04995"/>
              </a:rPr>
              <a:t>Google Maps：Ask Maps</a:t>
            </a:r>
          </a:p>
        </p:txBody>
      </p:sp>
      <p:sp>
        <p:nvSpPr>
          <p:cNvPr id="4" name="Google Maps：在 Ask Maps 訂餐">
            <a:extLst xmlns:a="http://schemas.openxmlformats.org/drawingml/2006/main">
              <a:ext uri="{FF2B5EF4-FFF2-40B4-BE49-F238E27FC236}">
                <a16:creationId xmlns:a16="http://schemas.microsoft.com/office/drawing/2014/main" id="{9A515CC4-EDE1-465D-9DCB-6FE86213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298074f26b3142c2"/>
              </a:rPr>
              <a:t>Google Maps：在 Ask Maps 訂餐</a:t>
            </a:r>
          </a:p>
        </p:txBody>
      </p:sp>
      <p:sp>
        <p:nvSpPr>
          <p:cNvPr id="5" name="Meetup：尋找可參加的活動">
            <a:extLst xmlns:a="http://schemas.openxmlformats.org/drawingml/2006/main">
              <a:ext uri="{FF2B5EF4-FFF2-40B4-BE49-F238E27FC236}">
                <a16:creationId xmlns:a16="http://schemas.microsoft.com/office/drawing/2014/main" id="{38CA3010-3EC2-44B9-95B0-71748B6E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b1c89ea3eab74a50"/>
              </a:rPr>
              <a:t>Meetup：尋找可參加的活動</a:t>
            </a:r>
          </a:p>
        </p:txBody>
      </p:sp>
      <p:sp>
        <p:nvSpPr>
          <p:cNvPr id="6" name="Timeleft：預約活動">
            <a:extLst xmlns:a="http://schemas.openxmlformats.org/drawingml/2006/main">
              <a:ext uri="{FF2B5EF4-FFF2-40B4-BE49-F238E27FC236}">
                <a16:creationId xmlns:a16="http://schemas.microsoft.com/office/drawing/2014/main" id="{84669984-A47D-4E6B-82B3-4D97A0C0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389f6e7386964e9c"/>
              </a:rPr>
              <a:t>Timeleft：預約活動</a:t>
            </a:r>
          </a:p>
        </p:txBody>
      </p:sp>
      <p:sp>
        <p:nvSpPr>
          <p:cNvPr id="7" name="Pikmin Bloom：明信片">
            <a:extLst xmlns:a="http://schemas.openxmlformats.org/drawingml/2006/main">
              <a:ext uri="{FF2B5EF4-FFF2-40B4-BE49-F238E27FC236}">
                <a16:creationId xmlns:a16="http://schemas.microsoft.com/office/drawing/2014/main" id="{669FD78A-541B-441A-9C2F-D358B55D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8711778cfbd6498a"/>
              </a:rPr>
              <a:t>Pikmin Bloom：明信片</a:t>
            </a:r>
          </a:p>
        </p:txBody>
      </p:sp>
      <p:sp>
        <p:nvSpPr>
          <p:cNvPr id="8" name="Pikmin Bloom：地方活動">
            <a:extLst xmlns:a="http://schemas.openxmlformats.org/drawingml/2006/main">
              <a:ext uri="{FF2B5EF4-FFF2-40B4-BE49-F238E27FC236}">
                <a16:creationId xmlns:a16="http://schemas.microsoft.com/office/drawing/2014/main" id="{F039FF73-FD63-4F75-B97E-ACAB5E01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777bec0bd4114a6f"/>
              </a:rPr>
              <a:t>Pikmin Bloom：地方活動</a:t>
            </a:r>
          </a:p>
        </p:txBody>
      </p:sp>
      <p:sp>
        <p:nvSpPr>
          <p:cNvPr id="9" name="估價">
            <a:extLst xmlns:a="http://schemas.openxmlformats.org/drawingml/2006/main">
              <a:ext uri="{FF2B5EF4-FFF2-40B4-BE49-F238E27FC236}">
                <a16:creationId xmlns:a16="http://schemas.microsoft.com/office/drawing/2014/main" id="{B8EF7393-BE3F-4D07-8E0D-47A1BCC8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001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候選服務的價格</a:t>
            </a:r>
          </a:p>
        </p:txBody>
      </p:sp>
      <p:sp>
        <p:nvSpPr>
          <p:cNvPr id="10" name="OpenAI：API 費率">
            <a:extLst xmlns:a="http://schemas.openxmlformats.org/drawingml/2006/main">
              <a:ext uri="{FF2B5EF4-FFF2-40B4-BE49-F238E27FC236}">
                <a16:creationId xmlns:a16="http://schemas.microsoft.com/office/drawing/2014/main" id="{574310E3-E6AA-4413-A8EA-135779A7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9744a7a32ad84a61"/>
              </a:rPr>
              <a:t>OpenAI：API 費率</a:t>
            </a:r>
          </a:p>
        </p:txBody>
      </p:sp>
      <p:sp>
        <p:nvSpPr>
          <p:cNvPr id="11" name="Cloudflare：Workers 費率">
            <a:extLst xmlns:a="http://schemas.openxmlformats.org/drawingml/2006/main">
              <a:ext uri="{FF2B5EF4-FFF2-40B4-BE49-F238E27FC236}">
                <a16:creationId xmlns:a16="http://schemas.microsoft.com/office/drawing/2014/main" id="{042A9BD7-8BBB-45D8-96A4-73D6B6A7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42c56b1f2f6447f8"/>
              </a:rPr>
              <a:t>Cloudflare：Workers 費率</a:t>
            </a:r>
          </a:p>
        </p:txBody>
      </p:sp>
      <p:sp>
        <p:nvSpPr>
          <p:cNvPr id="12" name="Cloudflare：R2 費率">
            <a:extLst xmlns:a="http://schemas.openxmlformats.org/drawingml/2006/main">
              <a:ext uri="{FF2B5EF4-FFF2-40B4-BE49-F238E27FC236}">
                <a16:creationId xmlns:a16="http://schemas.microsoft.com/office/drawing/2014/main" id="{001E3B06-A695-4242-B6ED-22FC0E03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c41dd89b48854d28"/>
              </a:rPr>
              <a:t>Cloudflare：R2 費率</a:t>
            </a:r>
          </a:p>
        </p:txBody>
      </p:sp>
      <p:sp>
        <p:nvSpPr>
          <p:cNvPr id="13" name="Supabase：方案與用量">
            <a:extLst xmlns:a="http://schemas.openxmlformats.org/drawingml/2006/main">
              <a:ext uri="{FF2B5EF4-FFF2-40B4-BE49-F238E27FC236}">
                <a16:creationId xmlns:a16="http://schemas.microsoft.com/office/drawing/2014/main" id="{D1AA6348-7790-434A-B210-5586E331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766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c164609407db45f3"/>
              </a:rPr>
              <a:t>Supabase：方案與用量</a:t>
            </a:r>
          </a:p>
        </p:txBody>
      </p:sp>
      <p:sp>
        <p:nvSpPr>
          <p:cNvPr id="14" name="Resend：交易信費率">
            <a:extLst xmlns:a="http://schemas.openxmlformats.org/drawingml/2006/main">
              <a:ext uri="{FF2B5EF4-FFF2-40B4-BE49-F238E27FC236}">
                <a16:creationId xmlns:a16="http://schemas.microsoft.com/office/drawing/2014/main" id="{8EF3260B-B05C-432D-BFBE-895C350E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319a11eb5d5a4852"/>
              </a:rPr>
              <a:t>Resend：交易信費率</a:t>
            </a:r>
          </a:p>
        </p:txBody>
      </p:sp>
      <p:sp>
        <p:nvSpPr>
          <p:cNvPr id="15" name="Firebase：FCM 費率">
            <a:extLst xmlns:a="http://schemas.openxmlformats.org/drawingml/2006/main">
              <a:ext uri="{FF2B5EF4-FFF2-40B4-BE49-F238E27FC236}">
                <a16:creationId xmlns:a16="http://schemas.microsoft.com/office/drawing/2014/main" id="{364022ED-3F52-43FA-B98F-47692A8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291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ab5fec6e3237486f"/>
              </a:rPr>
              <a:t>Firebase：FCM 費率</a:t>
            </a:r>
          </a:p>
        </p:txBody>
      </p:sp>
      <p:sp>
        <p:nvSpPr>
          <p:cNvPr id="16" name="使用範圍">
            <a:extLst xmlns:a="http://schemas.openxmlformats.org/drawingml/2006/main">
              <a:ext uri="{FF2B5EF4-FFF2-40B4-BE49-F238E27FC236}">
                <a16:creationId xmlns:a16="http://schemas.microsoft.com/office/drawing/2014/main" id="{2F9EDDEB-DB65-42BD-8B68-1844124A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功能說明用於比較設計，不代表完成同需求實測。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雲端候選尚未正式採用；估價的用量與人力另列假設。</a:t>
            </a:r>
          </a:p>
        </p:txBody>
      </p:sp>
      <p:sp>
        <p:nvSpPr>
          <p:cNvPr id="17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3EC7BA5E-86D9-43E3-9527-6DEF2630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核對日：2026-10-11。各服務適用國家、方案、用量及超額條件，須依正式採用時版本確認。</a:t>
            </a:r>
          </a:p>
        </p:txBody>
      </p:sp>
    </p:spTree>
    <p:extLst>
      <p:ext uri="{BB962C8B-B14F-4D97-AF65-F5344CB8AC3E}">
        <p14:creationId xmlns:p14="http://schemas.microsoft.com/office/powerpoint/2010/main" val="12366119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附錄標題">
            <a:extLst xmlns:a="http://schemas.openxmlformats.org/drawingml/2006/main">
              <a:ext uri="{FF2B5EF4-FFF2-40B4-BE49-F238E27FC236}">
                <a16:creationId xmlns:a16="http://schemas.microsoft.com/office/drawing/2014/main" id="{86944235-574B-4195-932B-2B957B3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照片與產品畫面的來源</a:t>
            </a:r>
          </a:p>
        </p:txBody>
      </p:sp>
      <p:sp>
        <p:nvSpPr>
          <p:cNvPr id="2" name="國立臺灣文學館照片">
            <a:extLst xmlns:a="http://schemas.openxmlformats.org/drawingml/2006/main">
              <a:ext uri="{FF2B5EF4-FFF2-40B4-BE49-F238E27FC236}">
                <a16:creationId xmlns:a16="http://schemas.microsoft.com/office/drawing/2014/main" id="{16569061-F946-4E91-9802-63186AE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e6728d20b4844120"/>
              </a:rPr>
              <a:t>國立臺灣文學館照片</a:t>
            </a:r>
          </a:p>
        </p:txBody>
      </p:sp>
      <p:sp>
        <p:nvSpPr>
          <p:cNvPr id="3" name="文學館授權">
            <a:extLst xmlns:a="http://schemas.openxmlformats.org/drawingml/2006/main">
              <a:ext uri="{FF2B5EF4-FFF2-40B4-BE49-F238E27FC236}">
                <a16:creationId xmlns:a16="http://schemas.microsoft.com/office/drawing/2014/main" id="{0E813677-D34E-4309-9810-3A5C154D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Adece033090，2025。CC BY 4.0，依版面裁切。</a:t>
            </a:r>
          </a:p>
        </p:txBody>
      </p:sp>
      <p:sp>
        <p:nvSpPr>
          <p:cNvPr id="4" name="藍晒圖白天照片">
            <a:extLst xmlns:a="http://schemas.openxmlformats.org/drawingml/2006/main">
              <a:ext uri="{FF2B5EF4-FFF2-40B4-BE49-F238E27FC236}">
                <a16:creationId xmlns:a16="http://schemas.microsoft.com/office/drawing/2014/main" id="{3D9F4976-DB38-43EF-982C-BC0392A1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00c1a7c2057440fe"/>
              </a:rPr>
              <a:t>藍晒圖白天照片</a:t>
            </a:r>
          </a:p>
        </p:txBody>
      </p:sp>
      <p:sp>
        <p:nvSpPr>
          <p:cNvPr id="5" name="藍晒圖授權">
            <a:extLst xmlns:a="http://schemas.openxmlformats.org/drawingml/2006/main">
              <a:ext uri="{FF2B5EF4-FFF2-40B4-BE49-F238E27FC236}">
                <a16:creationId xmlns:a16="http://schemas.microsoft.com/office/drawing/2014/main" id="{F138C0BF-E89C-4FA8-8723-4BA7CDDB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Sinchen Lin，2016。CC BY 2.0，依版面裁切。</a:t>
            </a:r>
          </a:p>
        </p:txBody>
      </p:sp>
      <p:sp>
        <p:nvSpPr>
          <p:cNvPr id="6" name="台菜婚宴拼盤照片">
            <a:extLst xmlns:a="http://schemas.openxmlformats.org/drawingml/2006/main">
              <a:ext uri="{FF2B5EF4-FFF2-40B4-BE49-F238E27FC236}">
                <a16:creationId xmlns:a16="http://schemas.microsoft.com/office/drawing/2014/main" id="{D7A4D261-0DDE-4AD8-97B9-9D9AC670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d4c4409c71e54f65"/>
              </a:rPr>
              <a:t>台菜婚宴拼盤照片</a:t>
            </a:r>
          </a:p>
        </p:txBody>
      </p:sp>
      <p:sp>
        <p:nvSpPr>
          <p:cNvPr id="7" name="餐照授權">
            <a:extLst xmlns:a="http://schemas.openxmlformats.org/drawingml/2006/main">
              <a:ext uri="{FF2B5EF4-FFF2-40B4-BE49-F238E27FC236}">
                <a16:creationId xmlns:a16="http://schemas.microsoft.com/office/drawing/2014/main" id="{EE487D84-8700-4419-B2BC-47791FA0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WikiLaurent，Currentlybiscuit 調整，2007。</a:t>
            </a:r>
          </a:p>
          <a:p xmlns:a="http://schemas.openxmlformats.org/drawingml/2006/main">
            <a:pPr algn="l">
              <a:def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CC BY-SA 3.0，依版面裁切；照片裁切版沿用相同授權。</a:t>
            </a:r>
          </a:p>
        </p:txBody>
      </p:sp>
      <p:sp>
        <p:nvSpPr>
          <p:cNvPr id="8" name="自製畫面">
            <a:extLst xmlns:a="http://schemas.openxmlformats.org/drawingml/2006/main">
              <a:ext uri="{FF2B5EF4-FFF2-40B4-BE49-F238E27FC236}">
                <a16:creationId xmlns:a16="http://schemas.microsoft.com/office/drawing/2014/main" id="{35B6875E-5966-4EEF-8CA8-D5BE2CE6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城市介面、3D 場景、旅伴與小物為本案製作。</a:t>
            </a:r>
          </a:p>
          <a:p xmlns:a="http://schemas.openxmlformats.org/drawingml/2006/main">
            <a:pPr algn="l">
              <a:def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B2345"/>
                </a:solidFill>
                <a:latin typeface="PingFang TC"/>
                <a:ea typeface="PingFang TC"/>
                <a:cs typeface="PingFang TC"/>
              </a:rPr>
              <a:t>投影片使用實際操作畫面與保存的紀念卡；雨後書店為虛擬場景。</a:t>
            </a:r>
          </a:p>
        </p:txBody>
      </p:sp>
      <p:sp>
        <p:nvSpPr>
          <p:cNvPr id="9" name="CC BY 4.0">
            <a:extLst xmlns:a="http://schemas.openxmlformats.org/drawingml/2006/main">
              <a:ext uri="{FF2B5EF4-FFF2-40B4-BE49-F238E27FC236}">
                <a16:creationId xmlns:a16="http://schemas.microsoft.com/office/drawing/2014/main" id="{93B164F8-52B6-4851-8F64-543B333D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5f4bcee380ff41bc"/>
              </a:rPr>
              <a:t>CC BY 4.0</a:t>
            </a:r>
          </a:p>
        </p:txBody>
      </p:sp>
      <p:sp>
        <p:nvSpPr>
          <p:cNvPr id="10" name="CC BY 2.0">
            <a:extLst xmlns:a="http://schemas.openxmlformats.org/drawingml/2006/main">
              <a:ext uri="{FF2B5EF4-FFF2-40B4-BE49-F238E27FC236}">
                <a16:creationId xmlns:a16="http://schemas.microsoft.com/office/drawing/2014/main" id="{930E5359-D909-4D63-B91A-EA789067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0388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d560561c006b42cc"/>
              </a:rPr>
              <a:t>CC BY 2.0</a:t>
            </a:r>
          </a:p>
        </p:txBody>
      </p:sp>
      <p:sp>
        <p:nvSpPr>
          <p:cNvPr id="11" name="CC BY-SA 3.0">
            <a:extLst xmlns:a="http://schemas.openxmlformats.org/drawingml/2006/main">
              <a:ext uri="{FF2B5EF4-FFF2-40B4-BE49-F238E27FC236}">
                <a16:creationId xmlns:a16="http://schemas.microsoft.com/office/drawing/2014/main" id="{7EFE1B23-B46F-4B11-AF1D-81EDE6E1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388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25C8C"/>
                </a:solidFill>
                <a:latin typeface="PingFang TC"/>
                <a:ea typeface="PingFang TC"/>
                <a:cs typeface="PingFang TC"/>
              </a:defRPr>
            </a:pPr>
            <a:r>
              <a:rPr u="sng">
                <a:hlinkClick xmlns:r="http://schemas.openxmlformats.org/officeDocument/2006/relationships" r:id="R27c719aa4e9b42da"/>
              </a:rPr>
              <a:t>CC BY-SA 3.0</a:t>
            </a:r>
          </a:p>
        </p:txBody>
      </p:sp>
      <p:sp>
        <p:nvSpPr>
          <p:cNvPr id="12" name="範圍與對照">
            <a:extLst xmlns:a="http://schemas.openxmlformats.org/drawingml/2006/main">
              <a:ext uri="{FF2B5EF4-FFF2-40B4-BE49-F238E27FC236}">
                <a16:creationId xmlns:a16="http://schemas.microsoft.com/office/drawing/2014/main" id="{DBE9FA3D-B35B-461E-9506-C089A1C6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386"/>
                </a:solidFill>
                <a:latin typeface="PingFang TC"/>
                <a:ea typeface="PingFang TC"/>
                <a:cs typeface="PingFang TC"/>
              </a:rPr>
              <a:t>yoxi 標誌來自官方網站，用於本次企業挑戰提案；不表示獲得正式產品或商業授權。</a:t>
            </a:r>
          </a:p>
        </p:txBody>
      </p:sp>
    </p:spTree>
    <p:extLst>
      <p:ext uri="{BB962C8B-B14F-4D97-AF65-F5344CB8AC3E}">
        <p14:creationId xmlns:p14="http://schemas.microsoft.com/office/powerpoint/2010/main" val="1838127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2026-10-11T14:12:29.5120000Z</dcterms:created>
  <dcterms:modified xsi:type="dcterms:W3CDTF">2026-10-11T14:12:29.5120000Z</dcterms:modified>
</coreProperties>
</file>
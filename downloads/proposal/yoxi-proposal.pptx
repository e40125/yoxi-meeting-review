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67f0f5c804349" /><Relationship Type="http://schemas.openxmlformats.org/officeDocument/2006/relationships/extended-properties" Target="/docProps/app.xml" Id="R08d61892f2974d2e" /><Relationship Type="http://schemas.openxmlformats.org/officeDocument/2006/relationships/officeDocument" Target="/ppt/presentation.xml" Id="R71cfd57d5267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ac604c20f4482"/>
  </p:sldMasterIdLst>
  <p:notesMasterIdLst>
    <p:notesMasterId xmlns:r="http://schemas.openxmlformats.org/officeDocument/2006/relationships" r:id="Rebe8c558e1e04c09"/>
  </p:notesMasterIdLst>
  <p:sldIdLst>
    <p:sldId xmlns:r="http://schemas.openxmlformats.org/officeDocument/2006/relationships" id="256" r:id="R8c06709f28574083"/>
    <p:sldId xmlns:r="http://schemas.openxmlformats.org/officeDocument/2006/relationships" id="257" r:id="R7066d35b8de645df"/>
    <p:sldId xmlns:r="http://schemas.openxmlformats.org/officeDocument/2006/relationships" id="258" r:id="Re47b2fdff2ad47c5"/>
    <p:sldId xmlns:r="http://schemas.openxmlformats.org/officeDocument/2006/relationships" id="259" r:id="R22bd22ead6d247a0"/>
    <p:sldId xmlns:r="http://schemas.openxmlformats.org/officeDocument/2006/relationships" id="260" r:id="R527cb986fbdc463f"/>
    <p:sldId xmlns:r="http://schemas.openxmlformats.org/officeDocument/2006/relationships" id="261" r:id="R9c7709fd1b0f47ad"/>
    <p:sldId xmlns:r="http://schemas.openxmlformats.org/officeDocument/2006/relationships" id="262" r:id="Ra4b3dd2daea048c3"/>
    <p:sldId xmlns:r="http://schemas.openxmlformats.org/officeDocument/2006/relationships" id="263" r:id="R1655262447f34995"/>
    <p:sldId xmlns:r="http://schemas.openxmlformats.org/officeDocument/2006/relationships" id="264" r:id="R3c4c21dc1d75480f"/>
    <p:sldId xmlns:r="http://schemas.openxmlformats.org/officeDocument/2006/relationships" id="265" r:id="R86979cfce8fc4f6d"/>
    <p:sldId xmlns:r="http://schemas.openxmlformats.org/officeDocument/2006/relationships" id="266" r:id="R7364f11ccdec4221"/>
    <p:sldId xmlns:r="http://schemas.openxmlformats.org/officeDocument/2006/relationships" id="267" r:id="R82a3dec7e8d34a4d"/>
    <p:sldId xmlns:r="http://schemas.openxmlformats.org/officeDocument/2006/relationships" id="268" r:id="R3ba9c44e5e7242c5"/>
    <p:sldId xmlns:r="http://schemas.openxmlformats.org/officeDocument/2006/relationships" id="269" r:id="Rf47529c946614485"/>
    <p:sldId xmlns:r="http://schemas.openxmlformats.org/officeDocument/2006/relationships" id="270" r:id="Rb5bced7657c64187"/>
    <p:sldId xmlns:r="http://schemas.openxmlformats.org/officeDocument/2006/relationships" id="271" r:id="R6703d4ddcf964492"/>
    <p:sldId xmlns:r="http://schemas.openxmlformats.org/officeDocument/2006/relationships" id="272" r:id="Ra155544af6874b6e"/>
    <p:sldId xmlns:r="http://schemas.openxmlformats.org/officeDocument/2006/relationships" id="273" r:id="Rd1995271b9fa485d"/>
    <p:sldId xmlns:r="http://schemas.openxmlformats.org/officeDocument/2006/relationships" id="274" r:id="R61858a9713104a43"/>
    <p:sldId xmlns:r="http://schemas.openxmlformats.org/officeDocument/2006/relationships" id="275" r:id="Ra31b57265895401b"/>
    <p:sldId xmlns:r="http://schemas.openxmlformats.org/officeDocument/2006/relationships" id="276" r:id="Re95364e0cacf4b76"/>
    <p:sldId xmlns:r="http://schemas.openxmlformats.org/officeDocument/2006/relationships" id="277" r:id="R49887bf871544056"/>
    <p:sldId xmlns:r="http://schemas.openxmlformats.org/officeDocument/2006/relationships" id="278" r:id="Rd22de36e32bc4891"/>
    <p:sldId xmlns:r="http://schemas.openxmlformats.org/officeDocument/2006/relationships" id="279" r:id="R489e63376ffa4068"/>
    <p:sldId xmlns:r="http://schemas.openxmlformats.org/officeDocument/2006/relationships" id="280" r:id="R108a3c423cf94a7c"/>
    <p:sldId xmlns:r="http://schemas.openxmlformats.org/officeDocument/2006/relationships" id="281" r:id="Rce2f32a936f149c7"/>
    <p:sldId xmlns:r="http://schemas.openxmlformats.org/officeDocument/2006/relationships" id="282" r:id="Rfcb92283fe3e4f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e06b76500b42d2" /><Relationship Type="http://schemas.openxmlformats.org/officeDocument/2006/relationships/slideMaster" Target="/ppt/slideMasters/slideMaster1.xml" Id="Rec4ac604c20f4482" /><Relationship Type="http://schemas.openxmlformats.org/officeDocument/2006/relationships/notesMaster" Target="/ppt/notesMasters/notesMaster1.xml" Id="Rebe8c558e1e04c09" /><Relationship Type="http://schemas.openxmlformats.org/officeDocument/2006/relationships/presProps" Target="/ppt/presProps.xml" Id="R9500c9e113bc46c4" /><Relationship Type="http://schemas.openxmlformats.org/officeDocument/2006/relationships/tableStyles" Target="/ppt/tableStyles.xml" Id="Rb389265b9a9745be" /><Relationship Type="http://schemas.openxmlformats.org/officeDocument/2006/relationships/slide" Target="/ppt/slides/slide1.xml" Id="R8c06709f28574083" /><Relationship Type="http://schemas.openxmlformats.org/officeDocument/2006/relationships/slide" Target="/ppt/slides/slide2.xml" Id="R7066d35b8de645df" /><Relationship Type="http://schemas.openxmlformats.org/officeDocument/2006/relationships/slide" Target="/ppt/slides/slide3.xml" Id="Re47b2fdff2ad47c5" /><Relationship Type="http://schemas.openxmlformats.org/officeDocument/2006/relationships/slide" Target="/ppt/slides/slide4.xml" Id="R22bd22ead6d247a0" /><Relationship Type="http://schemas.openxmlformats.org/officeDocument/2006/relationships/slide" Target="/ppt/slides/slide5.xml" Id="R527cb986fbdc463f" /><Relationship Type="http://schemas.openxmlformats.org/officeDocument/2006/relationships/slide" Target="/ppt/slides/slide6.xml" Id="R9c7709fd1b0f47ad" /><Relationship Type="http://schemas.openxmlformats.org/officeDocument/2006/relationships/slide" Target="/ppt/slides/slide7.xml" Id="Ra4b3dd2daea048c3" /><Relationship Type="http://schemas.openxmlformats.org/officeDocument/2006/relationships/slide" Target="/ppt/slides/slide8.xml" Id="R1655262447f34995" /><Relationship Type="http://schemas.openxmlformats.org/officeDocument/2006/relationships/slide" Target="/ppt/slides/slide9.xml" Id="R3c4c21dc1d75480f" /><Relationship Type="http://schemas.openxmlformats.org/officeDocument/2006/relationships/slide" Target="/ppt/slides/slide10.xml" Id="R86979cfce8fc4f6d" /><Relationship Type="http://schemas.openxmlformats.org/officeDocument/2006/relationships/slide" Target="/ppt/slides/slide11.xml" Id="R7364f11ccdec4221" /><Relationship Type="http://schemas.openxmlformats.org/officeDocument/2006/relationships/slide" Target="/ppt/slides/slide12.xml" Id="R82a3dec7e8d34a4d" /><Relationship Type="http://schemas.openxmlformats.org/officeDocument/2006/relationships/slide" Target="/ppt/slides/slide13.xml" Id="R3ba9c44e5e7242c5" /><Relationship Type="http://schemas.openxmlformats.org/officeDocument/2006/relationships/slide" Target="/ppt/slides/slide14.xml" Id="Rf47529c946614485" /><Relationship Type="http://schemas.openxmlformats.org/officeDocument/2006/relationships/slide" Target="/ppt/slides/slide15.xml" Id="Rb5bced7657c64187" /><Relationship Type="http://schemas.openxmlformats.org/officeDocument/2006/relationships/slide" Target="/ppt/slides/slide16.xml" Id="R6703d4ddcf964492" /><Relationship Type="http://schemas.openxmlformats.org/officeDocument/2006/relationships/slide" Target="/ppt/slides/slide17.xml" Id="Ra155544af6874b6e" /><Relationship Type="http://schemas.openxmlformats.org/officeDocument/2006/relationships/slide" Target="/ppt/slides/slide18.xml" Id="Rd1995271b9fa485d" /><Relationship Type="http://schemas.openxmlformats.org/officeDocument/2006/relationships/slide" Target="/ppt/slides/slide19.xml" Id="R61858a9713104a43" /><Relationship Type="http://schemas.openxmlformats.org/officeDocument/2006/relationships/slide" Target="/ppt/slides/slide20.xml" Id="Ra31b57265895401b" /><Relationship Type="http://schemas.openxmlformats.org/officeDocument/2006/relationships/slide" Target="/ppt/slides/slide21.xml" Id="Re95364e0cacf4b76" /><Relationship Type="http://schemas.openxmlformats.org/officeDocument/2006/relationships/slide" Target="/ppt/slides/slide22.xml" Id="R49887bf871544056" /><Relationship Type="http://schemas.openxmlformats.org/officeDocument/2006/relationships/slide" Target="/ppt/slides/slide23.xml" Id="Rd22de36e32bc4891" /><Relationship Type="http://schemas.openxmlformats.org/officeDocument/2006/relationships/slide" Target="/ppt/slides/slide24.xml" Id="R489e63376ffa4068" /><Relationship Type="http://schemas.openxmlformats.org/officeDocument/2006/relationships/slide" Target="/ppt/slides/slide25.xml" Id="R108a3c423cf94a7c" /><Relationship Type="http://schemas.openxmlformats.org/officeDocument/2006/relationships/slide" Target="/ppt/slides/slide26.xml" Id="Rce2f32a936f149c7" /><Relationship Type="http://schemas.openxmlformats.org/officeDocument/2006/relationships/slide" Target="/ppt/slides/slide27.xml" Id="Rfcb92283fe3e4f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4b873eee5c42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55c7f8a914499" /><Relationship Type="http://schemas.openxmlformats.org/officeDocument/2006/relationships/notesMaster" Target="/ppt/notesMasters/notesMaster1.xml" Id="R94085000d1c74c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bfd7cd1a674d66" /><Relationship Type="http://schemas.openxmlformats.org/officeDocument/2006/relationships/notesMaster" Target="/ppt/notesMasters/notesMaster1.xml" Id="R7a47fba9095446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92237d63a94c4a" /><Relationship Type="http://schemas.openxmlformats.org/officeDocument/2006/relationships/notesMaster" Target="/ppt/notesMasters/notesMaster1.xml" Id="R95ebdd10e9ee4d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825436f7c4cc0" /><Relationship Type="http://schemas.openxmlformats.org/officeDocument/2006/relationships/notesMaster" Target="/ppt/notesMasters/notesMaster1.xml" Id="Rb5c7c197d79e43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b26b2151b14c04" /><Relationship Type="http://schemas.openxmlformats.org/officeDocument/2006/relationships/notesMaster" Target="/ppt/notesMasters/notesMaster1.xml" Id="R77faf231493948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4accfdc8384fb2" /><Relationship Type="http://schemas.openxmlformats.org/officeDocument/2006/relationships/notesMaster" Target="/ppt/notesMasters/notesMaster1.xml" Id="Redc434f5035a4b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772fea7b1b4adc" /><Relationship Type="http://schemas.openxmlformats.org/officeDocument/2006/relationships/notesMaster" Target="/ppt/notesMasters/notesMaster1.xml" Id="R3f139c63aebe4b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f2f23f18394335" /><Relationship Type="http://schemas.openxmlformats.org/officeDocument/2006/relationships/notesMaster" Target="/ppt/notesMasters/notesMaster1.xml" Id="Re3616f037cab4e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06adc56c4e4c90" /><Relationship Type="http://schemas.openxmlformats.org/officeDocument/2006/relationships/notesMaster" Target="/ppt/notesMasters/notesMaster1.xml" Id="R1e16503011954f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d40a7f31ce40bd" /><Relationship Type="http://schemas.openxmlformats.org/officeDocument/2006/relationships/notesMaster" Target="/ppt/notesMasters/notesMaster1.xml" Id="R584f103278694d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7d64d867204737" /><Relationship Type="http://schemas.openxmlformats.org/officeDocument/2006/relationships/notesMaster" Target="/ppt/notesMasters/notesMaster1.xml" Id="R1994a5a9dc1f41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fc40beb22f4b68" /><Relationship Type="http://schemas.openxmlformats.org/officeDocument/2006/relationships/notesMaster" Target="/ppt/notesMasters/notesMaster1.xml" Id="R94918759140346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b334ab3df246ef" /><Relationship Type="http://schemas.openxmlformats.org/officeDocument/2006/relationships/notesMaster" Target="/ppt/notesMasters/notesMaster1.xml" Id="R17f7d10e26d943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6c64c4686447d1" /><Relationship Type="http://schemas.openxmlformats.org/officeDocument/2006/relationships/notesMaster" Target="/ppt/notesMasters/notesMaster1.xml" Id="R1383cb3b67124e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0bbfa353b04a3a" /><Relationship Type="http://schemas.openxmlformats.org/officeDocument/2006/relationships/notesMaster" Target="/ppt/notesMasters/notesMaster1.xml" Id="R91554699280444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8ffbba4cb6413a" /><Relationship Type="http://schemas.openxmlformats.org/officeDocument/2006/relationships/notesMaster" Target="/ppt/notesMasters/notesMaster1.xml" Id="Ra309c994684b49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382ed1ea35486f" /><Relationship Type="http://schemas.openxmlformats.org/officeDocument/2006/relationships/notesMaster" Target="/ppt/notesMasters/notesMaster1.xml" Id="Rcf83fbc58dbf46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f317d154334765" /><Relationship Type="http://schemas.openxmlformats.org/officeDocument/2006/relationships/notesMaster" Target="/ppt/notesMasters/notesMaster1.xml" Id="Rc9150fefc50a4a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6b6d1e5a5d4dc7" /><Relationship Type="http://schemas.openxmlformats.org/officeDocument/2006/relationships/notesMaster" Target="/ppt/notesMasters/notesMaster1.xml" Id="Re7cc24ae714242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61cb4d8fab4edd" /><Relationship Type="http://schemas.openxmlformats.org/officeDocument/2006/relationships/notesMaster" Target="/ppt/notesMasters/notesMaster1.xml" Id="R8e2db3e8593142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da9e66352142f4" /><Relationship Type="http://schemas.openxmlformats.org/officeDocument/2006/relationships/notesMaster" Target="/ppt/notesMasters/notesMaster1.xml" Id="R2a3bd878e83245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ee44636b3042d8" /><Relationship Type="http://schemas.openxmlformats.org/officeDocument/2006/relationships/notesMaster" Target="/ppt/notesMasters/notesMaster1.xml" Id="Rac87702f2b28408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c0313ae4e7402d" /><Relationship Type="http://schemas.openxmlformats.org/officeDocument/2006/relationships/notesMaster" Target="/ppt/notesMasters/notesMaster1.xml" Id="Rc71dc30b287a43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4bb39d66e94423" /><Relationship Type="http://schemas.openxmlformats.org/officeDocument/2006/relationships/notesMaster" Target="/ppt/notesMasters/notesMaster1.xml" Id="R550f4e10b87c4d0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cca175b7aa41db" /><Relationship Type="http://schemas.openxmlformats.org/officeDocument/2006/relationships/notesMaster" Target="/ppt/notesMasters/notesMaster1.xml" Id="Rc875a97c8d264d7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4852970eadd48a1" /><Relationship Type="http://schemas.openxmlformats.org/officeDocument/2006/relationships/notesMaster" Target="/ppt/notesMasters/notesMaster1.xml" Id="R81b4f3d1c80844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925fab94aed4e33" /><Relationship Type="http://schemas.openxmlformats.org/officeDocument/2006/relationships/notesMaster" Target="/ppt/notesMasters/notesMaster1.xml" Id="Rc7147d9b228e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依官方模板保留七個欄位及原順序。正式繳件前補團隊名稱與實際採用工具。這是建議方案，尚未實作或完成團隊逐項確認。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官方初賽簡報模板.pptx，摘要頁</a:t>
            </a:r>
          </a:p>
          <a:p xmlns:a="http://schemas.openxmlformats.org/drawingml/2006/main">
            <a:r>
              <a:t>簡報規劃與逐頁安排.txt，官方摘要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xi可以在還沒決定出門時就提供幫助。看到喜歡的照片，可以找相關的新去處，知道到了能做什麼。想吃合菜，可以先找願意一起的人。今天不出門，也能玩城市觀察遊戲，把發現收進主題收藏，替寵物選造型，慢慢增加動作與表情。這些用途可以各自開始，願意接著探索時，已確認的興趣和自己的紀錄可以繼續使用。決定出門後，再沿用地點、時間與同行安排選交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簡報規劃與逐頁安排.txt，第1頁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題目希望讓人在不搭車時也會打開yoxi。我們從團隊談過的這三種需要開始，它們可能出現在同一個人的不同日子。探索要把喜歡的照片細節變成可選的去處；找伴要把意願與時間、預算變成可參加的活動；遊戲則要讓人這次看懂一個地方，下次還有新的線索可玩。首批地區依內容和活動能否持續核對選擇，尚未定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簡報規劃與逐頁安排.txt，第2頁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藏讓我們之後找得回來，推薦則往前多做一步：說明這個地方符合照片中的哪個細節，以及到了可以做什麼。本人確認喜歡線條與空間感後，藍晒圖可以拍白線和立體結構，美術館則能拍空間層次、配合想看的展。選定後，規劃會依時間和花費調整內容，例如從一小時縮成25分鐘，就保留最想拍的一組，取消第二組拍攝與逛店，再確認抵達和離開安排。現場導覽也沿著同一個興趣，提示換角度觀察線條的變化。沒有貼文時，可以直接輸入想做的事，或先比較幾種體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簡報規劃與逐頁安排.txt，第3頁</a:t>
            </a:r>
          </a:p>
          <a:p xmlns:a="http://schemas.openxmlformats.org/drawingml/2006/main">
            <a:r>
              <a:t>提案推薦稿.txt</a:t>
            </a:r>
          </a:p>
          <a:p xmlns:a="http://schemas.openxmlformats.org/drawingml/2006/main">
            <a:r>
              <a:t>https://www.twtainan.net/zh-tw/attractions/detail/740/</a:t>
            </a:r>
          </a:p>
          <a:p xmlns:a="http://schemas.openxmlformats.org/drawingml/2006/main">
            <a:r>
              <a:t>https://www.twtainan.net/zh-tw/attractions/detail/5533/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菜讓人吃到一個人不好點的菜，也提供認識同好的場合。人和地點都還沒決定，可以從想做的事、時段和預算開始；已有收藏或看到活動，也能從那裡找邀約。系統提出的活動建議，和真正有人發起的邀約會分開顯示。沒有適合的團，就由本人決定是否發起。已發起的邀約再說清正在徵人，或是否達到成團條件。餐飲、活動與交通費分列；有真實多人方案時，才比較每人的負擔與優惠。收藏或表示有興趣都不等於確認參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簡報規劃與逐頁安排.txt，第4頁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一小段白線，再從幾張街景中找出對應的地方。需要提示時，可以留意線條是否跨到立體結構，選完再看揭曉，對照自己注意到或漏看的細節。答錯時指出不一致之處，讓玩家再試、看答案或換題。這次認識的地點、線索和答案會留下發現卡，親自到訪後還能加入自己的照片。首次完成可選入門物件，主題完成再選新造型，並非每題都發配件。完成後可以接著玩同主題的新題，也能換另一個主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簡報規劃與逐頁安排.txt，第5頁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本一個人因為喜歡線條和空間，想去藍晒圖拍白線。朋友加入後希望看展，候選就會同時考慮雙方興趣、共同時段和花費。美術館的空間層次保留原本的攝影興趣，也能滿足朋友看展的意願。重要的改變是雙方到了都有自己想做的事，選定前仍要確認展覽開放、時間和費用。另一個例子是玩過藍晒圖題目後，親自去看同一個地方，再把自己的照片加入發現卡。線上完成與實際到訪分開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簡報規劃與逐頁安排.txt，第6頁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次除了有新內容，也應接得上自己已經投入的部分。例如街角觀察主題，這次比較空間線條，下次找招牌字形，不同發現會留在同一主題。玩家可以繼續自己選的主題，也能換美食或展覽。主題完成後可選新造型，寵物的經驗則逐步增加動作、表情與可搭配物件，兩種進度用途不同。取得配件後可以回看它來自哪次發現，親自到訪再把自己的照片加入那張卡。探索會接本人確認的喜好提供新去處，同好則可以在雙方願意時再約。首批估12題、每月增加8題，地方與活動也要持續核對。中斷後保留紀錄與進度，回來可以接著玩。這些是供給和成長設計，是否讓人願意回來，仍要實際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簡報規劃與逐頁安排.txt，第7頁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先把照片或自由描述中的細節整理成待確認的喜好，再從地方資料找出符合的內容。朋友加入時，也把對方想做的事放進共同安排。時間、花費、名額與路程由資料和規則核對；遇到衝突，就說明卡在哪裡，由本人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簡報規劃與逐頁安排.txt，第8頁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方內容與活動先由團隊整理。官方不含個人身分的熱點資料，待取得後可補充區域與移動趨勢，不能直接拿來推定個人喜好。本人確認的長期興趣和這次的預算、時段、朋友條件要分開。模型選型仍要比較本案的推薦品質、錯誤、延遲和成本。附錄列出配對、規劃、導覽與遊戲提示的候選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簡報規劃與逐頁安排.txt，第9頁</a:t>
            </a:r>
          </a:p>
          <a:p xmlns:a="http://schemas.openxmlformats.org/drawingml/2006/main">
            <a:r>
              <a:t>提案推薦稿.txt</a:t>
            </a:r>
          </a:p>
          <a:p xmlns:a="http://schemas.openxmlformats.org/drawingml/2006/main">
            <a:r>
              <a:t>https://ai.google.dev/gemini-api/docs/models/gemini-3.8-flash</a:t>
            </a:r>
          </a:p>
          <a:p xmlns:a="http://schemas.openxmlformats.org/drawingml/2006/main">
            <a:r>
              <a:t>https://ai.google.dev/gemini-api/docs/structured-output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對照使用同一批地方資料、相同時間與預算。分開安排時，兩人先各自挑地點，再核對攝影、看展與共同條件。本案希望沿用已確認的喜好，直接提出兼顧雙方的候選，讓人看見各自能得到什麼。需要實測的差別，是能否少重述條件、較容易選定合適安排。當次預算或朋友限制不會自動變成自己的長期偏好。地方素材、活動更新與本人回饋則是需要持續建立的基礎：一份核對過的內容可以用於推薦、遊戲和導覽。目前尚未證明相對優勢或難以複製；比較實際服務時，仍須保留同樣需求、相近資料與操作過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簡報規劃與逐頁安排.txt，第10頁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合菜邀約已選好餐廳、時間和參加者，就可以接著判斷怎麼去。同去一個活動不等於一定同車。交通服務可用時，比較路線、等候與各人的負擔，不預設多人一定便宜。店家提供可確認的時段、價格與名額，接觸正在考慮參加的人；後續再觀察實際到場和是否願意繼續合作。yoxi的角色從已有叫車需求往前延伸到出門計畫形成的過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簡報規劃與逐頁安排.txt，第11頁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負責人核對地方特色、照片和題目答案，活動負責人先確認時間、費用與名額，再建立邀約和招募。探索與遊戲可先獨立使用，同好由少量可確認的活動開始。題目須能辨認線索、理解揭曉，並有下一個可玩的主題。數量只是估算，實際準備要符合這些用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簡報規劃與逐頁安排.txt，第12頁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份估算包含產品雛型和列出的內容工作。手機分享仍是產品方向，正式分享擴充、叫車與付款介接、獎勵補貼及正式維護另外估。每月US$120–125對應表中的人數與呼叫量；圖片計費還沒拆清楚，需要用實際請求更新。排程從初賽後開始算：10月15日開工約有五週，10月28日後才開始則約三週，人力和範圍要跟著重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簡報規劃與逐頁安排.txt，第13頁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請未參與製作的人說出各柱好處，再比較相同需求下的實際結果。探索看推薦是否保留本人在意的細節，共同安排看是否照顧雙方，遊戲則要實際試玩提示、揭曉和後續主題。回訪記錄自然、通知後與獎勵相關情境，有重疊就保留，分類本身不能證明因果。活動和交通各自記錄，不把自己前往算作失敗。長期回訪與商業效果還需要更長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簡報規劃與逐頁安排.txt，第14頁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份提案希望讓yoxi在平日就有值得使用的內容。喜歡一個細節時，可以找到能親自試的體驗；想找伴時，可以找到願意一起的人，參加合菜或多人體驗；留在家裡，也能解開城市線索，收集喜歡的主題，讓寵物和自己的紀念逐漸增加。已確認的喜好和紀錄可以接到下一次。等到決定出門，目的地、時間和同行安排已經清楚，yoxi再接著提供交通選擇。讓yoxi從平日的探索開始參與，並接得上實際出發，是這三種用途共同要做到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簡報規劃與逐頁安排.txt，第15頁</a:t>
            </a:r>
          </a:p>
          <a:p xmlns:a="http://schemas.openxmlformats.org/drawingml/2006/main">
            <a:r>
              <a:t>提案推薦稿.txt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分享與輸入。一次分享一則貼文，可勾選其中多個地點。讀不到時改用文字、圖片、地名或地圖連結。第一版是否支援影片待確認。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想去收藏。保存想去的地點，查看新邀約，也可選擇附近提醒、跨城市搜尋或切換所在地。替代推薦保留原收藏；收藏不等於報名。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規劃與導覽。規劃核對時間、預算及路程，說明抵達、停留與離開安排。導覽依地方來源與本人好奇回答，保留照片和可選日記。</a:t>
            </a:r>
          </a:p>
          <a:p xmlns:a="http://schemas.openxmlformats.org/drawingml/2006/main">
            <a:r>
              <a:t>一團一目的地為首版限制。多景點旅遊另評估。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補充說明</a:t>
            </a:r>
          </a:p>
          <a:p xmlns:a="http://schemas.openxmlformats.org/drawingml/2006/main">
            <a:r>
              <a:t>手機分享時一次處理一則貼文，可勾選其中多個地點。讀不到內容時改用文字、圖片、地名或地圖連結，第一版是否支援影片仍待確認。</a:t>
            </a:r>
          </a:p>
          <a:p xmlns:a="http://schemas.openxmlformats.org/drawingml/2006/main">
            <a:r>
              <a:t>沒有貼文或不清楚喜好時，可直接說想做的事，或先比較少量體驗，不必先建立完整偏好。</a:t>
            </a:r>
          </a:p>
          <a:p xmlns:a="http://schemas.openxmlformats.org/drawingml/2006/main">
            <a:r>
              <a:t>跨城市搜尋、所在地切換、收藏地點的新邀約及可選附近提醒各有用途。附近排序與收藏排序仍是提議；替代推薦不覆蓋原收藏。收藏多個地點不等於首版多目的地旅遊。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簡報規劃與逐頁安排.txt，附錄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參加前。活動建議、已發起邀約、想去收藏、考慮中、確認參加與店家訂位分開。列日期、起訖時間、最低與最多人數、已確認與尚缺人數、截止時間。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費用與变動。餐飲、活動與交通費分列。優惠有真實條件才提供。人數、時間或費用改變，通知每人重新確認；退出不自動把差額轉給其他人。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未成團與退出。未達最低人數時，由本人選改期、換活動，或在允許時自己去。發起人退出後保留房間、多個候選同時成團、自動退出等規則仍待訂定。</a:t>
            </a:r>
          </a:p>
          <a:p xmlns:a="http://schemas.openxmlformats.org/drawingml/2006/main">
            <a:r>
              <a:t>聊天與我的行程支援協調；付款、取消與訂位依實際服務另訂。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補充說明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活動狀態</a:t>
            </a:r>
          </a:p>
          <a:p xmlns:a="http://schemas.openxmlformats.org/drawingml/2006/main">
            <a:r>
              <a:t>系統提出的活動建議尚未發起，已發起邀約則標示正在徵人及成團條件。個人的想去收藏、考慮中、確認參加和店家訂位分開。</a:t>
            </a:r>
          </a:p>
          <a:p xmlns:a="http://schemas.openxmlformats.org/drawingml/2006/main">
            <a:r>
              <a:t>邀約保留日期、起訖時間、最低與最多人數、已確認與尚缺人數、截止時間。活動與餐飲、交通費分列，真實多人優惠另說適用條件與每人負擔。</a:t>
            </a:r>
          </a:p>
          <a:p xmlns:a="http://schemas.openxmlformats.org/drawingml/2006/main">
            <a:r>
              <a:t>多個候選地點同時等人仍是原提議，同時成團及自動退出規則未定。多個候選地點不等於一團安排多個目的地。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變動與未成團</a:t>
            </a:r>
          </a:p>
          <a:p xmlns:a="http://schemas.openxmlformats.org/drawingml/2006/main">
            <a:r>
              <a:t>時間、人數、費用變動時通知其他人，由各人重新確認。退出不自動把差額轉給其他人。</a:t>
            </a:r>
          </a:p>
          <a:p xmlns:a="http://schemas.openxmlformats.org/drawingml/2006/main">
            <a:r>
              <a:t>未達最低人數時不算成團，可由本人決定改期、換活動，或在活動允許時自己去。原會議提議發起人退出後保留房間，其餘人重新決定，仍需完整產品規則。</a:t>
            </a:r>
          </a:p>
          <a:p xmlns:a="http://schemas.openxmlformats.org/drawingml/2006/main">
            <a:r>
              <a:t>部分人尚未回覆時顯示暫定，時間衝突提醒、不自行縮短已公告活動，列為產品規格待辦。聊天與我的行程支援協調，付款、取消與自動退出需依實際服務訂定。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交通與地圖</a:t>
            </a:r>
          </a:p>
          <a:p xmlns:a="http://schemas.openxmlformats.org/drawingml/2006/main">
            <a:r>
              <a:t>共同參加與同車分開。第一版一團一個目的地，可有不同上車點。</a:t>
            </a:r>
          </a:p>
          <a:p xmlns:a="http://schemas.openxmlformats.org/drawingml/2006/main">
            <a:r>
              <a:t>地圖協助看路線、接送範圍、等待與抵達安排，再比較交通總額與每人負擔。不保證同車一定更便宜，路程查詢也不等於完成叫車。</a:t>
            </a:r>
          </a:p>
          <a:p xmlns:a="http://schemas.openxmlformats.org/drawingml/2006/main">
            <a:r>
              <a:t>精確位置不對所有人公開，各角色可見範圍、匿名與同性別選項仍需訂規則。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分享與聯絡</a:t>
            </a:r>
          </a:p>
          <a:p xmlns:a="http://schemas.openxmlformats.org/drawingml/2006/main">
            <a:r>
              <a:t>收藏建議預設私密，公開興趣、分享紀念與通知由本人選擇。偏好可修改，紀錄可移除，共同安排只使用本人願意分享的資料。</a:t>
            </a:r>
          </a:p>
          <a:p xmlns:a="http://schemas.openxmlformats.org/drawingml/2006/main">
            <a:r>
              <a:t>封鎖、檢舉及聯絡界線保留為既有設計待辦，尚未形成已實作的安全保證。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簡報規劃與逐頁安排.txt，附錄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兩種進度。主題進度記相關發現的完成情況；個人經驗逐步增加寵物動作、表情與物件。完成主題可選造型，配件可回看來由，具體門檻待試玩。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答錯與再回來。可以再試、看解答或換題。看解答仍能保存地點，獨立解題另記；重玩不重領首次獎勵。中斷後保留進度，核心章節可補玩，限時合作另標。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延伸候選。步數、乘車里程、消費與車輛貼紙需授權及可核實資料。遊戲經驗、排名與可兌換點數分開，會員權益及優惠另確認提供者、成本與條件。</a:t>
            </a:r>
          </a:p>
          <a:p xmlns:a="http://schemas.openxmlformats.org/drawingml/2006/main">
            <a:r>
              <a:t>養成、里程及回饋均為機制建議，尚未實作或逐項定案。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補充說明</a:t>
            </a:r>
          </a:p>
          <a:p xmlns:a="http://schemas.openxmlformats.org/drawingml/2006/main">
            <a:r>
              <a:t>想去收藏保存未來想體驗的地方。發現卡記這次認識的地點、線索與答案，到訪後可加自己的照片。主題收藏則呈現相關發現與完成進度，線上完成與親自到訪分開。</a:t>
            </a:r>
          </a:p>
          <a:p xmlns:a="http://schemas.openxmlformats.org/drawingml/2006/main">
            <a:r>
              <a:t>首次完成可選入門物件，完成主題後選新造型。點開物件可回看取得它的發現。寵物隨遊玩與探索累積經驗，逐步增加動作、表情與可搭配物件。個人成長等級記錄個人累積，主題進度記錄相關發現的完成情況；具體門檻仍待試玩調整。</a:t>
            </a:r>
          </a:p>
          <a:p xmlns:a="http://schemas.openxmlformats.org/drawingml/2006/main">
            <a:r>
              <a:t>答錯時指出不一致的細節，讓玩家再試、看解答或換題。看解答仍能保存地點與線索，獨立解題成績另記；重玩不重領相同首次獎勵。中斷回來保留紀錄、物件與進度，核心章節可補玩，也能換主題；合作活動若有期限，另行標明。朋友共同紀念須經參與者同意，仍是尚未實作的延伸機制。</a:t>
            </a:r>
          </a:p>
          <a:p xmlns:a="http://schemas.openxmlformats.org/drawingml/2006/main">
            <a:r>
              <a:t>以上是推薦稿的機制建議，不表示每題都會發新配件，也不表示團隊已逐項定案。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其他成長與回饋候選</a:t>
            </a:r>
          </a:p>
          <a:p xmlns:a="http://schemas.openxmlformats.org/drawingml/2006/main">
            <a:r>
              <a:t>步數、已完成的乘車里程與消費，是取得授權與可核實資料後增加有上限遊戲進度的候選。首次仍可靠遊玩成長，資料不足不補算里程。展覽集章與車輛貼紙是蒐集候選，貼紙可用的識別資料與取得方式仍待確認。</a:t>
            </a:r>
          </a:p>
          <a:p xmlns:a="http://schemas.openxmlformats.org/drawingml/2006/main">
            <a:r>
              <a:t>寵物經驗、個人成長等級、競賽排名與可兌換點數分開。會員權益、優惠與其他可兌換回饋要確認提供者、數量、成本與適用條件；排行榜另訂評分規則，不填未確認券額，也不把付費消費直接當成排名分數。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簡報規劃與逐頁安排.txt，附錄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AI協助什麼。整理圖片細節，提出推薦、配對、規劃及導覽。遊戲可協助選題與提示；時間、費用、計分、發獎和解鎖另以資料與規則處理。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資料與服務候選。Gemini 3.8 Flash處理圖片及文字；Supabase保存地方、收藏、紀錄與邀約；Google Routes查路程。叫車、付款與共乘另介接。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本人選擇與權限。長期喜好和當次條件分開。可修改偏好、移除紀錄，選擇分享與通知。精確位置不對所有人公開，封鎖、檢舉及各角色權限仍需訂定。</a:t>
            </a:r>
          </a:p>
          <a:p xmlns:a="http://schemas.openxmlformats.org/drawingml/2006/main">
            <a:r>
              <a:t>去識別熱點資料可看區域趨勢，不代表個人喜好、即時名額或車資。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補充說明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Gemini 3.8 Flash是文字與圖片理解的模型候選，把候選地點、理由、來源與待確認條件分欄輸出。格式正確仍需再核對內容，實際選型要比較本案情境的結果、延遲與成本。</a:t>
            </a:r>
          </a:p>
          <a:p xmlns:a="http://schemas.openxmlformats.org/drawingml/2006/main">
            <a:r>
              <a:t>Supabase是儲存地方、想去收藏、遊戲紀錄與邀約資料的候選。用關聯資料管理同一地點的內容與狀態，權限和同步規則另設計。</a:t>
            </a:r>
          </a:p>
          <a:p xmlns:a="http://schemas.openxmlformats.org/drawingml/2006/main">
            <a:r>
              <a:t>Google Routes是路程查詢候選，交通時間由路線服務提供。叫車、支付與共乘仍需另外介接。</a:t>
            </a:r>
          </a:p>
          <a:p xmlns:a="http://schemas.openxmlformats.org/drawingml/2006/main">
            <a:r>
              <a:t>Gemini、Supabase與Google Routes是助理建議的原型組合，團隊尚未定案，也尚未實際介接。工具能力與費率沿用2026/10/10既有官方核對紀錄，正式選用及繳件前再查帳戶條件與更新。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候選AI用途</a:t>
            </a:r>
          </a:p>
          <a:p xmlns:a="http://schemas.openxmlformats.org/drawingml/2006/main">
            <a:r>
              <a:t>探索：從圖片或文字整理可能喜歡的細節，由本人確認，再從核對過的資料提出候選與理由。</a:t>
            </a:r>
          </a:p>
          <a:p xmlns:a="http://schemas.openxmlformats.org/drawingml/2006/main">
            <a:r>
              <a:t>共同安排與配對：根據本人願意分享的興趣、時段及參加意願，提出同行或活動選項。可參加條件、雙方意願及成團狀態由資料、規則與本人確認。</a:t>
            </a:r>
          </a:p>
          <a:p xmlns:a="http://schemas.openxmlformats.org/drawingml/2006/main">
            <a:r>
              <a:t>規劃：依時間和預算組合停留內容，交代抵達、停留、離開安排與花費。路程、開放時間、費用與名額另核對。第一版的一團一目的地限制保留。</a:t>
            </a:r>
          </a:p>
          <a:p xmlns:a="http://schemas.openxmlformats.org/drawingml/2006/main">
            <a:r>
              <a:t>現場導覽：依核對過的地方內容、本人問題與觀察位置回答。例如指出白線跨牆面與立體結構，提示換角度比較。沒有來源的故事不自行補寫。</a:t>
            </a:r>
          </a:p>
          <a:p xmlns:a="http://schemas.openxmlformats.org/drawingml/2006/main">
            <a:r>
              <a:t>遊戲：可依明確興趣從核對過的素材挑題或調整提示說法。是否採用及品質仍待試作，計分、發獎與解鎖規則不交給模型自由決定。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偏好與資料</a:t>
            </a:r>
          </a:p>
          <a:p xmlns:a="http://schemas.openxmlformats.org/drawingml/2006/main">
            <a:r>
              <a:t>本人確認的長期興趣，和當次預算、時段、同行者分開。本人可修改偏好、移除紀錄，選擇共同安排時分享什麼。</a:t>
            </a:r>
          </a:p>
          <a:p xmlns:a="http://schemas.openxmlformats.org/drawingml/2006/main">
            <a:r>
              <a:t>玩過、答錯、跳題、看答案或為獎勵而玩，不能直接判定喜歡或不喜歡。需要時再問本人是否想繼續。</a:t>
            </a:r>
          </a:p>
          <a:p xmlns:a="http://schemas.openxmlformats.org/drawingml/2006/main">
            <a:r>
              <a:t>官方不含個人身分的區域熱點資料，可協助判斷區域和移動趨勢，不當成個人偏好、即時名額或車資。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工具文件</a:t>
            </a:r>
          </a:p>
          <a:p xmlns:a="http://schemas.openxmlformats.org/drawingml/2006/main">
            <a:r>
              <a:t>模型：https://ai.google.dev/gemini-api/docs/models/gemini-3.8-flash</a:t>
            </a:r>
          </a:p>
          <a:p xmlns:a="http://schemas.openxmlformats.org/drawingml/2006/main">
            <a:r>
              <a:t>固定欄位：https://ai.google.dev/gemini-api/docs/structured-output</a:t>
            </a:r>
          </a:p>
          <a:p xmlns:a="http://schemas.openxmlformats.org/drawingml/2006/main">
            <a:r>
              <a:t>費率：https://ai.google.dev/gemini-api/docs/pricing</a:t>
            </a:r>
          </a:p>
          <a:p xmlns:a="http://schemas.openxmlformats.org/drawingml/2006/main">
            <a:r>
              <a:t>資料庫：https://supabase.com/pricing</a:t>
            </a:r>
          </a:p>
          <a:p xmlns:a="http://schemas.openxmlformats.org/drawingml/2006/main">
            <a:r>
              <a:t>路程：https://developers.google.com/maps/billing-and-pricing/pricing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簡報規劃與逐頁安排.txt，附錄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一次投入</a:t>
            </a:r>
          </a:p>
          <a:p xmlns:a="http://schemas.openxmlformats.org/drawingml/2006/main">
            <a:r>
              <a:t>開發240–360小時，每小時NT$800，為NT$192,000–288,000。</a:t>
            </a:r>
          </a:p>
          <a:p xmlns:a="http://schemas.openxmlformats.org/drawingml/2006/main">
            <a:r>
              <a:t>首批內容80小時，每小時NT$400，為NT$32,000。</a:t>
            </a:r>
          </a:p>
          <a:p xmlns:a="http://schemas.openxmlformats.org/drawingml/2006/main">
            <a:r>
              <a:t>素材預算NT$8,000。</a:t>
            </a:r>
          </a:p>
          <a:p xmlns:a="http://schemas.openxmlformats.org/drawingml/2006/main">
            <a:r>
              <a:t>合計NT$232,000–328,000。這些是規劃假設，非供應商報價。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首批內容80小時</a:t>
            </a:r>
          </a:p>
          <a:p xmlns:a="http://schemas.openxmlformats.org/drawingml/2006/main">
            <a:r>
              <a:t>30筆資料，每筆1小時。</a:t>
            </a:r>
          </a:p>
          <a:p xmlns:a="http://schemas.openxmlformats.org/drawingml/2006/main">
            <a:r>
              <a:t>12題，每題2小時。</a:t>
            </a:r>
          </a:p>
          <a:p xmlns:a="http://schemas.openxmlformats.org/drawingml/2006/main">
            <a:r>
              <a:t>3場試辦活動的準備與邀約，每場4小時。</a:t>
            </a:r>
          </a:p>
          <a:p xmlns:a="http://schemas.openxmlformats.org/drawingml/2006/main">
            <a:r>
              <a:t>素材審核14小時。</a:t>
            </a:r>
          </a:p>
          <a:p xmlns:a="http://schemas.openxmlformats.org/drawingml/2006/main">
            <a:r>
              <a:t>每場4小時是否包含主持仍需確認，未釐清前不把主持當成已估足。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每月內容32小時</a:t>
            </a:r>
          </a:p>
          <a:p xmlns:a="http://schemas.openxmlformats.org/drawingml/2006/main">
            <a:r>
              <a:t>8題，每題2小時，共16小時。</a:t>
            </a:r>
          </a:p>
          <a:p xmlns:a="http://schemas.openxmlformats.org/drawingml/2006/main">
            <a:r>
              <a:t>30筆資料核對，每筆10分鐘，共5小時。</a:t>
            </a:r>
          </a:p>
          <a:p xmlns:a="http://schemas.openxmlformats.org/drawingml/2006/main">
            <a:r>
              <a:t>2場活動，每場4小時，共8小時。</a:t>
            </a:r>
          </a:p>
          <a:p xmlns:a="http://schemas.openxmlformats.org/drawingml/2006/main">
            <a:r>
              <a:t>回覆處理3小時。</a:t>
            </a:r>
          </a:p>
          <a:p xmlns:a="http://schemas.openxmlformats.org/drawingml/2006/main">
            <a:r>
              <a:t>每小時NT$400，合計NT$12,800。適用這組內容與活動工作量，不代表所有規模的營運成本。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用量：100名月活躍使用者，每人每月100次呼叫，共10,000次。</a:t>
            </a:r>
          </a:p>
          <a:p xmlns:a="http://schemas.openxmlformats.org/drawingml/2006/main">
            <a:r>
              <a:t>每次：5,000輸入token、1,000含推理的輸出計費token。</a:t>
            </a:r>
          </a:p>
          <a:p xmlns:a="http://schemas.openxmlformats.org/drawingml/2006/main">
            <a:r>
              <a:t>沿用2026/10/10既有核價紀錄：Gemini 3.8 Flash標準付費至2026/12/31，每百萬輸入US$0.75、輸出US$3.75。依上述用量，模型費US$75。</a:t>
            </a:r>
          </a:p>
          <a:p xmlns:a="http://schemas.openxmlformats.org/drawingml/2006/main">
            <a:r>
              <a:t>資料庫US$25：以Supabase單一Pro/Micro、在方案額度內計。</a:t>
            </a:r>
          </a:p>
          <a:p xmlns:a="http://schemas.openxmlformats.org/drawingml/2006/main">
            <a:r>
              <a:t>網站與通知US$20：預留，未實測。</a:t>
            </a:r>
          </a:p>
          <a:p xmlns:a="http://schemas.openxmlformats.org/drawingml/2006/main">
            <a:r>
              <a:t>基本路程US$0–5：以1,000次Google Routes Essentials查詢計，尚有免費額度時US$0，未扣免費額度US$5。其他SKU另計。</a:t>
            </a:r>
          </a:p>
          <a:p xmlns:a="http://schemas.openxmlformats.org/drawingml/2006/main">
            <a:r>
              <a:t>總額US$120–125，幣別與新台幣人力成本分列。</a:t>
            </a:r>
          </a:p>
          <a:p xmlns:a="http://schemas.openxmlformats.org/drawingml/2006/main">
            <a:r>
              <a:t>5,000輸入token尚未拆明文字與圖片占用，須以實際請求的計費紀錄確認圖片是否已含。這裡是用量情境，不是已量測的產品月費。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敏感度</a:t>
            </a:r>
          </a:p>
          <a:p xmlns:a="http://schemas.openxmlformats.org/drawingml/2006/main">
            <a:r>
              <a:t>模型用量加倍、其餘條件相同時，總額US$195–200。</a:t>
            </a:r>
          </a:p>
          <a:p xmlns:a="http://schemas.openxmlformats.org/drawingml/2006/main">
            <a:r>
              <a:t>既有核價紀錄載明2027/1/1模型單價加倍，同用量亦為US$195–200。正式使用前需再確認費率。</a:t>
            </a:r>
          </a:p>
          <a:p xmlns:a="http://schemas.openxmlformats.org/drawingml/2006/main">
            <a:r>
              <a:t>模型單價與用量同時加倍、其餘條件相同時，總額US$345–350。</a:t>
            </a:r>
          </a:p>
          <a:p xmlns:a="http://schemas.openxmlformats.org/drawingml/2006/main">
            <a:r>
              <a:t>圖片先釐清是否已含於輸入token，再更新情境。影片、即時語音、外部搜尋、重試與超額用量另評估。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估價範圍</a:t>
            </a:r>
          </a:p>
          <a:p xmlns:a="http://schemas.openxmlformats.org/drawingml/2006/main">
            <a:r>
              <a:t>雛型先測文字、圖片與地圖連結輸入。手機分享保留為首版產品方向，正式跨平台分享擴充另估，尚未完成分享入口。</a:t>
            </a:r>
          </a:p>
          <a:p xmlns:a="http://schemas.openxmlformats.org/drawingml/2006/main">
            <a:r>
              <a:t>未含正式叫車、付款與共乘介接、獎勵補貼、參加者餐費及交通、稅金與正式維護。不得將上述合計視為完整上線成本。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https://ai.google.dev/gemini-api/docs/pricing</a:t>
            </a:r>
          </a:p>
          <a:p xmlns:a="http://schemas.openxmlformats.org/drawingml/2006/main">
            <a:r>
              <a:t>https://supabase.com/pricing</a:t>
            </a:r>
          </a:p>
          <a:p xmlns:a="http://schemas.openxmlformats.org/drawingml/2006/main">
            <a:r>
              <a:t>https://developers.google.com/maps/billing-and-pricing/pricing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產品與介面40–60小時。</a:t>
            </a:r>
          </a:p>
          <a:p xmlns:a="http://schemas.openxmlformats.org/drawingml/2006/main">
            <a:r>
              <a:t>前端及遊戲、紀錄80–120小時。</a:t>
            </a:r>
          </a:p>
          <a:p xmlns:a="http://schemas.openxmlformats.org/drawingml/2006/main">
            <a:r>
              <a:t>後端與AI、邀約80–120小時。</a:t>
            </a:r>
          </a:p>
          <a:p xmlns:a="http://schemas.openxmlformats.org/drawingml/2006/main">
            <a:r>
              <a:t>整合測試40–60小時。</a:t>
            </a:r>
          </a:p>
          <a:p xmlns:a="http://schemas.openxmlformats.org/drawingml/2006/main">
            <a:r>
              <a:t>開發加初始內容共320–440人時，分攤五週為每週64–88人時，三週約107–147人時。團隊可投入工時尚待確認。</a:t>
            </a:r>
          </a:p>
          <a:p xmlns:a="http://schemas.openxmlformats.org/drawingml/2006/main">
            <a:r>
              <a:t>初賽後若10/15開始，可先製作、10/29起試用、11/12整合，至11/18決賽交件。若10/28名單公布後才開始，須重排範圍與人力。這是建議排程，不是團隊已接受的承諾，平均人時也不能保證各階段準時。</a:t>
            </a:r>
          </a:p>
          <a:p xmlns:a="http://schemas.openxmlformats.org/drawingml/2006/main">
            <a:r>
              <a:t>試用前，探索結果需指出符合的細節，活動邀約需有可核對的時間、費用與參加條件，遊戲需有可玩的題目與揭曉，紀錄能回看來由。邀約尚在徵人不等於不能試用，活動是否成團另有條件。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首次理解</a:t>
            </a:r>
          </a:p>
          <a:p xmlns:a="http://schemas.openxmlformats.org/drawingml/2006/main">
            <a:r>
              <a:t>邀5位未參與製作的人說出用途、各柱好處、AI作用與yoxi的角色。再問平常如何完成同一件事、哪個具體結果會使他願意選本案。看不懂時修表達；看懂卻不想用時，回到體驗本身。這些口述回饋仍需實際使用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AI與品質</a:t>
            </a:r>
          </a:p>
          <a:p xmlns:a="http://schemas.openxmlformats.org/drawingml/2006/main">
            <a:r>
              <a:t>先用20組固定情境，核對多地點、偏好、預算、閉館、時間、朋友衝突、缺活動和缺來源。再看推薦理由是否對上本人確認的細節、候選有沒有實質差別、共同安排有沒有保留各人主要目的。</a:t>
            </a:r>
          </a:p>
          <a:p xmlns:a="http://schemas.openxmlformats.org/drawingml/2006/main">
            <a:r>
              <a:t>逐項修正條件錯誤，同時量測延遲和成本。若採用遊戲AI，另查選題與提示品質。少數順利例子不能推出整體準確率。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使用比較</a:t>
            </a:r>
          </a:p>
          <a:p xmlns:a="http://schemas.openxmlformats.org/drawingml/2006/main">
            <a:r>
              <a:t>20人兩週試用先找問題，記錄參與者與團隊的關係。同一需求、相近資料和條件下，與實際可用的既有服務比較。</a:t>
            </a:r>
          </a:p>
          <a:p xmlns:a="http://schemas.openxmlformats.org/drawingml/2006/main">
            <a:r>
              <a:t>觀察想選哪個方案及原因、查找與協調過程、未滿足的條件。遊戲需實際試玩，分開看觀察解題、提示、揭曉、主題完成和寵物變化的吸引力，再看是否想繼續。每人可按需求使用，不必全走三柱。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回訪</a:t>
            </a:r>
          </a:p>
          <a:p xmlns:a="http://schemas.openxmlformats.org/drawingml/2006/main">
            <a:r>
              <a:t>有效使用包括得到可供選擇的探索結果、確認參加、完成挑戰，或回看自己的紀錄。單純開啟、收到通知不算。</a:t>
            </a:r>
          </a:p>
          <a:p xmlns:a="http://schemas.openxmlformats.org/drawingml/2006/main">
            <a:r>
              <a:t>七日回訪以首次有效使用後已有完整七日觀察窗的人為分母，計算七日內在另一天再次有效使用的人數比例。</a:t>
            </a:r>
          </a:p>
          <a:p xmlns:a="http://schemas.openxmlformats.org/drawingml/2006/main">
            <a:r>
              <a:t>另記自然、通知後、獎勵相關的情境，有重疊就保留。這些是觀察分類，不能單憑分類判定哪一項造成回訪，誘因如何辨識仍待試用設計。</a:t>
            </a:r>
          </a:p>
          <a:p xmlns:a="http://schemas.openxmlformats.org/drawingml/2006/main">
            <a:r>
              <a:t>可同時記使用天數、間隔和回來做什麼，並在主題完成後繼續觀察。兩週資料不支持長期黏著度結論。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活動與交通</a:t>
            </a:r>
          </a:p>
          <a:p xmlns:a="http://schemas.openxmlformats.org/drawingml/2006/main">
            <a:r>
              <a:t>確認參加、到場、交通查詢、叫車下單與車程完成分開記錄。下單和車程完成的事件定義依實際介接資料確認，沒有資料時只報能觀察的項目。</a:t>
            </a:r>
          </a:p>
          <a:p xmlns:a="http://schemas.openxmlformats.org/drawingml/2006/main">
            <a:r>
              <a:t>這些事件不一定依序發生。自行前往不算活動失敗，新增叫車需要可比組或期間，不能把本來會搭的車都算新增。</a:t>
            </a:r>
          </a:p>
          <a:p xmlns:a="http://schemas.openxmlformats.org/drawingml/2006/main">
            <a:r>
              <a:t>活動方另記內容更新與主持投入、報名及到場，以及是否願再合作和原因。報名數不等於商家淨收益。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單位成本</a:t>
            </a:r>
          </a:p>
          <a:p xmlns:a="http://schemas.openxmlformats.org/drawingml/2006/main">
            <a:r>
              <a:t>同一觀察期間，分開報雲端及內容、活動成本，再依明確定義的有效安排次數或去重回訪人數計算。有效安排的完成條件、採用的指標與去重規則仍需確認，未定義前只報總成本。</a:t>
            </a:r>
          </a:p>
          <a:p xmlns:a="http://schemas.openxmlformats.org/drawingml/2006/main">
            <a:r>
              <a:t>一次開發另列。分母為零時只報總額，不以探索安排代表三柱全部效率。不同幣別先分列，需要合併時註明換算日與實際採用匯率。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以上為待執行測試與事件定義。少數成功樣本不代表準確率；報名不等於收益。不同幣別先分列，換算時記日期及匯率。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簡報規劃與逐頁安排.txt，測試與指標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既有提議的去向依會議整理與推薦稿保留。這些延伸不改變三柱可獨立使用的方向，也不自動變成已完成的功能。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補充說明</a:t>
            </a:r>
          </a:p>
          <a:p xmlns:a="http://schemas.openxmlformats.org/drawingml/2006/main">
            <a:r>
              <a:t>地方故事和文化、照片地圖讓人看地方內容與他人的觀察；自己的照片和可選日記則保留個人經歷。照片挑戰仍是可發展玩法。</a:t>
            </a:r>
          </a:p>
          <a:p xmlns:a="http://schemas.openxmlformats.org/drawingml/2006/main">
            <a:r>
              <a:t>原會議提出投稿故事或照片，換取更多地圖或地方內容解鎖，屬長期社群候選，機制未定。這與寵物造型解鎖不同，首批不要求大量使用者寫文章。</a:t>
            </a:r>
          </a:p>
          <a:p xmlns:a="http://schemas.openxmlformats.org/drawingml/2006/main">
            <a:r>
              <a:t>推薦稿建議基本推薦、規劃與導覽一開始可用，不綁遊戲等級。與長期地方內容解鎖的邊界仍需團隊確認。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多景點旅遊延後評估。跨圈交流、神祕目的地、戀愛巴士、跨城市順風車、簽到、小驚喜、隨機回饋與評論平台參考，保留在會議討論整理和逐段討論點供追查，未列本版開發承諾。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簡報規劃與逐頁安排.txt，支持功能與延伸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/10/10已讀官網首頁原始回應，核對初賽日期、PDF與三分鐘影片，以及初賽評分。摘要與十五頁正文、附錄的頁數規則依保存的官方原始模板。地方資料依既有核對紀錄。工具候選與費率同日重新核對。參考功能不當成同條件競品測試。所有圖像來源、生成提示與檢查紀錄存工作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資料狀態：本案為提案設計，範例與估算不是實測成果。</a:t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https://ht-hackathon.tw/tw/home/</a:t>
            </a:r>
          </a:p>
          <a:p xmlns:a="http://schemas.openxmlformats.org/drawingml/2006/main">
            <a:r>
              <a:t>https://e40125.github.io/yoxi-meeting-review/</a:t>
            </a:r>
          </a:p>
          <a:p xmlns:a="http://schemas.openxmlformats.org/drawingml/2006/main">
            <a:r>
              <a:t>https://www.twtainan.net/zh-tw/attractions/detail/740/</a:t>
            </a:r>
          </a:p>
          <a:p xmlns:a="http://schemas.openxmlformats.org/drawingml/2006/main">
            <a:r>
              <a:t>https://www.twtainan.net/zh-tw/attractions/detail/5533/</a:t>
            </a:r>
          </a:p>
          <a:p xmlns:a="http://schemas.openxmlformats.org/drawingml/2006/main">
            <a:r>
              <a:t>https://ai.google.dev/gemini-api/docs/pricing</a:t>
            </a:r>
          </a:p>
          <a:p xmlns:a="http://schemas.openxmlformats.org/drawingml/2006/main">
            <a:r>
              <a:t>https://supabase.com/pricing</a:t>
            </a:r>
          </a:p>
          <a:p xmlns:a="http://schemas.openxmlformats.org/drawingml/2006/main">
            <a:r>
              <a:t>https://developers.google.com/maps/billing-and-pricing/pricing</a:t>
            </a:r>
          </a:p>
          <a:p xmlns:a="http://schemas.openxmlformats.org/drawingml/2006/main">
            <a:r>
              <a:t>https://ht-hackathon.tw/tw/y5sf0shclq6c3yn1db/</a:t>
            </a:r>
          </a:p>
          <a:p xmlns:a="http://schemas.openxmlformats.org/drawingml/2006/main">
            <a:r>
              <a:t>https://ht-hackathon.tw/tw/challenge?item=6</a:t>
            </a:r>
          </a:p>
          <a:p xmlns:a="http://schemas.openxmlformats.org/drawingml/2006/main">
            <a:r>
              <a:t>https://www.momatainan.gov.tw/cp.aspx?n=9523</a:t>
            </a:r>
          </a:p>
          <a:p xmlns:a="http://schemas.openxmlformats.org/drawingml/2006/main">
            <a:r>
              <a:t>https://blog.google/products-and-platforms/products/maps/how-to-google-maps-screenshot-save-gemini/</a:t>
            </a:r>
          </a:p>
          <a:p xmlns:a="http://schemas.openxmlformats.org/drawingml/2006/main">
            <a:r>
              <a:t>https://blog.google/products-and-platforms/products/maps/ask-maps-immersive-navigation/</a:t>
            </a:r>
          </a:p>
          <a:p xmlns:a="http://schemas.openxmlformats.org/drawingml/2006/main">
            <a:r>
              <a:t>https://help.timeleft.com/hc/en-150/articles/28529250732444-What-is-Timeleft-and-How-Does-It-Work</a:t>
            </a:r>
          </a:p>
          <a:p xmlns:a="http://schemas.openxmlformats.org/drawingml/2006/main">
            <a:r>
              <a:t>https://help.meetup.com/hc/en-us/articles/39235072484109-Finding-an-event</a:t>
            </a:r>
          </a:p>
          <a:p xmlns:a="http://schemas.openxmlformats.org/drawingml/2006/main">
            <a:r>
              <a:t>https://www.pikminbloom.com/</a:t>
            </a:r>
          </a:p>
          <a:p xmlns:a="http://schemas.openxmlformats.org/drawingml/2006/main">
            <a:r>
              <a:t>https://niantic.helpshift.com/hc/en/23-pikmin-bloom/faq/2858-postcards/</a:t>
            </a:r>
          </a:p>
          <a:p xmlns:a="http://schemas.openxmlformats.org/drawingml/2006/main">
            <a:r>
              <a:t>https://ai.google.dev/gemini-api/docs/models/gemini-3.8-flash</a:t>
            </a:r>
          </a:p>
          <a:p xmlns:a="http://schemas.openxmlformats.org/drawingml/2006/main">
            <a:r>
              <a:t>https://ai.google.dev/gemini-api/docs/structured-output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8723feb2047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d93b7ca8743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bd8ea2b9949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9ee7a821047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b0a2641f94c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a7f4d198a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D02647-647D-4D68-A24B-0ED1106AA4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9B81E6-4722-4E8E-93BF-CAF9A483BB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3D150A-0A15-4A04-AFB1-1B85B82FB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A90224-5FDE-4F17-B142-97656A179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E295B6-E66D-495A-ADDF-B94CDF9A3B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7C907A-A09A-456A-B5E4-3CA89377D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71C539-09B7-4B15-AF0A-87F7447682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E49096-4770-4951-9C48-3B82159B5A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0E2B03-1DF7-43FB-BAFB-79C84CD38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DE7D7C-8002-42FD-ADA0-0799E8CF83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fef3b819514f45" /><Relationship Type="http://schemas.openxmlformats.org/officeDocument/2006/relationships/slideLayout" Target="/ppt/slideLayouts/slideLayout1.xml" Id="R86fcdffb76694bba" /><Relationship Type="http://schemas.openxmlformats.org/officeDocument/2006/relationships/slideLayout" Target="/ppt/slideLayouts/slideLayout2.xml" Id="R4474d6c7620f4a91" /><Relationship Type="http://schemas.openxmlformats.org/officeDocument/2006/relationships/slideLayout" Target="/ppt/slideLayouts/slideLayout3.xml" Id="Rb340b4081c9f4243" /><Relationship Type="http://schemas.openxmlformats.org/officeDocument/2006/relationships/slideLayout" Target="/ppt/slideLayouts/slideLayout4.xml" Id="R4db49463c4274175" /><Relationship Type="http://schemas.openxmlformats.org/officeDocument/2006/relationships/slideLayout" Target="/ppt/slideLayouts/slideLayout5.xml" Id="R2aa0d814939a4839" /><Relationship Type="http://schemas.openxmlformats.org/officeDocument/2006/relationships/slideLayout" Target="/ppt/slideLayouts/slideLayout6.xml" Id="R1b2eee28f9814b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cdffb76694bba"/>
    <p:sldLayoutId xmlns:r="http://schemas.openxmlformats.org/officeDocument/2006/relationships" id="2147483650" r:id="R4474d6c7620f4a91"/>
    <p:sldLayoutId xmlns:r="http://schemas.openxmlformats.org/officeDocument/2006/relationships" id="2147483651" r:id="Rb340b4081c9f4243"/>
    <p:sldLayoutId xmlns:r="http://schemas.openxmlformats.org/officeDocument/2006/relationships" id="2147483652" r:id="R4db49463c4274175"/>
    <p:sldLayoutId xmlns:r="http://schemas.openxmlformats.org/officeDocument/2006/relationships" id="2147483653" r:id="R2aa0d814939a4839"/>
    <p:sldLayoutId xmlns:r="http://schemas.openxmlformats.org/officeDocument/2006/relationships" id="2147483654" r:id="R1b2eee28f9814b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693e2c9954e59" /><Relationship Type="http://schemas.openxmlformats.org/officeDocument/2006/relationships/notesSlide" Target="/ppt/notesSlides/notesSlide1.xml" Id="Rad1e993afe8748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0f84bf21249c2" /><Relationship Type="http://schemas.openxmlformats.org/officeDocument/2006/relationships/image" Target="/ppt/media/image.png" Id="R41484783a075410a" /><Relationship Type="http://schemas.openxmlformats.org/officeDocument/2006/relationships/notesSlide" Target="/ppt/notesSlides/notesSlide2.xml" Id="R32798967b860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7944a5445443a" /><Relationship Type="http://schemas.openxmlformats.org/officeDocument/2006/relationships/notesSlide" Target="/ppt/notesSlides/notesSlide3.xml" Id="Rfbe333de8ae8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c8c6fc5ec4aad" /><Relationship Type="http://schemas.openxmlformats.org/officeDocument/2006/relationships/image" Target="/ppt/media/image2.png" Id="R81938f0b76474197" /><Relationship Type="http://schemas.openxmlformats.org/officeDocument/2006/relationships/notesSlide" Target="/ppt/notesSlides/notesSlide4.xml" Id="R7f4fb068186c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e88bb45b34345" /><Relationship Type="http://schemas.openxmlformats.org/officeDocument/2006/relationships/image" Target="/ppt/media/image3.png" Id="R45b0bbd6751e4c82" /><Relationship Type="http://schemas.openxmlformats.org/officeDocument/2006/relationships/notesSlide" Target="/ppt/notesSlides/notesSlide5.xml" Id="R7fb022b6c45440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67fc945db489b" /><Relationship Type="http://schemas.openxmlformats.org/officeDocument/2006/relationships/image" Target="/ppt/media/image4.png" Id="R6c11e86e045a49fd" /><Relationship Type="http://schemas.openxmlformats.org/officeDocument/2006/relationships/notesSlide" Target="/ppt/notesSlides/notesSlide6.xml" Id="Reb48c39e676340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e0a8601c04943" /><Relationship Type="http://schemas.openxmlformats.org/officeDocument/2006/relationships/notesSlide" Target="/ppt/notesSlides/notesSlide7.xml" Id="R3a8c0a8e600a4b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dca9c3bbf4921" /><Relationship Type="http://schemas.openxmlformats.org/officeDocument/2006/relationships/image" Target="/ppt/media/image5.png" Id="R122e87d716d24102" /><Relationship Type="http://schemas.openxmlformats.org/officeDocument/2006/relationships/notesSlide" Target="/ppt/notesSlides/notesSlide8.xml" Id="Rcec7b10adcfe4b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b8c016ae640f8" /><Relationship Type="http://schemas.openxmlformats.org/officeDocument/2006/relationships/notesSlide" Target="/ppt/notesSlides/notesSlide9.xml" Id="Rf39abb4e267d41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abcb557d84709" /><Relationship Type="http://schemas.openxmlformats.org/officeDocument/2006/relationships/notesSlide" Target="/ppt/notesSlides/notesSlide10.xml" Id="Rf35e2015d3ee41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b3ef4f8984fd9" /><Relationship Type="http://schemas.openxmlformats.org/officeDocument/2006/relationships/notesSlide" Target="/ppt/notesSlides/notesSlide11.xml" Id="R8064107c7d264c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cbe041a8c4eeb" /><Relationship Type="http://schemas.openxmlformats.org/officeDocument/2006/relationships/notesSlide" Target="/ppt/notesSlides/notesSlide12.xml" Id="Ra52ba0428e5841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b701cd8ae4799" /><Relationship Type="http://schemas.openxmlformats.org/officeDocument/2006/relationships/notesSlide" Target="/ppt/notesSlides/notesSlide13.xml" Id="R36b052c922224d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87480d1ac4ed8" /><Relationship Type="http://schemas.openxmlformats.org/officeDocument/2006/relationships/notesSlide" Target="/ppt/notesSlides/notesSlide14.xml" Id="R3b64037bad624a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cbe452a8e458a" /><Relationship Type="http://schemas.openxmlformats.org/officeDocument/2006/relationships/notesSlide" Target="/ppt/notesSlides/notesSlide15.xml" Id="Rfa83840a759e4b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9962f1a584027" /><Relationship Type="http://schemas.openxmlformats.org/officeDocument/2006/relationships/notesSlide" Target="/ppt/notesSlides/notesSlide16.xml" Id="Red9d984ef56a47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e0b7dbb274f05" /><Relationship Type="http://schemas.openxmlformats.org/officeDocument/2006/relationships/notesSlide" Target="/ppt/notesSlides/notesSlide17.xml" Id="R8dd716aea4c843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33c6bbb6748b9" /><Relationship Type="http://schemas.openxmlformats.org/officeDocument/2006/relationships/notesSlide" Target="/ppt/notesSlides/notesSlide18.xml" Id="Rb516af4afe1843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533f3511642b6" /><Relationship Type="http://schemas.openxmlformats.org/officeDocument/2006/relationships/notesSlide" Target="/ppt/notesSlides/notesSlide19.xml" Id="Rd9b6f04a506b40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c18c8ac374619" /><Relationship Type="http://schemas.openxmlformats.org/officeDocument/2006/relationships/notesSlide" Target="/ppt/notesSlides/notesSlide20.xml" Id="R4df5f3a6968c44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04d3003a84a32" /><Relationship Type="http://schemas.openxmlformats.org/officeDocument/2006/relationships/notesSlide" Target="/ppt/notesSlides/notesSlide21.xml" Id="Raf72a76f55d440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9c556d2f342f9" /><Relationship Type="http://schemas.openxmlformats.org/officeDocument/2006/relationships/notesSlide" Target="/ppt/notesSlides/notesSlide22.xml" Id="R70027329f3294f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0b2bab5594f20" /><Relationship Type="http://schemas.openxmlformats.org/officeDocument/2006/relationships/notesSlide" Target="/ppt/notesSlides/notesSlide23.xml" Id="R99e410361f1247d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30ea412344594" /><Relationship Type="http://schemas.openxmlformats.org/officeDocument/2006/relationships/notesSlide" Target="/ppt/notesSlides/notesSlide24.xml" Id="R42e50221615f4c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ed79958844e8f" /><Relationship Type="http://schemas.openxmlformats.org/officeDocument/2006/relationships/notesSlide" Target="/ppt/notesSlides/notesSlide25.xml" Id="Rfc122a2ae5fe49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685da89f8440c" /><Relationship Type="http://schemas.openxmlformats.org/officeDocument/2006/relationships/notesSlide" Target="/ppt/notesSlides/notesSlide26.xml" Id="Rf5ce9b8ad9514c5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a88fcfe3949c2" /><Relationship Type="http://schemas.openxmlformats.org/officeDocument/2006/relationships/hyperlink" Target="https://ht-hackathon.tw/tw/home/" TargetMode="External" Id="R5de0f8fb59cf4270" /><Relationship Type="http://schemas.openxmlformats.org/officeDocument/2006/relationships/hyperlink" Target="https://e40125.github.io/yoxi-meeting-review/" TargetMode="External" Id="Ra4e1706d19904bb7" /><Relationship Type="http://schemas.openxmlformats.org/officeDocument/2006/relationships/hyperlink" Target="https://www.twtainan.net/zh-tw/attractions/detail/740/" TargetMode="External" Id="R09bc0c95489a4eea" /><Relationship Type="http://schemas.openxmlformats.org/officeDocument/2006/relationships/hyperlink" Target="https://www.twtainan.net/zh-tw/attractions/detail/5533/" TargetMode="External" Id="R8138f3e3fd4849a1" /><Relationship Type="http://schemas.openxmlformats.org/officeDocument/2006/relationships/hyperlink" Target="https://ai.google.dev/gemini-api/docs/pricing" TargetMode="External" Id="R0090450f99b24b77" /><Relationship Type="http://schemas.openxmlformats.org/officeDocument/2006/relationships/hyperlink" Target="https://supabase.com/pricing" TargetMode="External" Id="R20fd010fa8f14d88" /><Relationship Type="http://schemas.openxmlformats.org/officeDocument/2006/relationships/hyperlink" Target="https://developers.google.com/maps/billing-and-pricing/pricing" TargetMode="External" Id="Re9fcc8887fbc4d33" /><Relationship Type="http://schemas.openxmlformats.org/officeDocument/2006/relationships/notesSlide" Target="/ppt/notesSlides/notesSlide27.xml" Id="Ra312d151937c4d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字-0-0">
            <a:extLst xmlns:a="http://schemas.openxmlformats.org/drawingml/2006/main">
              <a:ext uri="{FF2B5EF4-FFF2-40B4-BE49-F238E27FC236}">
                <a16:creationId xmlns:a16="http://schemas.microsoft.com/office/drawing/2014/main" id="{416F1DDA-1A60-4840-AF6E-1EF8C183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提案摘要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01ADC8D7-C00B-4449-8495-4B17C66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服務提案；團隊名稱、正式作品名與實際採用工具待團隊確認。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DEFA8C15-E34B-4925-8A43-79850853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摘要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6BD6E-95F0-45A7-99A4-AEF7419789FA}"/>
              </a:ext>
            </a:extLst>
          </p:cNvPr>
          <p:cNvGraphicFramePr/>
          <p:nvPr/>
        </p:nvGraphicFramePr>
        <p:xfrm>
          <a:off xmlns:a="http://schemas.openxmlformats.org/drawingml/2006/main" x="609600" y="1219200"/>
          <a:ext xmlns:a="http://schemas.openxmlformats.org/drawingml/2006/main" cx="10972800" cy="4781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76550"/>
                <a:gridCol w="8096250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團隊名稱</a:t>
                      </a:r>
                    </a:p>
                  </a:txBody>
                  <a:tcPr marL="114300" marR="114300" marT="66675" marB="66675" anchor="ctr">
                    <a:solidFill>
                      <a:srgbClr val="EA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待團隊填寫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產品/服務名稱</a:t>
                      </a:r>
                    </a:p>
                  </a:txBody>
                  <a:tcPr marL="114300" marR="114300" marT="66675" marB="66675" anchor="ctr">
                    <a:solidFill>
                      <a:srgbClr val="EA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yoxi 城市夥伴（暫名）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企業挑戰題目</a:t>
                      </a:r>
                    </a:p>
                  </a:txBody>
                  <a:tcPr marL="114300" marR="114300" marT="66675" marB="66675" anchor="ctr">
                    <a:solidFill>
                      <a:srgbClr val="EA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不搭車，也打開 yoxi —— 打造高頻互動的AI出行夥伴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目標對象</a:t>
                      </a:r>
                    </a:p>
                  </a:txBody>
                  <a:tcPr marL="114300" marR="114300" marT="66675" marB="66675" anchor="ctr">
                    <a:solidFill>
                      <a:srgbClr val="EA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想找城市新體驗、同好活動，或喜歡城市觀察與蒐集的人。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1095375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解決方案設計重點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(至多3項)</a:t>
                      </a:r>
                    </a:p>
                  </a:txBody>
                  <a:tcPr marL="114300" marR="114300" marT="66675" marB="66675" anchor="ctr">
                    <a:solidFill>
                      <a:srgbClr val="EA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城市探索：從喜歡的細節找到新去處與可做的事。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同好與共同體驗：找到願意一起的人，也能先找伴再選去處。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遊戲與成長：玩城市挑戰、完成主題收藏，養成寵物。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828675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運用到的AI技術、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服務或模型等資源</a:t>
                      </a:r>
                    </a:p>
                  </a:txBody>
                  <a:tcPr marL="114300" marR="114300" marT="66675" marB="66675" anchor="ctr">
                    <a:solidFill>
                      <a:srgbClr val="EA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候選 Gemini 3.8 Flash。整理圖片細節與本人確認的喜好，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提出可比較的去處、共同安排及理由。尚未實際介接。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預期效益簡述</a:t>
                      </a:r>
                    </a:p>
                  </a:txBody>
                  <a:tcPr marL="114300" marR="114300" marT="66675" marB="66675" anchor="ctr">
                    <a:solidFill>
                      <a:srgbClr val="EAEC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平日有探索、找伴與遊玩的理由，出門時沿用安排選交通。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活動方接觸有參加意願的人，yoxi參與出門計畫形成。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使用與合作效果待試辦驗證。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186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文字-0-0">
            <a:extLst xmlns:a="http://schemas.openxmlformats.org/drawingml/2006/main">
              <a:ext uri="{FF2B5EF4-FFF2-40B4-BE49-F238E27FC236}">
                <a16:creationId xmlns:a16="http://schemas.microsoft.com/office/drawing/2014/main" id="{29999D11-B25C-4B91-AC03-253D9E9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yoxi 城市夥伴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EA7225F8-5367-4036-9AF2-DF70F79F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服務提案，名稱暫定。圖為概念插畫。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F3A25E32-0C20-4327-AD65-A7D7D23A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81640915-AF8D-4B1F-BF7A-F210C6C7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不搭車時的城市生活夥伴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EB4D9-FA9F-48DB-B2E4-4E2AEE26F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84783a075410a"/>
          <a:stretch xmlns:a="http://schemas.openxmlformats.org/drawingml/2006/main"/>
        </p:blipFill>
        <p:spPr>
          <a:xfrm xmlns:a="http://schemas.openxmlformats.org/drawingml/2006/main">
            <a:off x="4744209" y="1771650"/>
            <a:ext cx="6837432" cy="3848100"/>
          </a:xfrm>
          <a:prstGeom xmlns:a="http://schemas.openxmlformats.org/drawingml/2006/main" prst="rect">
            <a:avLst/>
          </a:prstGeom>
        </p:spPr>
      </p:pic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645BA590-A859-4C00-AF69-E161E06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9814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城市探索</a:t>
            </a:r>
          </a:p>
        </p:txBody>
      </p:sp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E3AFEDFA-FF6D-4D16-8205-148B6F0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8671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從喜歡的細節，</a:t>
            </a:r>
          </a:p>
        </p:txBody>
      </p:sp>
      <p:sp>
        <p:nvSpPr>
          <p:cNvPr id="8" name="文字-6-1">
            <a:extLst xmlns:a="http://schemas.openxmlformats.org/drawingml/2006/main">
              <a:ext uri="{FF2B5EF4-FFF2-40B4-BE49-F238E27FC236}">
                <a16:creationId xmlns:a16="http://schemas.microsoft.com/office/drawing/2014/main" id="{D264641D-3C5A-41E8-BD60-75C98477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803"/>
            <a:ext cx="38671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找到想親自試的新體驗。</a:t>
            </a:r>
          </a:p>
        </p:txBody>
      </p:sp>
      <p:sp>
        <p:nvSpPr>
          <p:cNvPr id="9" name="文字-7-0">
            <a:extLst xmlns:a="http://schemas.openxmlformats.org/drawingml/2006/main">
              <a:ext uri="{FF2B5EF4-FFF2-40B4-BE49-F238E27FC236}">
                <a16:creationId xmlns:a16="http://schemas.microsoft.com/office/drawing/2014/main" id="{ED1CDC85-61DE-4F54-BB6B-F98BC022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9814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同好與共同體驗</a:t>
            </a:r>
          </a:p>
        </p:txBody>
      </p:sp>
      <p:sp>
        <p:nvSpPr>
          <p:cNvPr id="10" name="文字-8-0">
            <a:extLst xmlns:a="http://schemas.openxmlformats.org/drawingml/2006/main">
              <a:ext uri="{FF2B5EF4-FFF2-40B4-BE49-F238E27FC236}">
                <a16:creationId xmlns:a16="http://schemas.microsoft.com/office/drawing/2014/main" id="{0656AE9F-B819-4004-8193-36A41FE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38671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找到願意一起的人，</a:t>
            </a:r>
          </a:p>
        </p:txBody>
      </p:sp>
      <p:sp>
        <p:nvSpPr>
          <p:cNvPr id="11" name="文字-8-1">
            <a:extLst xmlns:a="http://schemas.openxmlformats.org/drawingml/2006/main">
              <a:ext uri="{FF2B5EF4-FFF2-40B4-BE49-F238E27FC236}">
                <a16:creationId xmlns:a16="http://schemas.microsoft.com/office/drawing/2014/main" id="{9BB7C4CB-DE3A-4945-AD69-FC57A277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4303"/>
            <a:ext cx="38671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參加合菜與多人體驗。</a:t>
            </a:r>
          </a:p>
        </p:txBody>
      </p:sp>
      <p:sp>
        <p:nvSpPr>
          <p:cNvPr id="12" name="文字-9-0">
            <a:extLst xmlns:a="http://schemas.openxmlformats.org/drawingml/2006/main">
              <a:ext uri="{FF2B5EF4-FFF2-40B4-BE49-F238E27FC236}">
                <a16:creationId xmlns:a16="http://schemas.microsoft.com/office/drawing/2014/main" id="{E084B76F-0B64-4E63-A66B-24C0F274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9814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遊戲與成長</a:t>
            </a:r>
          </a:p>
        </p:txBody>
      </p:sp>
      <p:sp>
        <p:nvSpPr>
          <p:cNvPr id="13" name="文字-10-0">
            <a:extLst xmlns:a="http://schemas.openxmlformats.org/drawingml/2006/main">
              <a:ext uri="{FF2B5EF4-FFF2-40B4-BE49-F238E27FC236}">
                <a16:creationId xmlns:a16="http://schemas.microsoft.com/office/drawing/2014/main" id="{B735DC4C-9C2E-40B8-9970-D76AF9C4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8671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解城市線索、收集主題，</a:t>
            </a:r>
          </a:p>
        </p:txBody>
      </p:sp>
      <p:sp>
        <p:nvSpPr>
          <p:cNvPr id="14" name="文字-10-1">
            <a:extLst xmlns:a="http://schemas.openxmlformats.org/drawingml/2006/main">
              <a:ext uri="{FF2B5EF4-FFF2-40B4-BE49-F238E27FC236}">
                <a16:creationId xmlns:a16="http://schemas.microsoft.com/office/drawing/2014/main" id="{02A0E2C2-0AA3-4B40-B880-BC746690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7803"/>
            <a:ext cx="38671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養成有自己風格的寵物。</a:t>
            </a:r>
          </a:p>
        </p:txBody>
      </p:sp>
      <p:sp>
        <p:nvSpPr>
          <p:cNvPr id="15" name="文字-11-0">
            <a:extLst xmlns:a="http://schemas.openxmlformats.org/drawingml/2006/main">
              <a:ext uri="{FF2B5EF4-FFF2-40B4-BE49-F238E27FC236}">
                <a16:creationId xmlns:a16="http://schemas.microsoft.com/office/drawing/2014/main" id="{5329BD17-1548-4C7F-ACDB-64B3E009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各自都能開始。想出門時，沿用地點、時間與同行安排選交通。</a:t>
            </a:r>
          </a:p>
        </p:txBody>
      </p:sp>
    </p:spTree>
    <p:extLst>
      <p:ext uri="{BB962C8B-B14F-4D97-AF65-F5344CB8AC3E}">
        <p14:creationId xmlns:p14="http://schemas.microsoft.com/office/powerpoint/2010/main" val="967390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文字-0-0">
            <a:extLst xmlns:a="http://schemas.openxmlformats.org/drawingml/2006/main">
              <a:ext uri="{FF2B5EF4-FFF2-40B4-BE49-F238E27FC236}">
                <a16:creationId xmlns:a16="http://schemas.microsoft.com/office/drawing/2014/main" id="{18B29ABD-CA34-4282-B8BB-8B030B5F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出門之前，已經有需要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27E81961-EFB5-4363-904B-7C20483D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客群與需求假設，尚未做訪談驗證。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243D226C-F1F7-479C-854A-0ED625D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D30831BF-F454-4601-81EB-0D42C80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官方命題希望讓yoxi在沒有叫車需求時，也有持續使用的理由。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62DD4CE4-FD25-4179-BAFF-750AE87E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714625" cy="414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想試新體驗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C539CEFA-C8DC-41AF-BEA7-2A0217A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95500"/>
            <a:ext cx="77152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看到喜歡的照片，想知道附近哪裡也能試。</a:t>
            </a:r>
          </a:p>
        </p:txBody>
      </p:sp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3C589EC0-840D-4992-A83F-4B41F4B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14625" cy="414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想找人一起</a:t>
            </a:r>
          </a:p>
        </p:txBody>
      </p:sp>
      <p:sp>
        <p:nvSpPr>
          <p:cNvPr id="8" name="文字-7-0">
            <a:extLst xmlns:a="http://schemas.openxmlformats.org/drawingml/2006/main">
              <a:ext uri="{FF2B5EF4-FFF2-40B4-BE49-F238E27FC236}">
                <a16:creationId xmlns:a16="http://schemas.microsoft.com/office/drawing/2014/main" id="{32FC1935-30EE-433F-A76C-099DB2AD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77152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想吃合菜，還沒決定去哪裡，也還沒有同行的人。</a:t>
            </a:r>
          </a:p>
        </p:txBody>
      </p:sp>
      <p:sp>
        <p:nvSpPr>
          <p:cNvPr id="9" name="文字-8-0">
            <a:extLst xmlns:a="http://schemas.openxmlformats.org/drawingml/2006/main">
              <a:ext uri="{FF2B5EF4-FFF2-40B4-BE49-F238E27FC236}">
                <a16:creationId xmlns:a16="http://schemas.microsoft.com/office/drawing/2014/main" id="{3FC51866-E998-4593-84D5-E0A6A8E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714625" cy="414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今天留在家</a:t>
            </a:r>
          </a:p>
        </p:txBody>
      </p:sp>
      <p:sp>
        <p:nvSpPr>
          <p:cNvPr id="10" name="文字-9-0">
            <a:extLst xmlns:a="http://schemas.openxmlformats.org/drawingml/2006/main">
              <a:ext uri="{FF2B5EF4-FFF2-40B4-BE49-F238E27FC236}">
                <a16:creationId xmlns:a16="http://schemas.microsoft.com/office/drawing/2014/main" id="{903FF02E-BC9B-463D-B884-6E03E9B0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72000"/>
            <a:ext cx="77152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想玩看圖找街景，記下新認識的地方。</a:t>
            </a:r>
          </a:p>
        </p:txBody>
      </p:sp>
      <p:sp>
        <p:nvSpPr>
          <p:cNvPr id="11" name="文字-10-0">
            <a:extLst xmlns:a="http://schemas.openxmlformats.org/drawingml/2006/main">
              <a:ext uri="{FF2B5EF4-FFF2-40B4-BE49-F238E27FC236}">
                <a16:creationId xmlns:a16="http://schemas.microsoft.com/office/drawing/2014/main" id="{E7AC1607-664E-46B4-B352-86D9EED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34050"/>
            <a:ext cx="766762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同一個人，在不同日子可以有不同起點。</a:t>
            </a:r>
          </a:p>
        </p:txBody>
      </p:sp>
    </p:spTree>
    <p:extLst>
      <p:ext uri="{BB962C8B-B14F-4D97-AF65-F5344CB8AC3E}">
        <p14:creationId xmlns:p14="http://schemas.microsoft.com/office/powerpoint/2010/main" val="1634255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文字-0-0">
            <a:extLst xmlns:a="http://schemas.openxmlformats.org/drawingml/2006/main">
              <a:ext uri="{FF2B5EF4-FFF2-40B4-BE49-F238E27FC236}">
                <a16:creationId xmlns:a16="http://schemas.microsoft.com/office/drawing/2014/main" id="{34419A88-92C4-4BCC-8B85-C4BD2480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從喜歡的細節，找到可以親自試的體驗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FF4CF5B4-EAA3-477F-8CCB-EE4C5A43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台南設計示例，人工挑選候選，尚未模型測試；插畫非地點實景。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9A9FFFF3-6DF2-4806-9BFD-FEF860A3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4D2CB4C0-852A-4312-BDB6-E8132320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從手機分享選單選yoxi，確認AI整理的地點與喜好。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5BFCAE47-C5F9-4BDE-9317-74368A48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本人確認：喜歡線條與空間感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1E383-D518-43C8-B58F-5B0E9885A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38f0b76474197"/>
          <a:srcRect xmlns:a="http://schemas.openxmlformats.org/drawingml/2006/main" l="0" t="16406" r="0" b="16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90725"/>
            <a:ext cx="10972800" cy="2457450"/>
          </a:xfrm>
          <a:prstGeom xmlns:a="http://schemas.openxmlformats.org/drawingml/2006/main" prst="rect">
            <a:avLst/>
          </a:prstGeom>
        </p:spPr>
      </p:pic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3EB0DFEA-6859-4F8B-93A3-90B6536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藍晒圖文創園區</a:t>
            </a:r>
          </a:p>
        </p:txBody>
      </p:sp>
      <p:sp>
        <p:nvSpPr>
          <p:cNvPr id="8" name="文字-7-0">
            <a:extLst xmlns:a="http://schemas.openxmlformats.org/drawingml/2006/main">
              <a:ext uri="{FF2B5EF4-FFF2-40B4-BE49-F238E27FC236}">
                <a16:creationId xmlns:a16="http://schemas.microsoft.com/office/drawing/2014/main" id="{080AE141-3708-40CD-93C1-4326C5C7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51054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換角度拍白線與立體結構。</a:t>
            </a:r>
          </a:p>
        </p:txBody>
      </p:sp>
      <p:sp>
        <p:nvSpPr>
          <p:cNvPr id="9" name="文字-8-0">
            <a:extLst xmlns:a="http://schemas.openxmlformats.org/drawingml/2006/main">
              <a:ext uri="{FF2B5EF4-FFF2-40B4-BE49-F238E27FC236}">
                <a16:creationId xmlns:a16="http://schemas.microsoft.com/office/drawing/2014/main" id="{ED1FD68C-BE68-40A9-B39D-F20088D1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67225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臺南國家美術館</a:t>
            </a:r>
          </a:p>
        </p:txBody>
      </p:sp>
      <p:sp>
        <p:nvSpPr>
          <p:cNvPr id="10" name="文字-9-0">
            <a:extLst xmlns:a="http://schemas.openxmlformats.org/drawingml/2006/main">
              <a:ext uri="{FF2B5EF4-FFF2-40B4-BE49-F238E27FC236}">
                <a16:creationId xmlns:a16="http://schemas.microsoft.com/office/drawing/2014/main" id="{8167D2A6-CE66-4912-A3A8-125D5AB0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86325"/>
            <a:ext cx="51054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拍空間層次，再選想看的展。</a:t>
            </a:r>
          </a:p>
        </p:txBody>
      </p:sp>
      <p:sp>
        <p:nvSpPr>
          <p:cNvPr id="11" name="文字-10-0">
            <a:extLst xmlns:a="http://schemas.openxmlformats.org/drawingml/2006/main">
              <a:ext uri="{FF2B5EF4-FFF2-40B4-BE49-F238E27FC236}">
                <a16:creationId xmlns:a16="http://schemas.microsoft.com/office/drawing/2014/main" id="{903F302A-AC6C-4957-85AF-610A3A8F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規劃：場內只剩25分鐘，保留最想拍的一組；交通另計。</a:t>
            </a:r>
          </a:p>
        </p:txBody>
      </p:sp>
      <p:sp>
        <p:nvSpPr>
          <p:cNvPr id="12" name="文字-10-1">
            <a:extLst xmlns:a="http://schemas.openxmlformats.org/drawingml/2006/main">
              <a:ext uri="{FF2B5EF4-FFF2-40B4-BE49-F238E27FC236}">
                <a16:creationId xmlns:a16="http://schemas.microsoft.com/office/drawing/2014/main" id="{36D36E33-33F1-451D-9ED9-5372EFE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6438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導覽：到了藍晒圖，比較兩個角度的線條與空間變化。</a:t>
            </a:r>
          </a:p>
        </p:txBody>
      </p:sp>
    </p:spTree>
    <p:extLst>
      <p:ext uri="{BB962C8B-B14F-4D97-AF65-F5344CB8AC3E}">
        <p14:creationId xmlns:p14="http://schemas.microsoft.com/office/powerpoint/2010/main" val="2089903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文字-0-0">
            <a:extLst xmlns:a="http://schemas.openxmlformats.org/drawingml/2006/main">
              <a:ext uri="{FF2B5EF4-FFF2-40B4-BE49-F238E27FC236}">
                <a16:creationId xmlns:a16="http://schemas.microsoft.com/office/drawing/2014/main" id="{71A1F99D-6C40-4DA2-A5A7-DA878072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有人一起，合菜與多人體驗有了可能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8FA3A7C8-EE8D-4A70-9731-27ED99D0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邀約設計示例；插畫非實景。餐廳、價格與名額待確認。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07D6DBB7-E028-45D1-9BDC-F0EA72B7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2712D-71F2-47C0-BC19-30EAC2042D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bbd6751e4c82"/>
          <a:stretch xmlns:a="http://schemas.openxmlformats.org/drawingml/2006/main"/>
        </p:blipFill>
        <p:spPr>
          <a:xfrm xmlns:a="http://schemas.openxmlformats.org/drawingml/2006/main">
            <a:off x="609600" y="1508522"/>
            <a:ext cx="4333875" cy="3250406"/>
          </a:xfrm>
          <a:prstGeom xmlns:a="http://schemas.openxmlformats.org/drawingml/2006/main" prst="rect">
            <a:avLst/>
          </a:prstGeom>
        </p:spPr>
      </p:pic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09A8D235-5755-4C0D-8A10-BB5AAD0B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3338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點一個人不好點的菜，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2862294C-D139-43D1-BC04-F16E36E8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3338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也有機會認識同好。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EF344E03-B176-45C4-8513-0252FB94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85900"/>
            <a:ext cx="61912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先找伴，再決定去哪裡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29C209B0-DEE1-45D2-AD86-7C5EA3C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09775"/>
            <a:ext cx="61912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提出想做的事、可約時間與預算，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7BB91633-679C-4492-8FE2-74DE3767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56485"/>
            <a:ext cx="61912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找到願意一起的人，再共同選餐廳。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CFA61D09-906C-46F5-ACE0-8C8FC07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86100"/>
            <a:ext cx="61912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已有想參加的事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57C0BACB-8BFF-44A5-BC98-794BEB8A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9975"/>
            <a:ext cx="61912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先看活動、收藏地點的新邀約，或自己發起。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481B1968-A8D5-4A8E-9B8F-3103F721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44303"/>
            <a:ext cx="619125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沒有合適邀約，就先看活動建議，再決定是否發起。</a:t>
            </a:r>
          </a:p>
        </p:txBody>
      </p:sp>
      <p:sp>
        <p:nvSpPr>
          <p:cNvPr id="13" name="文字-9-0">
            <a:extLst xmlns:a="http://schemas.openxmlformats.org/drawingml/2006/main">
              <a:ext uri="{FF2B5EF4-FFF2-40B4-BE49-F238E27FC236}">
                <a16:creationId xmlns:a16="http://schemas.microsoft.com/office/drawing/2014/main" id="{05457ED7-102A-4E3D-8912-C3DD19D8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57775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參加前看清時間、人數、總費用、每人負擔與截止時間。</a:t>
            </a:r>
          </a:p>
        </p:txBody>
      </p:sp>
      <p:sp>
        <p:nvSpPr>
          <p:cNvPr id="14" name="文字-9-1">
            <a:extLst xmlns:a="http://schemas.openxmlformats.org/drawingml/2006/main">
              <a:ext uri="{FF2B5EF4-FFF2-40B4-BE49-F238E27FC236}">
                <a16:creationId xmlns:a16="http://schemas.microsoft.com/office/drawing/2014/main" id="{21B0563B-0DD6-4114-8A0D-89DC5F0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7338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人數、時間或費用變動時，通知參加者重新確認。</a:t>
            </a:r>
          </a:p>
        </p:txBody>
      </p:sp>
    </p:spTree>
    <p:extLst>
      <p:ext uri="{BB962C8B-B14F-4D97-AF65-F5344CB8AC3E}">
        <p14:creationId xmlns:p14="http://schemas.microsoft.com/office/powerpoint/2010/main" val="1926059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文字-0-0">
            <a:extLst xmlns:a="http://schemas.openxmlformats.org/drawingml/2006/main">
              <a:ext uri="{FF2B5EF4-FFF2-40B4-BE49-F238E27FC236}">
                <a16:creationId xmlns:a16="http://schemas.microsoft.com/office/drawing/2014/main" id="{3F341A02-8440-4325-80AB-7F22BFA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從局部線索，找出同一個街景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7BABDDF9-37B1-4059-8836-8FCD0592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概念題與插畫，非實景。玩法與成長機制待試作。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E019637E-DC79-4247-A705-70A95D07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BA05A195-8F2D-46A3-9B87-D40F73A0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比較細節，選出對應的街景。需要時，再看提示。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ACE29752-D5ED-4162-ACFD-3DD4960A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00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局部線索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845F0DBB-54F8-4C6D-9F93-E49CAEF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2600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街景甲</a:t>
            </a:r>
          </a:p>
        </p:txBody>
      </p:sp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FB9BCB9A-F766-4116-9E84-B4BBCAB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600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街景乙</a:t>
            </a:r>
          </a:p>
        </p:txBody>
      </p:sp>
      <p:sp>
        <p:nvSpPr>
          <p:cNvPr id="8" name="文字-7-0">
            <a:extLst xmlns:a="http://schemas.openxmlformats.org/drawingml/2006/main">
              <a:ext uri="{FF2B5EF4-FFF2-40B4-BE49-F238E27FC236}">
                <a16:creationId xmlns:a16="http://schemas.microsoft.com/office/drawing/2014/main" id="{D4FB5262-D479-4338-923B-9AC8147A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600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街景丙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680C8-37D0-4F8F-96DC-BB927B0C9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1e86e045a49fd"/>
          <a:stretch xmlns:a="http://schemas.openxmlformats.org/drawingml/2006/main"/>
        </p:blipFill>
        <p:spPr>
          <a:xfrm xmlns:a="http://schemas.openxmlformats.org/drawingml/2006/main">
            <a:off x="881063" y="2028825"/>
            <a:ext cx="10429875" cy="3476625"/>
          </a:xfrm>
          <a:prstGeom xmlns:a="http://schemas.openxmlformats.org/drawingml/2006/main" prst="rect">
            <a:avLst/>
          </a:prstGeom>
        </p:spPr>
      </p:pic>
      <p:sp>
        <p:nvSpPr>
          <p:cNvPr id="10" name="文字-9-0">
            <a:extLst xmlns:a="http://schemas.openxmlformats.org/drawingml/2006/main">
              <a:ext uri="{FF2B5EF4-FFF2-40B4-BE49-F238E27FC236}">
                <a16:creationId xmlns:a16="http://schemas.microsoft.com/office/drawing/2014/main" id="{AB624567-8416-4222-9227-D64F8AB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提示：白線有沒有跨過立體結構？　揭曉：乙的白線延伸到方塊上。</a:t>
            </a:r>
          </a:p>
        </p:txBody>
      </p:sp>
      <p:sp>
        <p:nvSpPr>
          <p:cNvPr id="11" name="文字-10-0">
            <a:extLst xmlns:a="http://schemas.openxmlformats.org/drawingml/2006/main">
              <a:ext uri="{FF2B5EF4-FFF2-40B4-BE49-F238E27FC236}">
                <a16:creationId xmlns:a16="http://schemas.microsoft.com/office/drawing/2014/main" id="{7358BB93-41D1-4B5A-9B29-57355AA7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發現存成卡片。首次完成選入門配件，完成主題後再選新造型。</a:t>
            </a:r>
          </a:p>
        </p:txBody>
      </p:sp>
    </p:spTree>
    <p:extLst>
      <p:ext uri="{BB962C8B-B14F-4D97-AF65-F5344CB8AC3E}">
        <p14:creationId xmlns:p14="http://schemas.microsoft.com/office/powerpoint/2010/main" val="2116350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文字-0-0">
            <a:extLst xmlns:a="http://schemas.openxmlformats.org/drawingml/2006/main">
              <a:ext uri="{FF2B5EF4-FFF2-40B4-BE49-F238E27FC236}">
                <a16:creationId xmlns:a16="http://schemas.microsoft.com/office/drawing/2014/main" id="{18C04E63-3B63-4F57-BB24-D7FF85F4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朋友加入後，兩人都有想做的事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6F130F58-E54E-40A7-AD49-A4CE4CD0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預期體驗，尚未實測；需核對展覽開放、共同時段與花費。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A28E3FF5-A2F1-43D0-84D0-96B77BCD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D27199C8-CCA5-47AC-B1A1-6E3DBD97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原本的選擇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3E6B8966-C0C1-4238-B0F7-72D6DCC2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我喜歡線條與空間，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6823AFD9-90D4-4702-ABA9-433E4C68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2268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想去藍晒圖拍白線。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DF7565F2-E711-41D2-8811-0EA021CC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朋友加入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4C6F295F-F330-4BEA-B4E6-1D21416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43175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朋友想看展，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145E8965-C758-4E5E-8AB1-47FBBBCF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2268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一起確認時間與花費。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891DE62B-16C7-4345-925E-80A3B97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新的共同候選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ECDC65DD-1A78-41B1-A849-C7C662F1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臺南國家美術館：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5CF282DE-C7BA-43EF-9FD6-8E71D453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2268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我拍空間，朋友看展。</a:t>
            </a:r>
          </a:p>
        </p:txBody>
      </p:sp>
      <p:sp>
        <p:nvSpPr>
          <p:cNvPr id="13" name="文字-9-0">
            <a:extLst xmlns:a="http://schemas.openxmlformats.org/drawingml/2006/main">
              <a:ext uri="{FF2B5EF4-FFF2-40B4-BE49-F238E27FC236}">
                <a16:creationId xmlns:a16="http://schemas.microsoft.com/office/drawing/2014/main" id="{960107E4-E05A-4060-B496-909FDB8E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保留原本的攝影興趣，</a:t>
            </a:r>
          </a:p>
        </p:txBody>
      </p:sp>
      <p:sp>
        <p:nvSpPr>
          <p:cNvPr id="14" name="文字-9-1">
            <a:extLst xmlns:a="http://schemas.openxmlformats.org/drawingml/2006/main">
              <a:ext uri="{FF2B5EF4-FFF2-40B4-BE49-F238E27FC236}">
                <a16:creationId xmlns:a16="http://schemas.microsoft.com/office/drawing/2014/main" id="{9FEAC913-19B9-4C64-8DB0-4BE4DA41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7708"/>
            <a:ext cx="10972800" cy="515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也加入朋友想做的事。</a:t>
            </a:r>
          </a:p>
        </p:txBody>
      </p:sp>
      <p:sp>
        <p:nvSpPr>
          <p:cNvPr id="15" name="文字-10-0">
            <a:extLst xmlns:a="http://schemas.openxmlformats.org/drawingml/2006/main">
              <a:ext uri="{FF2B5EF4-FFF2-40B4-BE49-F238E27FC236}">
                <a16:creationId xmlns:a16="http://schemas.microsoft.com/office/drawing/2014/main" id="{2D91DAB5-0653-47CC-96E4-EB168A2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另一種接續：玩過藍晒圖題目後親自到訪，</a:t>
            </a:r>
          </a:p>
        </p:txBody>
      </p:sp>
      <p:sp>
        <p:nvSpPr>
          <p:cNvPr id="16" name="文字-10-1">
            <a:extLst xmlns:a="http://schemas.openxmlformats.org/drawingml/2006/main">
              <a:ext uri="{FF2B5EF4-FFF2-40B4-BE49-F238E27FC236}">
                <a16:creationId xmlns:a16="http://schemas.microsoft.com/office/drawing/2014/main" id="{90D9F2B7-EE69-47B8-9F75-51B49E41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2628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觀察同一段線條，再把自己的照片加回發現卡。</a:t>
            </a:r>
          </a:p>
        </p:txBody>
      </p:sp>
    </p:spTree>
    <p:extLst>
      <p:ext uri="{BB962C8B-B14F-4D97-AF65-F5344CB8AC3E}">
        <p14:creationId xmlns:p14="http://schemas.microsoft.com/office/powerpoint/2010/main" val="1223266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文字-0-0">
            <a:extLst xmlns:a="http://schemas.openxmlformats.org/drawingml/2006/main">
              <a:ext uri="{FF2B5EF4-FFF2-40B4-BE49-F238E27FC236}">
                <a16:creationId xmlns:a16="http://schemas.microsoft.com/office/drawing/2014/main" id="{031D16E8-0C3E-4EF0-BFD0-0D53253B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下次接著發現，也看得見自己的成長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C55C2E11-D2B3-4414-9CEE-5D189E1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收藏與角色為概念插畫。成長機制、內容供給與回訪效果待驗證。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A7621812-1EE9-406E-B4D2-9D03DA74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08C0E-95D9-4F50-9B49-C8546B714A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e87d716d24102"/>
          <a:stretch xmlns:a="http://schemas.openxmlformats.org/drawingml/2006/main"/>
        </p:blipFill>
        <p:spPr>
          <a:xfrm xmlns:a="http://schemas.openxmlformats.org/drawingml/2006/main">
            <a:off x="1209675" y="1209675"/>
            <a:ext cx="9772650" cy="3257550"/>
          </a:xfrm>
          <a:prstGeom xmlns:a="http://schemas.openxmlformats.org/drawingml/2006/main" prst="rect">
            <a:avLst/>
          </a:prstGeom>
        </p:spPr>
      </p:pic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3A05BA50-0DE5-44A7-A7FF-2A8DB444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主題蒐集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947F93BF-1953-4312-B5B7-CDE1050F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線條、字形等發現，</a:t>
            </a:r>
          </a:p>
        </p:txBody>
      </p:sp>
      <p:sp>
        <p:nvSpPr>
          <p:cNvPr id="7" name="文字-5-1">
            <a:extLst xmlns:a="http://schemas.openxmlformats.org/drawingml/2006/main">
              <a:ext uri="{FF2B5EF4-FFF2-40B4-BE49-F238E27FC236}">
                <a16:creationId xmlns:a16="http://schemas.microsoft.com/office/drawing/2014/main" id="{16CF5247-03FA-4AEC-ABA4-6CEDAD13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3988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收進自己選的街角觀察主題。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724B71B4-3515-4744-B208-4448B993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86275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寵物養成</a:t>
            </a:r>
          </a:p>
        </p:txBody>
      </p:sp>
      <p:sp>
        <p:nvSpPr>
          <p:cNvPr id="9" name="文字-7-0">
            <a:extLst xmlns:a="http://schemas.openxmlformats.org/drawingml/2006/main">
              <a:ext uri="{FF2B5EF4-FFF2-40B4-BE49-F238E27FC236}">
                <a16:creationId xmlns:a16="http://schemas.microsoft.com/office/drawing/2014/main" id="{E169DF24-D50E-4657-8066-901BEB6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完成主題選新造型。</a:t>
            </a:r>
          </a:p>
        </p:txBody>
      </p:sp>
      <p:sp>
        <p:nvSpPr>
          <p:cNvPr id="10" name="文字-7-1">
            <a:extLst xmlns:a="http://schemas.openxmlformats.org/drawingml/2006/main">
              <a:ext uri="{FF2B5EF4-FFF2-40B4-BE49-F238E27FC236}">
                <a16:creationId xmlns:a16="http://schemas.microsoft.com/office/drawing/2014/main" id="{166D7076-0B94-45A7-B10C-B7EFE4E1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3988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累積經驗，增加動作與表情。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EB7B99D9-7BD7-4E34-9A30-EC4219E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86275"/>
            <a:ext cx="338137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個人紀念</a:t>
            </a:r>
          </a:p>
        </p:txBody>
      </p:sp>
      <p:sp>
        <p:nvSpPr>
          <p:cNvPr id="12" name="文字-9-0">
            <a:extLst xmlns:a="http://schemas.openxmlformats.org/drawingml/2006/main">
              <a:ext uri="{FF2B5EF4-FFF2-40B4-BE49-F238E27FC236}">
                <a16:creationId xmlns:a16="http://schemas.microsoft.com/office/drawing/2014/main" id="{9E2CE278-9B49-470D-B021-ED6F658D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2442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到訪照片加回發現卡，</a:t>
            </a:r>
          </a:p>
        </p:txBody>
      </p:sp>
      <p:sp>
        <p:nvSpPr>
          <p:cNvPr id="13" name="文字-9-1">
            <a:extLst xmlns:a="http://schemas.openxmlformats.org/drawingml/2006/main">
              <a:ext uri="{FF2B5EF4-FFF2-40B4-BE49-F238E27FC236}">
                <a16:creationId xmlns:a16="http://schemas.microsoft.com/office/drawing/2014/main" id="{97CD5980-DC4B-4A3A-B167-69E00B7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3988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配件也能回看取得的來由。</a:t>
            </a:r>
          </a:p>
        </p:txBody>
      </p:sp>
      <p:sp>
        <p:nvSpPr>
          <p:cNvPr id="14" name="文字-10-0">
            <a:extLst xmlns:a="http://schemas.openxmlformats.org/drawingml/2006/main">
              <a:ext uri="{FF2B5EF4-FFF2-40B4-BE49-F238E27FC236}">
                <a16:creationId xmlns:a16="http://schemas.microsoft.com/office/drawing/2014/main" id="{18B52A46-9BFD-48DA-A639-8B633D32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下次也能找新去處、看收藏地點的新邀約，或與同好再約。</a:t>
            </a:r>
          </a:p>
        </p:txBody>
      </p:sp>
      <p:sp>
        <p:nvSpPr>
          <p:cNvPr id="15" name="文字-10-1">
            <a:extLst xmlns:a="http://schemas.openxmlformats.org/drawingml/2006/main">
              <a:ext uri="{FF2B5EF4-FFF2-40B4-BE49-F238E27FC236}">
                <a16:creationId xmlns:a16="http://schemas.microsoft.com/office/drawing/2014/main" id="{057D7142-E670-476C-A7EB-459EB7B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4563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中斷後，已有紀錄、配件與進度都保留。</a:t>
            </a:r>
          </a:p>
        </p:txBody>
      </p:sp>
    </p:spTree>
    <p:extLst>
      <p:ext uri="{BB962C8B-B14F-4D97-AF65-F5344CB8AC3E}">
        <p14:creationId xmlns:p14="http://schemas.microsoft.com/office/powerpoint/2010/main" val="1648269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字-0-0">
            <a:extLst xmlns:a="http://schemas.openxmlformats.org/drawingml/2006/main">
              <a:ext uri="{FF2B5EF4-FFF2-40B4-BE49-F238E27FC236}">
                <a16:creationId xmlns:a16="http://schemas.microsoft.com/office/drawing/2014/main" id="{AD9D7E73-0669-4E79-AD89-B927088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AI把照片細節，變成有理由的推薦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A80E5030-978C-493D-9CE4-41CD3220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預期輸出，尚未模型測試。25分鐘為場內停留，交通另計。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B603B91A-1145-4470-A0E0-D3B20937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4C383325-798C-4E96-8C61-76992F5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71462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輸入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FFB55D7C-3909-40DA-B27C-3B889C9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00200"/>
            <a:ext cx="782955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一張喜歡的城市照片，或直接描述想做的事。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C10C1FD9-DC92-442B-94C3-F76B7F1E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71462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理解與確認</a:t>
            </a:r>
          </a:p>
        </p:txBody>
      </p:sp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E4AEC669-52E4-457B-91CD-56383B79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90800"/>
            <a:ext cx="782955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AI提出線條、空間、色彩等可能喜好，由本人確認。</a:t>
            </a:r>
          </a:p>
        </p:txBody>
      </p:sp>
      <p:sp>
        <p:nvSpPr>
          <p:cNvPr id="8" name="文字-7-0">
            <a:extLst xmlns:a="http://schemas.openxmlformats.org/drawingml/2006/main">
              <a:ext uri="{FF2B5EF4-FFF2-40B4-BE49-F238E27FC236}">
                <a16:creationId xmlns:a16="http://schemas.microsoft.com/office/drawing/2014/main" id="{0E44F382-4A3C-498D-BCFC-3E14ACA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714625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推薦與理由</a:t>
            </a:r>
          </a:p>
        </p:txBody>
      </p:sp>
      <p:sp>
        <p:nvSpPr>
          <p:cNvPr id="9" name="文字-8-0">
            <a:extLst xmlns:a="http://schemas.openxmlformats.org/drawingml/2006/main">
              <a:ext uri="{FF2B5EF4-FFF2-40B4-BE49-F238E27FC236}">
                <a16:creationId xmlns:a16="http://schemas.microsoft.com/office/drawing/2014/main" id="{329A4F3A-03C5-4DD4-8E2B-D0F6B5C7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81400"/>
            <a:ext cx="782955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喜歡線條與空間感，可試藍晒圖：白線跨過牆面與立體結構，能</a:t>
            </a:r>
          </a:p>
        </p:txBody>
      </p:sp>
      <p:sp>
        <p:nvSpPr>
          <p:cNvPr id="10" name="文字-8-1">
            <a:extLst xmlns:a="http://schemas.openxmlformats.org/drawingml/2006/main">
              <a:ext uri="{FF2B5EF4-FFF2-40B4-BE49-F238E27FC236}">
                <a16:creationId xmlns:a16="http://schemas.microsoft.com/office/drawing/2014/main" id="{ED012AEC-90A5-48C2-B63F-434A6F81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40493"/>
            <a:ext cx="782955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換角度拍出自己的構圖。</a:t>
            </a:r>
          </a:p>
        </p:txBody>
      </p:sp>
      <p:sp>
        <p:nvSpPr>
          <p:cNvPr id="11" name="文字-9-0">
            <a:extLst xmlns:a="http://schemas.openxmlformats.org/drawingml/2006/main">
              <a:ext uri="{FF2B5EF4-FFF2-40B4-BE49-F238E27FC236}">
                <a16:creationId xmlns:a16="http://schemas.microsoft.com/office/drawing/2014/main" id="{1776B4A8-52B1-4E13-BF81-65BCB3EA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時間改變，內容也跟著調整</a:t>
            </a:r>
          </a:p>
        </p:txBody>
      </p:sp>
      <p:sp>
        <p:nvSpPr>
          <p:cNvPr id="12" name="文字-10-0">
            <a:extLst xmlns:a="http://schemas.openxmlformats.org/drawingml/2006/main">
              <a:ext uri="{FF2B5EF4-FFF2-40B4-BE49-F238E27FC236}">
                <a16:creationId xmlns:a16="http://schemas.microsoft.com/office/drawing/2014/main" id="{6DC996E7-7690-4A0B-9D30-F3C77E9C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一小時：拍兩組角度，再逛開放的工作室。</a:t>
            </a:r>
          </a:p>
        </p:txBody>
      </p:sp>
      <p:sp>
        <p:nvSpPr>
          <p:cNvPr id="13" name="文字-10-1">
            <a:extLst xmlns:a="http://schemas.openxmlformats.org/drawingml/2006/main">
              <a:ext uri="{FF2B5EF4-FFF2-40B4-BE49-F238E27FC236}">
                <a16:creationId xmlns:a16="http://schemas.microsoft.com/office/drawing/2014/main" id="{22CB1CB2-CE23-4969-A180-D83F2924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5003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25分鐘：保留最想拍的一組，取消第二組拍攝與逛店。</a:t>
            </a:r>
          </a:p>
        </p:txBody>
      </p:sp>
    </p:spTree>
    <p:extLst>
      <p:ext uri="{BB962C8B-B14F-4D97-AF65-F5344CB8AC3E}">
        <p14:creationId xmlns:p14="http://schemas.microsoft.com/office/powerpoint/2010/main" val="1106733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文字-0-0">
            <a:extLst xmlns:a="http://schemas.openxmlformats.org/drawingml/2006/main">
              <a:ext uri="{FF2B5EF4-FFF2-40B4-BE49-F238E27FC236}">
                <a16:creationId xmlns:a16="http://schemas.microsoft.com/office/drawing/2014/main" id="{A60B61D1-DF7C-4942-80C0-54557290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地方資料、AI建議與條件核對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B2E36A2B-F914-49D0-9F63-927A2C9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候選技術，尚未介接。正式選型依品質、延遲與成本測試決定。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7E1920CF-FCAF-4B05-96D8-A60FE49E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5B6033BE-0EF6-4519-8419-1C6372BF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05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本人需求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B58F0D80-326E-4649-8416-9790A42E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圖片、文字、確認的喜好，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A8374618-399A-4C40-B940-A8603172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110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以及這次的時間與預算。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6E389B9B-6C54-449F-BF9E-C63D4A6A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5105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地方與活動資料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CD26A562-5602-460D-A82F-C82A4D2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核對地點特色、開放資訊、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8AE1401A-C181-4946-879E-419A092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4110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活動費用與可參加條件。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1BD0CB67-5D04-4AED-9050-7E616B9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105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AI提出候選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F8040CFD-A55F-4A35-BD1E-635E0D0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整理地點、推薦理由、來源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9CA07463-B139-4855-A5CE-2B706951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2435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與待確認條件。</a:t>
            </a:r>
          </a:p>
        </p:txBody>
      </p:sp>
      <p:sp>
        <p:nvSpPr>
          <p:cNvPr id="13" name="文字-9-0">
            <a:extLst xmlns:a="http://schemas.openxmlformats.org/drawingml/2006/main">
              <a:ext uri="{FF2B5EF4-FFF2-40B4-BE49-F238E27FC236}">
                <a16:creationId xmlns:a16="http://schemas.microsoft.com/office/drawing/2014/main" id="{73F6F105-8AD0-4936-A0D1-528A494B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51054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規則核對與本人選擇</a:t>
            </a:r>
          </a:p>
        </p:txBody>
      </p:sp>
      <p:sp>
        <p:nvSpPr>
          <p:cNvPr id="14" name="文字-10-0">
            <a:extLst xmlns:a="http://schemas.openxmlformats.org/drawingml/2006/main">
              <a:ext uri="{FF2B5EF4-FFF2-40B4-BE49-F238E27FC236}">
                <a16:creationId xmlns:a16="http://schemas.microsoft.com/office/drawing/2014/main" id="{816A125D-8610-468B-BDFA-8A7AD93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查時間、費用、名額和路程。</a:t>
            </a:r>
          </a:p>
        </p:txBody>
      </p:sp>
      <p:sp>
        <p:nvSpPr>
          <p:cNvPr id="15" name="文字-10-1">
            <a:extLst xmlns:a="http://schemas.openxmlformats.org/drawingml/2006/main">
              <a:ext uri="{FF2B5EF4-FFF2-40B4-BE49-F238E27FC236}">
                <a16:creationId xmlns:a16="http://schemas.microsoft.com/office/drawing/2014/main" id="{112A579B-21D3-48F5-B4DF-58DA1597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2435"/>
            <a:ext cx="51054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有衝突就說清楚，再由本人決定。</a:t>
            </a:r>
          </a:p>
        </p:txBody>
      </p:sp>
      <p:sp>
        <p:nvSpPr>
          <p:cNvPr id="16" name="文字-11-0">
            <a:extLst xmlns:a="http://schemas.openxmlformats.org/drawingml/2006/main">
              <a:ext uri="{FF2B5EF4-FFF2-40B4-BE49-F238E27FC236}">
                <a16:creationId xmlns:a16="http://schemas.microsoft.com/office/drawing/2014/main" id="{7ED14B3F-B023-417D-947D-35333B19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模型候選：Gemini 3.8 Flash</a:t>
            </a:r>
          </a:p>
        </p:txBody>
      </p:sp>
      <p:sp>
        <p:nvSpPr>
          <p:cNvPr id="17" name="文字-12-0">
            <a:extLst xmlns:a="http://schemas.openxmlformats.org/drawingml/2006/main">
              <a:ext uri="{FF2B5EF4-FFF2-40B4-BE49-F238E27FC236}">
                <a16:creationId xmlns:a16="http://schemas.microsoft.com/office/drawing/2014/main" id="{DC884E27-32A7-45F2-9679-F7A5A8F9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用圖片與文字理解需求，將結果分欄輸出，便於逐項核對。</a:t>
            </a:r>
          </a:p>
        </p:txBody>
      </p:sp>
    </p:spTree>
    <p:extLst>
      <p:ext uri="{BB962C8B-B14F-4D97-AF65-F5344CB8AC3E}">
        <p14:creationId xmlns:p14="http://schemas.microsoft.com/office/powerpoint/2010/main" val="3820322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文字-0-0">
            <a:extLst xmlns:a="http://schemas.openxmlformats.org/drawingml/2006/main">
              <a:ext uri="{FF2B5EF4-FFF2-40B4-BE49-F238E27FC236}">
                <a16:creationId xmlns:a16="http://schemas.microsoft.com/office/drawing/2014/main" id="{AEA442F5-3B0D-45E4-B132-3EFA1057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同一份喜好，接到共同安排與下次探索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B520A941-6488-4189-B3E6-909B52C3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設計對照，尚未完成同條件的實際服務比較。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13281E19-546A-48D9-9417-85A1AF1F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050CEA32-1F57-46A3-97A7-052EE0D9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1054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分開安排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5C778595-E910-43BC-9FB0-FC2F5369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054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各自找攝影地點和展覽，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6ED7247E-4973-4F1B-8999-59DF534D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6058"/>
            <a:ext cx="51054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再逐一核對時間、費用</a:t>
            </a:r>
          </a:p>
        </p:txBody>
      </p:sp>
      <p:sp>
        <p:nvSpPr>
          <p:cNvPr id="7" name="文字-4-2">
            <a:extLst xmlns:a="http://schemas.openxmlformats.org/drawingml/2006/main">
              <a:ext uri="{FF2B5EF4-FFF2-40B4-BE49-F238E27FC236}">
                <a16:creationId xmlns:a16="http://schemas.microsoft.com/office/drawing/2014/main" id="{612BCBBB-B609-4625-B842-C64F6FDF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9915"/>
            <a:ext cx="51054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與雙方喜好。</a:t>
            </a:r>
          </a:p>
        </p:txBody>
      </p:sp>
      <p:sp>
        <p:nvSpPr>
          <p:cNvPr id="8" name="文字-5-0">
            <a:extLst xmlns:a="http://schemas.openxmlformats.org/drawingml/2006/main">
              <a:ext uri="{FF2B5EF4-FFF2-40B4-BE49-F238E27FC236}">
                <a16:creationId xmlns:a16="http://schemas.microsoft.com/office/drawing/2014/main" id="{9158D11A-06E1-48DF-BC3B-7820CF68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51054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本案的共同安排</a:t>
            </a:r>
          </a:p>
        </p:txBody>
      </p:sp>
      <p:sp>
        <p:nvSpPr>
          <p:cNvPr id="9" name="文字-6-0">
            <a:extLst xmlns:a="http://schemas.openxmlformats.org/drawingml/2006/main">
              <a:ext uri="{FF2B5EF4-FFF2-40B4-BE49-F238E27FC236}">
                <a16:creationId xmlns:a16="http://schemas.microsoft.com/office/drawing/2014/main" id="{CE6AB805-8DF2-4EDE-941F-183A51E1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51054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沿用雙方願意分享的條件，</a:t>
            </a:r>
          </a:p>
        </p:txBody>
      </p:sp>
      <p:sp>
        <p:nvSpPr>
          <p:cNvPr id="10" name="文字-6-1">
            <a:extLst xmlns:a="http://schemas.openxmlformats.org/drawingml/2006/main">
              <a:ext uri="{FF2B5EF4-FFF2-40B4-BE49-F238E27FC236}">
                <a16:creationId xmlns:a16="http://schemas.microsoft.com/office/drawing/2014/main" id="{081FFE2D-8245-44D6-A335-368F4DDC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6058"/>
            <a:ext cx="51054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一起比較地點，</a:t>
            </a:r>
          </a:p>
        </p:txBody>
      </p:sp>
      <p:sp>
        <p:nvSpPr>
          <p:cNvPr id="11" name="文字-6-2">
            <a:extLst xmlns:a="http://schemas.openxmlformats.org/drawingml/2006/main">
              <a:ext uri="{FF2B5EF4-FFF2-40B4-BE49-F238E27FC236}">
                <a16:creationId xmlns:a16="http://schemas.microsoft.com/office/drawing/2014/main" id="{8090FC0D-659B-4FBB-B01C-6DE05178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9915"/>
            <a:ext cx="51054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說清各人到了能做什麼。</a:t>
            </a:r>
          </a:p>
        </p:txBody>
      </p:sp>
      <p:sp>
        <p:nvSpPr>
          <p:cNvPr id="12" name="文字-7-0">
            <a:extLst xmlns:a="http://schemas.openxmlformats.org/drawingml/2006/main">
              <a:ext uri="{FF2B5EF4-FFF2-40B4-BE49-F238E27FC236}">
                <a16:creationId xmlns:a16="http://schemas.microsoft.com/office/drawing/2014/main" id="{A02C1AE8-41E1-4BF0-BF96-DD201C2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414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這次確認的興趣，下次繼續使用</a:t>
            </a:r>
          </a:p>
        </p:txBody>
      </p:sp>
      <p:sp>
        <p:nvSpPr>
          <p:cNvPr id="13" name="文字-8-0">
            <a:extLst xmlns:a="http://schemas.openxmlformats.org/drawingml/2006/main">
              <a:ext uri="{FF2B5EF4-FFF2-40B4-BE49-F238E27FC236}">
                <a16:creationId xmlns:a16="http://schemas.microsoft.com/office/drawing/2014/main" id="{5F32F743-2648-45A6-BCEF-3554108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本人表示更喜歡街區攝影後，下次可找街區觀察，</a:t>
            </a:r>
          </a:p>
        </p:txBody>
      </p:sp>
      <p:sp>
        <p:nvSpPr>
          <p:cNvPr id="14" name="文字-8-1">
            <a:extLst xmlns:a="http://schemas.openxmlformats.org/drawingml/2006/main">
              <a:ext uri="{FF2B5EF4-FFF2-40B4-BE49-F238E27FC236}">
                <a16:creationId xmlns:a16="http://schemas.microsoft.com/office/drawing/2014/main" id="{D0A42DAB-55D6-4941-9DBE-7827B9C6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3043"/>
            <a:ext cx="109728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也能選相關同好邀約。</a:t>
            </a:r>
          </a:p>
        </p:txBody>
      </p:sp>
      <p:sp>
        <p:nvSpPr>
          <p:cNvPr id="15" name="文字-9-0">
            <a:extLst xmlns:a="http://schemas.openxmlformats.org/drawingml/2006/main">
              <a:ext uri="{FF2B5EF4-FFF2-40B4-BE49-F238E27FC236}">
                <a16:creationId xmlns:a16="http://schemas.microsoft.com/office/drawing/2014/main" id="{49EBC3D9-DFBD-4562-A350-946AEEA7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由本人決定保留哪些喜好，不把一次同行的限制當成長期興趣。</a:t>
            </a:r>
          </a:p>
        </p:txBody>
      </p:sp>
    </p:spTree>
    <p:extLst>
      <p:ext uri="{BB962C8B-B14F-4D97-AF65-F5344CB8AC3E}">
        <p14:creationId xmlns:p14="http://schemas.microsoft.com/office/powerpoint/2010/main" val="2140173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文字-0-0">
            <a:extLst xmlns:a="http://schemas.openxmlformats.org/drawingml/2006/main">
              <a:ext uri="{FF2B5EF4-FFF2-40B4-BE49-F238E27FC236}">
                <a16:creationId xmlns:a16="http://schemas.microsoft.com/office/drawing/2014/main" id="{CB4B6190-44D5-4848-825C-1DA43D12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把選好的活動接到交通與地方合作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64E9BD6F-6200-44B0-884E-50C32BDA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服務與合作提案；介接、使用成效與收益待驗證。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066F271B-F720-440E-8EF1-B8179F8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105628F7-0A9B-4135-A80E-ED923FAD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65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沿用目的地、時間與同行安排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7EEB5D90-8968-4EB2-B5B0-4302E06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看路線、等待和每人交通費，再選各自前往或同車。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305E81D4-0BA6-4D26-9913-C4CE4DBD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381375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使用者</a:t>
            </a:r>
          </a:p>
        </p:txBody>
      </p:sp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0501F57D-26C0-47A1-968D-98D0AB3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減少重填資訊</a:t>
            </a:r>
          </a:p>
        </p:txBody>
      </p:sp>
      <p:sp>
        <p:nvSpPr>
          <p:cNvPr id="8" name="文字-6-1">
            <a:extLst xmlns:a="http://schemas.openxmlformats.org/drawingml/2006/main">
              <a:ext uri="{FF2B5EF4-FFF2-40B4-BE49-F238E27FC236}">
                <a16:creationId xmlns:a16="http://schemas.microsoft.com/office/drawing/2014/main" id="{E121386A-8A14-4D9F-A584-199E750A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與反覆協調。</a:t>
            </a:r>
          </a:p>
        </p:txBody>
      </p:sp>
      <p:sp>
        <p:nvSpPr>
          <p:cNvPr id="9" name="文字-7-0">
            <a:extLst xmlns:a="http://schemas.openxmlformats.org/drawingml/2006/main">
              <a:ext uri="{FF2B5EF4-FFF2-40B4-BE49-F238E27FC236}">
                <a16:creationId xmlns:a16="http://schemas.microsoft.com/office/drawing/2014/main" id="{181A9855-6222-4DBC-84A9-33E4A54C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1875"/>
            <a:ext cx="3381375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活動方</a:t>
            </a:r>
          </a:p>
        </p:txBody>
      </p:sp>
      <p:sp>
        <p:nvSpPr>
          <p:cNvPr id="10" name="文字-8-0">
            <a:extLst xmlns:a="http://schemas.openxmlformats.org/drawingml/2006/main">
              <a:ext uri="{FF2B5EF4-FFF2-40B4-BE49-F238E27FC236}">
                <a16:creationId xmlns:a16="http://schemas.microsoft.com/office/drawing/2014/main" id="{FAE12C30-EC43-4BAC-BC4C-93233AC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向有參加意願的人</a:t>
            </a:r>
          </a:p>
        </p:txBody>
      </p:sp>
      <p:sp>
        <p:nvSpPr>
          <p:cNvPr id="11" name="文字-8-1">
            <a:extLst xmlns:a="http://schemas.openxmlformats.org/drawingml/2006/main">
              <a:ext uri="{FF2B5EF4-FFF2-40B4-BE49-F238E27FC236}">
                <a16:creationId xmlns:a16="http://schemas.microsoft.com/office/drawing/2014/main" id="{48F97F23-2ED4-4E0F-B826-696A18A4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43425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提供體驗或多人方案。</a:t>
            </a:r>
          </a:p>
        </p:txBody>
      </p:sp>
      <p:sp>
        <p:nvSpPr>
          <p:cNvPr id="12" name="文字-9-0">
            <a:extLst xmlns:a="http://schemas.openxmlformats.org/drawingml/2006/main">
              <a:ext uri="{FF2B5EF4-FFF2-40B4-BE49-F238E27FC236}">
                <a16:creationId xmlns:a16="http://schemas.microsoft.com/office/drawing/2014/main" id="{3807F5C4-C8C4-4EDD-9979-987A468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3381375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yoxi</a:t>
            </a:r>
          </a:p>
        </p:txBody>
      </p:sp>
      <p:sp>
        <p:nvSpPr>
          <p:cNvPr id="13" name="文字-10-0">
            <a:extLst xmlns:a="http://schemas.openxmlformats.org/drawingml/2006/main">
              <a:ext uri="{FF2B5EF4-FFF2-40B4-BE49-F238E27FC236}">
                <a16:creationId xmlns:a16="http://schemas.microsoft.com/office/drawing/2014/main" id="{B75BA2CF-C4E4-4BA3-8654-4CB3BAC7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參與出門計畫，</a:t>
            </a:r>
          </a:p>
        </p:txBody>
      </p:sp>
      <p:sp>
        <p:nvSpPr>
          <p:cNvPr id="14" name="文字-10-1">
            <a:extLst xmlns:a="http://schemas.openxmlformats.org/drawingml/2006/main">
              <a:ext uri="{FF2B5EF4-FFF2-40B4-BE49-F238E27FC236}">
                <a16:creationId xmlns:a16="http://schemas.microsoft.com/office/drawing/2014/main" id="{D94167A0-F6E7-42CC-8461-BBBF4C17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43425"/>
            <a:ext cx="3381375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接著提供交通選擇。</a:t>
            </a:r>
          </a:p>
        </p:txBody>
      </p:sp>
      <p:sp>
        <p:nvSpPr>
          <p:cNvPr id="15" name="文字-11-0">
            <a:extLst xmlns:a="http://schemas.openxmlformats.org/drawingml/2006/main">
              <a:ext uri="{FF2B5EF4-FFF2-40B4-BE49-F238E27FC236}">
                <a16:creationId xmlns:a16="http://schemas.microsoft.com/office/drawing/2014/main" id="{AC492F99-2D81-4C6D-A84F-C1F98D04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共同參加與同車分開。第一版一團一目的地，可有不同上車點。</a:t>
            </a:r>
          </a:p>
        </p:txBody>
      </p:sp>
    </p:spTree>
    <p:extLst>
      <p:ext uri="{BB962C8B-B14F-4D97-AF65-F5344CB8AC3E}">
        <p14:creationId xmlns:p14="http://schemas.microsoft.com/office/powerpoint/2010/main" val="1974214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文字-0-0">
            <a:extLst xmlns:a="http://schemas.openxmlformats.org/drawingml/2006/main">
              <a:ext uri="{FF2B5EF4-FFF2-40B4-BE49-F238E27FC236}">
                <a16:creationId xmlns:a16="http://schemas.microsoft.com/office/drawing/2014/main" id="{8B5F499C-E4CB-4BB9-B2A3-CBD30060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先在能核對內容與活動的地區試辦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16DAAFBD-19A2-442E-A7CA-A8B42695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規劃估算。試辦城市、素材、活動方與團隊工時待確認。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C4E0CAF4-94F3-4BA3-B662-A43951F0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DED3B084-F1B5-4F2E-9462-9B369ECB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地方要說得出可以做什麼，活動要看得出多人參加的好處。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BB5BC3F5-2AD0-42FF-99EB-B133068B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51054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先備好內容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6570BF5B-6182-4F77-A66D-51D981AF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30筆地方與活動資料</a:t>
            </a:r>
          </a:p>
        </p:txBody>
      </p:sp>
      <p:sp>
        <p:nvSpPr>
          <p:cNvPr id="7" name="文字-5-1">
            <a:extLst xmlns:a="http://schemas.openxmlformats.org/drawingml/2006/main">
              <a:ext uri="{FF2B5EF4-FFF2-40B4-BE49-F238E27FC236}">
                <a16:creationId xmlns:a16="http://schemas.microsoft.com/office/drawing/2014/main" id="{62D5747B-2AEA-476A-834C-29402DAF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0393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3個主題、12道挑戰</a:t>
            </a:r>
          </a:p>
        </p:txBody>
      </p:sp>
      <p:sp>
        <p:nvSpPr>
          <p:cNvPr id="8" name="文字-5-2">
            <a:extLst xmlns:a="http://schemas.openxmlformats.org/drawingml/2006/main">
              <a:ext uri="{FF2B5EF4-FFF2-40B4-BE49-F238E27FC236}">
                <a16:creationId xmlns:a16="http://schemas.microsoft.com/office/drawing/2014/main" id="{22455EB0-E231-4DA1-AC02-F7C008EA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9485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文字-5-3">
            <a:extLst xmlns:a="http://schemas.openxmlformats.org/drawingml/2006/main">
              <a:ext uri="{FF2B5EF4-FFF2-40B4-BE49-F238E27FC236}">
                <a16:creationId xmlns:a16="http://schemas.microsoft.com/office/drawing/2014/main" id="{29275DAA-9CB7-44A5-97A0-BDA2CE5E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578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核對照片、線索、答案與開放資訊。</a:t>
            </a:r>
          </a:p>
        </p:txBody>
      </p:sp>
      <p:sp>
        <p:nvSpPr>
          <p:cNvPr id="10" name="文字-6-0">
            <a:extLst xmlns:a="http://schemas.openxmlformats.org/drawingml/2006/main">
              <a:ext uri="{FF2B5EF4-FFF2-40B4-BE49-F238E27FC236}">
                <a16:creationId xmlns:a16="http://schemas.microsoft.com/office/drawing/2014/main" id="{A92BF4CE-89E0-42A9-A160-DE2B7D27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62175"/>
            <a:ext cx="51054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再安排試用</a:t>
            </a:r>
          </a:p>
        </p:txBody>
      </p:sp>
      <p:sp>
        <p:nvSpPr>
          <p:cNvPr id="11" name="文字-7-0">
            <a:extLst xmlns:a="http://schemas.openxmlformats.org/drawingml/2006/main">
              <a:ext uri="{FF2B5EF4-FFF2-40B4-BE49-F238E27FC236}">
                <a16:creationId xmlns:a16="http://schemas.microsoft.com/office/drawing/2014/main" id="{9D8D3A60-507C-48A4-A64A-8106981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20位試用者</a:t>
            </a:r>
          </a:p>
        </p:txBody>
      </p:sp>
      <p:sp>
        <p:nvSpPr>
          <p:cNvPr id="12" name="文字-7-1">
            <a:extLst xmlns:a="http://schemas.openxmlformats.org/drawingml/2006/main">
              <a:ext uri="{FF2B5EF4-FFF2-40B4-BE49-F238E27FC236}">
                <a16:creationId xmlns:a16="http://schemas.microsoft.com/office/drawing/2014/main" id="{FFB09BBE-558F-4524-915D-739CD23B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0393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3場有人主持的試辦活動</a:t>
            </a:r>
          </a:p>
        </p:txBody>
      </p:sp>
      <p:sp>
        <p:nvSpPr>
          <p:cNvPr id="13" name="文字-7-2">
            <a:extLst xmlns:a="http://schemas.openxmlformats.org/drawingml/2006/main">
              <a:ext uri="{FF2B5EF4-FFF2-40B4-BE49-F238E27FC236}">
                <a16:creationId xmlns:a16="http://schemas.microsoft.com/office/drawing/2014/main" id="{76C970F5-5B7C-4106-9FBA-CCAEA65F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9485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文字-7-3">
            <a:extLst xmlns:a="http://schemas.openxmlformats.org/drawingml/2006/main">
              <a:ext uri="{FF2B5EF4-FFF2-40B4-BE49-F238E27FC236}">
                <a16:creationId xmlns:a16="http://schemas.microsoft.com/office/drawing/2014/main" id="{6801DFD4-0316-414F-A213-6FD3E0C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8578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先確認時間、費用、名額與主持人。</a:t>
            </a:r>
          </a:p>
        </p:txBody>
      </p:sp>
      <p:sp>
        <p:nvSpPr>
          <p:cNvPr id="15" name="文字-8-0">
            <a:extLst xmlns:a="http://schemas.openxmlformats.org/drawingml/2006/main">
              <a:ext uri="{FF2B5EF4-FFF2-40B4-BE49-F238E27FC236}">
                <a16:creationId xmlns:a16="http://schemas.microsoft.com/office/drawing/2014/main" id="{EFE08C8D-92B2-4BB9-B426-5F4776AA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地區選擇：團隊能到場、取得素材，並找到活動提供者。</a:t>
            </a:r>
          </a:p>
        </p:txBody>
      </p:sp>
      <p:sp>
        <p:nvSpPr>
          <p:cNvPr id="16" name="文字-9-0">
            <a:extLst xmlns:a="http://schemas.openxmlformats.org/drawingml/2006/main">
              <a:ext uri="{FF2B5EF4-FFF2-40B4-BE49-F238E27FC236}">
                <a16:creationId xmlns:a16="http://schemas.microsoft.com/office/drawing/2014/main" id="{3BF5774D-DAF6-4AF0-AB87-AD0B15F6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台南目前用來說明體驗，尚未選定為試辦城市。</a:t>
            </a:r>
          </a:p>
        </p:txBody>
      </p:sp>
    </p:spTree>
    <p:extLst>
      <p:ext uri="{BB962C8B-B14F-4D97-AF65-F5344CB8AC3E}">
        <p14:creationId xmlns:p14="http://schemas.microsoft.com/office/powerpoint/2010/main" val="5678513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文字-0-0">
            <a:extLst xmlns:a="http://schemas.openxmlformats.org/drawingml/2006/main">
              <a:ext uri="{FF2B5EF4-FFF2-40B4-BE49-F238E27FC236}">
                <a16:creationId xmlns:a16="http://schemas.microsoft.com/office/drawing/2014/main" id="{DCDE496E-C5E8-4F95-8963-32A00BB2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雛型與持續營運的投入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71CA8AFD-D7B7-4EF6-B722-7046E7D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規劃估算，非報價。幣別分列；公式、工作量及排程見附錄。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9423EAFA-19F9-4164-BA15-51D0CB4B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6A412-B765-410D-8F9E-65956497818A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33650"/>
                <a:gridCol w="3276600"/>
                <a:gridCol w="5162550"/>
              </a:tblGrid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202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項目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估算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本次範圍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雛型與首批內容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NT$232,000–328,000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開發240–360小時，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另含首批內容及素材。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每月內容與活動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NT$12,800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32人時，含8題、資料核對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與2場活動等工作。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1009650"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每月雲端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US$120–125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100人、約10,000次呼叫。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圖片用量待釐清。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99ACDD89-EF06-409D-BDC4-372B064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雛型先測文字、圖片與地圖連結輸入。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03FDAE98-E8E1-491E-898B-DE129AD0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正式分享、叫車與付款介接、正式維護及獎勵補貼另估。</a:t>
            </a:r>
          </a:p>
        </p:txBody>
      </p:sp>
    </p:spTree>
    <p:extLst>
      <p:ext uri="{BB962C8B-B14F-4D97-AF65-F5344CB8AC3E}">
        <p14:creationId xmlns:p14="http://schemas.microsoft.com/office/powerpoint/2010/main" val="6791912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字-0-0">
            <a:extLst xmlns:a="http://schemas.openxmlformats.org/drawingml/2006/main">
              <a:ext uri="{FF2B5EF4-FFF2-40B4-BE49-F238E27FC236}">
                <a16:creationId xmlns:a16="http://schemas.microsoft.com/office/drawing/2014/main" id="{9E10AD13-BEF8-49B6-8E05-02DE2C1F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先看為什麼選，再看是否願意回來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F09845B7-0C4B-48B4-A0B8-3BD61DB7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20人兩週首測用來找問題，尚無實測結果。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AA5A9739-8B8E-445B-8B95-AF991A6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F7677924-10F7-4CFD-874F-2651B0DD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238125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願意選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E52F3483-DEEF-4560-B62C-F285968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47825"/>
            <a:ext cx="81724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同一需求下，哪個推薦或共同安排更合適？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7B995475-F25E-41B9-A245-916A3953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4535"/>
            <a:ext cx="81724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實際試玩後，哪個部分讓人想繼續？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3FD8FD83-BA65-4487-BD42-B765D48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38125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再次使用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985765BE-16BB-41CD-A7CB-DD07FB1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90850"/>
            <a:ext cx="81724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首次有效使用後，七日內是否在另一天再用？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CF492AE9-A3A0-4291-AAF1-D78778C9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7560"/>
            <a:ext cx="81724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區分回來探索、參加、遊玩或回看紀錄。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313DAE4F-1615-4E94-86DC-E6D7BFAF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38125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實際參與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6965AE35-C4EF-4B02-AC36-1A21B251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33875"/>
            <a:ext cx="81724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分開記錄確認參加、到場、查交通與叫車事件。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AACF8B60-0777-4009-8D0A-B3D1D02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80585"/>
            <a:ext cx="81724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自行前往也能完成共同體驗。</a:t>
            </a:r>
          </a:p>
        </p:txBody>
      </p:sp>
      <p:sp>
        <p:nvSpPr>
          <p:cNvPr id="13" name="文字-9-0">
            <a:extLst xmlns:a="http://schemas.openxmlformats.org/drawingml/2006/main">
              <a:ext uri="{FF2B5EF4-FFF2-40B4-BE49-F238E27FC236}">
                <a16:creationId xmlns:a16="http://schemas.microsoft.com/office/drawing/2014/main" id="{66BD49AA-B270-47C0-8F14-9B0993C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43575"/>
            <a:ext cx="817245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AI另查推薦品質、條件錯誤、延遲與成本。</a:t>
            </a:r>
          </a:p>
        </p:txBody>
      </p:sp>
    </p:spTree>
    <p:extLst>
      <p:ext uri="{BB962C8B-B14F-4D97-AF65-F5344CB8AC3E}">
        <p14:creationId xmlns:p14="http://schemas.microsoft.com/office/powerpoint/2010/main" val="14899565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456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文字-0-0">
            <a:extLst xmlns:a="http://schemas.openxmlformats.org/drawingml/2006/main">
              <a:ext uri="{FF2B5EF4-FFF2-40B4-BE49-F238E27FC236}">
                <a16:creationId xmlns:a16="http://schemas.microsoft.com/office/drawing/2014/main" id="{8848A11F-7612-40F2-8E82-7373976C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不搭車時值得用，</a:t>
            </a:r>
          </a:p>
        </p:txBody>
      </p:sp>
      <p:sp>
        <p:nvSpPr>
          <p:cNvPr id="2" name="文字-0-1">
            <a:extLst xmlns:a="http://schemas.openxmlformats.org/drawingml/2006/main">
              <a:ext uri="{FF2B5EF4-FFF2-40B4-BE49-F238E27FC236}">
                <a16:creationId xmlns:a16="http://schemas.microsoft.com/office/drawing/2014/main" id="{D529F1D2-2919-47A4-BAFC-5AE2E965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249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想出門時接得上</a:t>
            </a:r>
          </a:p>
        </p:txBody>
      </p:sp>
      <p:sp>
        <p:nvSpPr>
          <p:cNvPr id="3" name="文字-1-0">
            <a:extLst xmlns:a="http://schemas.openxmlformats.org/drawingml/2006/main">
              <a:ext uri="{FF2B5EF4-FFF2-40B4-BE49-F238E27FC236}">
                <a16:creationId xmlns:a16="http://schemas.microsoft.com/office/drawing/2014/main" id="{DA3B41ED-A8CE-4753-ADBA-C39B7367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服務提案，效果尚待驗證。</a:t>
            </a:r>
          </a:p>
        </p:txBody>
      </p:sp>
      <p:sp>
        <p:nvSpPr>
          <p:cNvPr id="4" name="文字-2-0">
            <a:extLst xmlns:a="http://schemas.openxmlformats.org/drawingml/2006/main">
              <a:ext uri="{FF2B5EF4-FFF2-40B4-BE49-F238E27FC236}">
                <a16:creationId xmlns:a16="http://schemas.microsoft.com/office/drawing/2014/main" id="{357DE49F-3F11-4C5D-AB19-55994F85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5" name="文字-3-0">
            <a:extLst xmlns:a="http://schemas.openxmlformats.org/drawingml/2006/main">
              <a:ext uri="{FF2B5EF4-FFF2-40B4-BE49-F238E27FC236}">
                <a16:creationId xmlns:a16="http://schemas.microsoft.com/office/drawing/2014/main" id="{1D3BF5B1-1AC5-4DED-A742-6E5B5FAF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3381375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城市探索</a:t>
            </a:r>
          </a:p>
        </p:txBody>
      </p:sp>
      <p:sp>
        <p:nvSpPr>
          <p:cNvPr id="6" name="文字-4-0">
            <a:extLst xmlns:a="http://schemas.openxmlformats.org/drawingml/2006/main">
              <a:ext uri="{FF2B5EF4-FFF2-40B4-BE49-F238E27FC236}">
                <a16:creationId xmlns:a16="http://schemas.microsoft.com/office/drawing/2014/main" id="{033ED4E3-7304-4B9E-A12E-DB6D53E2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3813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從喜歡的細節，</a:t>
            </a:r>
          </a:p>
        </p:txBody>
      </p:sp>
      <p:sp>
        <p:nvSpPr>
          <p:cNvPr id="7" name="文字-4-1">
            <a:extLst xmlns:a="http://schemas.openxmlformats.org/drawingml/2006/main">
              <a:ext uri="{FF2B5EF4-FFF2-40B4-BE49-F238E27FC236}">
                <a16:creationId xmlns:a16="http://schemas.microsoft.com/office/drawing/2014/main" id="{22BBF2FC-628F-4C1A-9817-9E526A19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3760"/>
            <a:ext cx="33813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找到想親自試的體驗。</a:t>
            </a:r>
          </a:p>
        </p:txBody>
      </p:sp>
      <p:sp>
        <p:nvSpPr>
          <p:cNvPr id="8" name="文字-5-0">
            <a:extLst xmlns:a="http://schemas.openxmlformats.org/drawingml/2006/main">
              <a:ext uri="{FF2B5EF4-FFF2-40B4-BE49-F238E27FC236}">
                <a16:creationId xmlns:a16="http://schemas.microsoft.com/office/drawing/2014/main" id="{7018D5C3-AC62-4571-A941-19EADBA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3381375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同好與共同體驗</a:t>
            </a:r>
          </a:p>
        </p:txBody>
      </p:sp>
      <p:sp>
        <p:nvSpPr>
          <p:cNvPr id="9" name="文字-6-0">
            <a:extLst xmlns:a="http://schemas.openxmlformats.org/drawingml/2006/main">
              <a:ext uri="{FF2B5EF4-FFF2-40B4-BE49-F238E27FC236}">
                <a16:creationId xmlns:a16="http://schemas.microsoft.com/office/drawing/2014/main" id="{035353A7-D3B6-4E2F-BE0D-1B594C3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3813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找到願意一起的人，</a:t>
            </a:r>
          </a:p>
        </p:txBody>
      </p:sp>
      <p:sp>
        <p:nvSpPr>
          <p:cNvPr id="10" name="文字-6-1">
            <a:extLst xmlns:a="http://schemas.openxmlformats.org/drawingml/2006/main">
              <a:ext uri="{FF2B5EF4-FFF2-40B4-BE49-F238E27FC236}">
                <a16:creationId xmlns:a16="http://schemas.microsoft.com/office/drawing/2014/main" id="{A34EDD82-6B6F-42DC-A5DC-711B5E6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13760"/>
            <a:ext cx="33813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讓多人體驗有了可能。</a:t>
            </a:r>
          </a:p>
        </p:txBody>
      </p:sp>
      <p:sp>
        <p:nvSpPr>
          <p:cNvPr id="11" name="文字-7-0">
            <a:extLst xmlns:a="http://schemas.openxmlformats.org/drawingml/2006/main">
              <a:ext uri="{FF2B5EF4-FFF2-40B4-BE49-F238E27FC236}">
                <a16:creationId xmlns:a16="http://schemas.microsoft.com/office/drawing/2014/main" id="{811E6A8C-92A0-421E-BD56-A214C814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3381375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遊戲與成長</a:t>
            </a:r>
          </a:p>
        </p:txBody>
      </p:sp>
      <p:sp>
        <p:nvSpPr>
          <p:cNvPr id="12" name="文字-8-0">
            <a:extLst xmlns:a="http://schemas.openxmlformats.org/drawingml/2006/main">
              <a:ext uri="{FF2B5EF4-FFF2-40B4-BE49-F238E27FC236}">
                <a16:creationId xmlns:a16="http://schemas.microsoft.com/office/drawing/2014/main" id="{D37A61D7-2346-4BB4-A0D3-E0319F21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33813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解線索、收集主題與紀念，</a:t>
            </a:r>
          </a:p>
        </p:txBody>
      </p:sp>
      <p:sp>
        <p:nvSpPr>
          <p:cNvPr id="13" name="文字-8-1">
            <a:extLst xmlns:a="http://schemas.openxmlformats.org/drawingml/2006/main">
              <a:ext uri="{FF2B5EF4-FFF2-40B4-BE49-F238E27FC236}">
                <a16:creationId xmlns:a16="http://schemas.microsoft.com/office/drawing/2014/main" id="{0F801C50-D943-4AF8-BAAF-69B3F57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13760"/>
            <a:ext cx="338137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養成有自己風格的寵物。</a:t>
            </a:r>
          </a:p>
        </p:txBody>
      </p:sp>
      <p:sp>
        <p:nvSpPr>
          <p:cNvPr id="14" name="文字-9-0">
            <a:extLst xmlns:a="http://schemas.openxmlformats.org/drawingml/2006/main">
              <a:ext uri="{FF2B5EF4-FFF2-40B4-BE49-F238E27FC236}">
                <a16:creationId xmlns:a16="http://schemas.microsoft.com/office/drawing/2014/main" id="{8CCE2B40-1A48-4B8F-BB34-06AB6FB0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已確認的喜好與自己的紀錄，讓下一次接得上這一次。</a:t>
            </a:r>
          </a:p>
        </p:txBody>
      </p:sp>
      <p:sp>
        <p:nvSpPr>
          <p:cNvPr id="15" name="文字-10-0">
            <a:extLst xmlns:a="http://schemas.openxmlformats.org/drawingml/2006/main">
              <a:ext uri="{FF2B5EF4-FFF2-40B4-BE49-F238E27FC236}">
                <a16:creationId xmlns:a16="http://schemas.microsoft.com/office/drawing/2014/main" id="{AA7C43EE-DC16-42AF-85BB-556E803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yoxi在出門計畫形成時就能參與。</a:t>
            </a:r>
          </a:p>
        </p:txBody>
      </p:sp>
      <p:sp>
        <p:nvSpPr>
          <p:cNvPr id="16" name="文字-10-1">
            <a:extLst xmlns:a="http://schemas.openxmlformats.org/drawingml/2006/main">
              <a:ext uri="{FF2B5EF4-FFF2-40B4-BE49-F238E27FC236}">
                <a16:creationId xmlns:a16="http://schemas.microsoft.com/office/drawing/2014/main" id="{8E4DF6F0-5D26-49DA-A7CD-9E8457F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3568"/>
            <a:ext cx="109728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7F4ED"/>
                </a:solidFill>
                <a:latin typeface="Arial Unicode MS"/>
                <a:ea typeface="Arial Unicode MS"/>
                <a:cs typeface="Arial Unicode MS"/>
              </a:rPr>
              <a:t>決定出發後，再沿用安排提供交通選擇。</a:t>
            </a:r>
          </a:p>
        </p:txBody>
      </p:sp>
    </p:spTree>
    <p:extLst>
      <p:ext uri="{BB962C8B-B14F-4D97-AF65-F5344CB8AC3E}">
        <p14:creationId xmlns:p14="http://schemas.microsoft.com/office/powerpoint/2010/main" val="15644156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文字-0-0">
            <a:extLst xmlns:a="http://schemas.openxmlformats.org/drawingml/2006/main">
              <a:ext uri="{FF2B5EF4-FFF2-40B4-BE49-F238E27FC236}">
                <a16:creationId xmlns:a16="http://schemas.microsoft.com/office/drawing/2014/main" id="{93C0172D-A0EA-4531-A213-FCBDCEFE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分享、收藏與現場使用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DD6A7756-8E17-4C96-99FB-DE7287AD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一團一目的地為首版限制。多景點旅遊另評估。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9E5CC0FA-EE50-4B72-87C4-A9BC939E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1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24EDD54D-D94E-47FD-B827-E21B336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分享與輸入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758A9019-BD01-4DB8-A3E8-A1490F8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097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一次分享一則貼文，可勾選其中多個地點。讀不到時改用文字、圖片、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F9A0068E-D483-4965-BE13-C4925B1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316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地名或地圖連結。第一版是否支援影片待確認。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ACECA4EB-DD65-4BA0-8B01-DE97DF06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想去收藏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A2134C14-9661-4730-ABB4-279FAF2F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718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保存想去的地點，查看新邀約，也可選擇附近提醒、跨城市搜尋或切換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1681EA53-0E84-4489-A40D-F66760F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937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所在地。替代推薦保留原收藏；收藏不等於報名。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4C907CC7-BDCF-4600-A199-7EEE16B3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規劃與導覽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AFDA95A3-0777-4FCD-BB3E-2FEC8ED9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339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規劃核對時間、預算及路程，說明抵達、停留與離開安排。導覽依地方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9174E93A-078C-499A-B365-F01ED447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58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來源與本人好奇回答，保留照片和可選日記。</a:t>
            </a:r>
          </a:p>
        </p:txBody>
      </p:sp>
    </p:spTree>
    <p:extLst>
      <p:ext uri="{BB962C8B-B14F-4D97-AF65-F5344CB8AC3E}">
        <p14:creationId xmlns:p14="http://schemas.microsoft.com/office/powerpoint/2010/main" val="9539090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字-0-0">
            <a:extLst xmlns:a="http://schemas.openxmlformats.org/drawingml/2006/main">
              <a:ext uri="{FF2B5EF4-FFF2-40B4-BE49-F238E27FC236}">
                <a16:creationId xmlns:a16="http://schemas.microsoft.com/office/drawing/2014/main" id="{B9E49400-9041-417E-9DBF-A0156F1B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邀約狀態與變動處理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8807471F-020B-44C9-881A-7C9E0455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聊天與我的行程支援協調；付款、取消與訂位依實際服務另訂。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8AAE2BC7-54F5-4ED5-B81F-4D8640B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2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4832D00F-D4C9-47DF-BD68-FE19270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參加前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171A4DE9-2CCF-45B0-8581-4BE970B9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097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活動建議、已發起邀約、想去收藏、考慮中、確認參加與店家訂位分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B49C8C4F-3DD9-463F-9BD4-505A241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316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開。列日期、起訖時間、最低與最多人數、已確認與尚缺人數、截</a:t>
            </a:r>
          </a:p>
        </p:txBody>
      </p:sp>
      <p:sp>
        <p:nvSpPr>
          <p:cNvPr id="7" name="文字-4-2">
            <a:extLst xmlns:a="http://schemas.openxmlformats.org/drawingml/2006/main">
              <a:ext uri="{FF2B5EF4-FFF2-40B4-BE49-F238E27FC236}">
                <a16:creationId xmlns:a16="http://schemas.microsoft.com/office/drawing/2014/main" id="{F6C17A40-D28C-4334-A264-4984B442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5359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止時間。</a:t>
            </a:r>
          </a:p>
        </p:txBody>
      </p:sp>
      <p:sp>
        <p:nvSpPr>
          <p:cNvPr id="8" name="文字-5-0">
            <a:extLst xmlns:a="http://schemas.openxmlformats.org/drawingml/2006/main">
              <a:ext uri="{FF2B5EF4-FFF2-40B4-BE49-F238E27FC236}">
                <a16:creationId xmlns:a16="http://schemas.microsoft.com/office/drawing/2014/main" id="{AE51946F-0DC4-436F-ABBC-FAFB967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費用與變動</a:t>
            </a:r>
          </a:p>
        </p:txBody>
      </p:sp>
      <p:sp>
        <p:nvSpPr>
          <p:cNvPr id="9" name="文字-6-0">
            <a:extLst xmlns:a="http://schemas.openxmlformats.org/drawingml/2006/main">
              <a:ext uri="{FF2B5EF4-FFF2-40B4-BE49-F238E27FC236}">
                <a16:creationId xmlns:a16="http://schemas.microsoft.com/office/drawing/2014/main" id="{671102A4-B66F-4603-A8D4-A56F98FE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718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餐飲、活動與交通費分列。優惠有真實條件才提供。人數、時間或費用</a:t>
            </a:r>
          </a:p>
        </p:txBody>
      </p:sp>
      <p:sp>
        <p:nvSpPr>
          <p:cNvPr id="10" name="文字-6-1">
            <a:extLst xmlns:a="http://schemas.openxmlformats.org/drawingml/2006/main">
              <a:ext uri="{FF2B5EF4-FFF2-40B4-BE49-F238E27FC236}">
                <a16:creationId xmlns:a16="http://schemas.microsoft.com/office/drawing/2014/main" id="{03D2C089-BC61-46A4-8204-9918D7BB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937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改變，通知每人重新確認；退出不自動把差額轉給其他人。</a:t>
            </a:r>
          </a:p>
        </p:txBody>
      </p:sp>
      <p:sp>
        <p:nvSpPr>
          <p:cNvPr id="11" name="文字-7-0">
            <a:extLst xmlns:a="http://schemas.openxmlformats.org/drawingml/2006/main">
              <a:ext uri="{FF2B5EF4-FFF2-40B4-BE49-F238E27FC236}">
                <a16:creationId xmlns:a16="http://schemas.microsoft.com/office/drawing/2014/main" id="{87B13700-5498-48E1-A840-7896DC81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未成團與退出</a:t>
            </a:r>
          </a:p>
        </p:txBody>
      </p:sp>
      <p:sp>
        <p:nvSpPr>
          <p:cNvPr id="12" name="文字-8-0">
            <a:extLst xmlns:a="http://schemas.openxmlformats.org/drawingml/2006/main">
              <a:ext uri="{FF2B5EF4-FFF2-40B4-BE49-F238E27FC236}">
                <a16:creationId xmlns:a16="http://schemas.microsoft.com/office/drawing/2014/main" id="{4192D2B6-4A94-44EA-8352-7A4DEAAE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339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未達最低人數時，由本人選改期、換活動，或在允許時自己去。發起人</a:t>
            </a:r>
          </a:p>
        </p:txBody>
      </p:sp>
      <p:sp>
        <p:nvSpPr>
          <p:cNvPr id="13" name="文字-8-1">
            <a:extLst xmlns:a="http://schemas.openxmlformats.org/drawingml/2006/main">
              <a:ext uri="{FF2B5EF4-FFF2-40B4-BE49-F238E27FC236}">
                <a16:creationId xmlns:a16="http://schemas.microsoft.com/office/drawing/2014/main" id="{9E62D380-6FDF-4384-B4CA-6300B13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58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退出後保留房間、多個候選同時成團、自動退出等規則仍待訂定。</a:t>
            </a:r>
          </a:p>
        </p:txBody>
      </p:sp>
    </p:spTree>
    <p:extLst>
      <p:ext uri="{BB962C8B-B14F-4D97-AF65-F5344CB8AC3E}">
        <p14:creationId xmlns:p14="http://schemas.microsoft.com/office/powerpoint/2010/main" val="3062369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文字-0-0">
            <a:extLst xmlns:a="http://schemas.openxmlformats.org/drawingml/2006/main">
              <a:ext uri="{FF2B5EF4-FFF2-40B4-BE49-F238E27FC236}">
                <a16:creationId xmlns:a16="http://schemas.microsoft.com/office/drawing/2014/main" id="{9AC9BB6F-4ECB-498F-9DEC-BE1D46B4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主題蒐集、寵物與其他回饋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2E695C8D-A406-4F68-B29E-216FC115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養成、里程及回饋均為機制建議，尚未實作或逐項定案。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AA67542B-904D-4C1F-916C-A8E6FFF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3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483C46D2-73BD-470C-AF4C-C30DE504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兩種進度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16EF22D4-B307-4274-BA12-45DA0352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097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主題進度記相關發現的完成情況；個人經驗逐步增加寵物動作、表情與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8640EE47-77D3-4E17-93A2-E568817B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316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物件。完成主題可選造型，配件可回看來由，具體門檻待試玩。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03C7C208-FB0E-4786-BECA-1C57FA09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答錯與再回來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2A315E3E-2055-4AB1-B8FA-4B40E95A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718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可以再試、看解答或換題。看解答仍能保存地點，獨立解題另記；重玩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D47B9A4B-23C4-4122-A8C7-022FDB1A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937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不重領首次獎勵。中斷後保留進度，核心章節可補玩，限時合作另標。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683633A4-8268-4CF3-9CF2-53EB7971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延伸候選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F2539A65-E63A-4F59-A6A4-C2ACB303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339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步數、乘車里程、消費與車輛貼紙需授權及可核實資料。遊戲經驗、排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5050B2CB-66B5-4FCC-8F97-B928629A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58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名與可兌換點數分開，會員權益及優惠另確認提供者、成本與條件。</a:t>
            </a:r>
          </a:p>
        </p:txBody>
      </p:sp>
    </p:spTree>
    <p:extLst>
      <p:ext uri="{BB962C8B-B14F-4D97-AF65-F5344CB8AC3E}">
        <p14:creationId xmlns:p14="http://schemas.microsoft.com/office/powerpoint/2010/main" val="16511760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文字-0-0">
            <a:extLst xmlns:a="http://schemas.openxmlformats.org/drawingml/2006/main">
              <a:ext uri="{FF2B5EF4-FFF2-40B4-BE49-F238E27FC236}">
                <a16:creationId xmlns:a16="http://schemas.microsoft.com/office/drawing/2014/main" id="{950C8750-C76E-410F-AE2E-99E5CAD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AI分工、資料與隱私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318BB6B1-52FB-4FC0-8287-ED87A19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去識別熱點資料可看區域趨勢，不代表個人喜好、即時名額或車資。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4E339795-53C2-4EB9-B162-6799EB75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4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48EC5CD2-4606-434E-83FB-8F9E1949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AI協助什麼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2EA88DF0-8890-4CDE-BE5D-8C9C3820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097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整理圖片細節，提出推薦、配對、規劃及導覽。遊戲可協助選題與提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50C2009F-B8ED-45DE-8133-28A5C3BE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316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示；時間、費用、計分、發獎和解鎖另以資料與規則處理。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44087AAB-9F85-44BF-8E62-C60A93B4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資料與服務候選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5C164140-9EF5-4063-B0AD-E04C985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718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Gemini 3.8 Flash處理圖片及文字；Supabase保存地方、收藏、紀錄與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479EA0CB-5E87-4F59-885E-BBB2B5D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937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邀約；Google Routes查路程。叫車、付款與共乘另介接。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40E8D2D8-44A7-44B2-80AC-E79D28D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本人選擇與權限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68208361-3A29-49D7-A341-02F2DC64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339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長期喜好和當次條件分開。可修改偏好、移除紀錄，選擇分享與通知。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8349FDC0-ACCD-4FC1-B20E-021F729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558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精確位置不對所有人公開，封鎖、檢舉及各角色權限仍需訂定。</a:t>
            </a:r>
          </a:p>
        </p:txBody>
      </p:sp>
    </p:spTree>
    <p:extLst>
      <p:ext uri="{BB962C8B-B14F-4D97-AF65-F5344CB8AC3E}">
        <p14:creationId xmlns:p14="http://schemas.microsoft.com/office/powerpoint/2010/main" val="11284414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文字-0-0">
            <a:extLst xmlns:a="http://schemas.openxmlformats.org/drawingml/2006/main">
              <a:ext uri="{FF2B5EF4-FFF2-40B4-BE49-F238E27FC236}">
                <a16:creationId xmlns:a16="http://schemas.microsoft.com/office/drawing/2014/main" id="{B27F3683-40F0-4F8E-A430-920B05F2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人力與內容成本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05069DAF-5A0E-4374-A769-1BE2293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D327E-E5BE-481C-846F-CC2EE612C9AE}"/>
              </a:ext>
            </a:extLst>
          </p:cNvPr>
          <p:cNvGraphicFramePr/>
          <p:nvPr/>
        </p:nvGraphicFramePr>
        <p:xfrm>
          <a:off xmlns:a="http://schemas.openxmlformats.org/drawingml/2006/main" x="609600" y="1304925"/>
          <a:ext xmlns:a="http://schemas.openxmlformats.org/drawingml/2006/main" cx="10972800" cy="2695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33600"/>
                <a:gridCol w="4514850"/>
                <a:gridCol w="4324350"/>
              </a:tblGrid>
              <a:tr h="438150">
                <a:tc>
                  <a:txBody>
                    <a:bodyPr wrap="square"/>
                    <a:lstStyle/>
                    <a:p>
                      <a:pPr algn="l"/>
                      <a:r>
                        <a:rPr sz="187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一次投入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計算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金額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開發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240–360小時 × NT$800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NT$192,000–288,000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首批內容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80小時 × NT$400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NT$32,000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素材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預留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NT$8,000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合計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開發、首批內容與素材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NT$232,000–328,000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9217E6C2-6344-4290-A6F1-29CCDA59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首批80小時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FCE65208-3D7F-41C8-ACA7-3371DA4D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10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30筆資料30小時；12題24小時；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DA57AE36-E568-4703-9F75-0F09B162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638"/>
            <a:ext cx="510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3場活動準備與邀約12小時；素材審核14小時。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07E5766A-44B2-4D75-8CA6-317C7E7C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52925"/>
            <a:ext cx="51054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每月32小時，NT$12,800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6307F82B-43D8-4EEC-8718-1A9CE8F8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510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8題16小時；資料核對5小時；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D4DA5A85-8CC5-4878-A685-253F7D9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0638"/>
            <a:ext cx="5105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2場活動8小時；回覆處理3小時。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83BF7225-0CF3-4389-974D-BCBE9E5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28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人力單價及工作量為規劃假設。活動每場4小時是否包含主持，仍需確認。</a:t>
            </a:r>
          </a:p>
        </p:txBody>
      </p:sp>
    </p:spTree>
    <p:extLst>
      <p:ext uri="{BB962C8B-B14F-4D97-AF65-F5344CB8AC3E}">
        <p14:creationId xmlns:p14="http://schemas.microsoft.com/office/powerpoint/2010/main" val="9688494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文字-0-0">
            <a:extLst xmlns:a="http://schemas.openxmlformats.org/drawingml/2006/main">
              <a:ext uri="{FF2B5EF4-FFF2-40B4-BE49-F238E27FC236}">
                <a16:creationId xmlns:a16="http://schemas.microsoft.com/office/drawing/2014/main" id="{87BFD5F5-9F2D-4C7A-B543-5E520189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雲端用量與費率假設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7C878EC8-0C21-4BD9-A969-8DC1877F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2026/10/10核價；估算非實測月費。圖片是否已含於輸入token，仍須查計費紀錄。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7A5DFB60-50D7-40BA-8567-B5C3B826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6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5B192C84-3E06-43BE-AD64-66AF591F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100人 × 每月100次 = 10,000次呼叫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3DBFFE4C-3D42-4C06-993E-C66DD658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每次5,000輸入token、1,000含推理的輸出計費token。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29A3F-7DD8-42C0-9DD6-EEC1C20D15B5}"/>
              </a:ext>
            </a:extLst>
          </p:cNvPr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2838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2571750"/>
                <a:gridCol w="6115050"/>
              </a:tblGrid>
              <a:tr h="409575">
                <a:tc>
                  <a:txBody>
                    <a:bodyPr wrap="square"/>
                    <a:lstStyle/>
                    <a:p>
                      <a:pPr algn="l"/>
                      <a:r>
                        <a:rPr sz="172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項目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月估算（US$）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條件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75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每百萬輸入0.75、輸出3.75，至2026/12/31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資料庫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25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Supabase單一Pro / Micro，方案額度內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網站與通知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預留，未實測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路程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0–5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1,000次Routes Essentials；是否有免費額度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485775"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合計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120–125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2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其他用量及超額另計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BB023A55-0872-449F-9C98-5D8A8A38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用量或模型單價加倍：US$195–200；兩者同時加倍：US$345–350。</a:t>
            </a:r>
          </a:p>
        </p:txBody>
      </p:sp>
      <p:sp>
        <p:nvSpPr>
          <p:cNvPr id="8" name="文字-6-1">
            <a:extLst xmlns:a="http://schemas.openxmlformats.org/drawingml/2006/main">
              <a:ext uri="{FF2B5EF4-FFF2-40B4-BE49-F238E27FC236}">
                <a16:creationId xmlns:a16="http://schemas.microsoft.com/office/drawing/2014/main" id="{7A93D929-A4E4-4B44-96B5-2324F91F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8813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已公告2027/1/1模型單價加倍。影片、即時語音、搜尋與重試另評估。</a:t>
            </a:r>
          </a:p>
        </p:txBody>
      </p:sp>
    </p:spTree>
    <p:extLst>
      <p:ext uri="{BB962C8B-B14F-4D97-AF65-F5344CB8AC3E}">
        <p14:creationId xmlns:p14="http://schemas.microsoft.com/office/powerpoint/2010/main" val="7711766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字-0-0">
            <a:extLst xmlns:a="http://schemas.openxmlformats.org/drawingml/2006/main">
              <a:ext uri="{FF2B5EF4-FFF2-40B4-BE49-F238E27FC236}">
                <a16:creationId xmlns:a16="http://schemas.microsoft.com/office/drawing/2014/main" id="{551840A1-E4A5-4591-860B-0B8896E0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分工、排程與先確認的資源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6D3E22AB-A269-4054-8973-9A661E01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建議排程，團隊尚未承諾工時。平均人時不能保證各階段準時。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E9F79331-26D8-4FAB-B5D0-6BF0C163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22E20-9243-4CDC-AEE0-962954725121}"/>
              </a:ext>
            </a:extLst>
          </p:cNvPr>
          <p:cNvGraphicFramePr/>
          <p:nvPr/>
        </p:nvGraphicFramePr>
        <p:xfrm>
          <a:off xmlns:a="http://schemas.openxmlformats.org/drawingml/2006/main" x="609600" y="1419225"/>
          <a:ext xmlns:a="http://schemas.openxmlformats.org/drawingml/2006/main" cx="523875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1619250"/>
              </a:tblGrid>
              <a:tr h="428625">
                <a:tc>
                  <a:txBody>
                    <a:bodyPr wrap="square"/>
                    <a:lstStyle/>
                    <a:p>
                      <a:pPr algn="l"/>
                      <a:r>
                        <a:rPr sz="187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1">
                          <a:solidFill>
                            <a:srgbClr val="F7F4E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預估人時</a:t>
                      </a:r>
                    </a:p>
                  </a:txBody>
                  <a:tcPr marL="114300" marR="114300" marT="66675" marB="66675" anchor="ctr">
                    <a:solidFill>
                      <a:srgbClr val="24566E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產品與介面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40–60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前端、遊戲與紀錄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80–120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後端、AI與邀約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80–120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整合測試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40–60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首批內容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75" b="0">
                          <a:solidFill>
                            <a:srgbClr val="202F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80</a:t>
                      </a:r>
                    </a:p>
                  </a:txBody>
                  <a:tcPr marL="114300" marR="114300" marT="66675" marB="66675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6680F97A-05BF-4FE2-8BBC-123D45B3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57325"/>
            <a:ext cx="5029200" cy="389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五週安排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D64B43B1-F215-4069-8FA7-227A6BDE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50292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若10/15開始製作，</a:t>
            </a:r>
          </a:p>
        </p:txBody>
      </p:sp>
      <p:sp>
        <p:nvSpPr>
          <p:cNvPr id="7" name="文字-5-1">
            <a:extLst xmlns:a="http://schemas.openxmlformats.org/drawingml/2006/main">
              <a:ext uri="{FF2B5EF4-FFF2-40B4-BE49-F238E27FC236}">
                <a16:creationId xmlns:a16="http://schemas.microsoft.com/office/drawing/2014/main" id="{998535CE-2BFC-442D-9FD5-8BC052E1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8860"/>
            <a:ext cx="50292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10/29起試用，11/12整合，</a:t>
            </a:r>
          </a:p>
        </p:txBody>
      </p:sp>
      <p:sp>
        <p:nvSpPr>
          <p:cNvPr id="8" name="文字-5-2">
            <a:extLst xmlns:a="http://schemas.openxmlformats.org/drawingml/2006/main">
              <a:ext uri="{FF2B5EF4-FFF2-40B4-BE49-F238E27FC236}">
                <a16:creationId xmlns:a16="http://schemas.microsoft.com/office/drawing/2014/main" id="{0B3A57B4-007E-4B46-8FC2-39E0894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5570"/>
            <a:ext cx="50292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至11/18準備決賽交件。</a:t>
            </a:r>
          </a:p>
        </p:txBody>
      </p:sp>
      <p:sp>
        <p:nvSpPr>
          <p:cNvPr id="9" name="文字-6-0">
            <a:extLst xmlns:a="http://schemas.openxmlformats.org/drawingml/2006/main">
              <a:ext uri="{FF2B5EF4-FFF2-40B4-BE49-F238E27FC236}">
                <a16:creationId xmlns:a16="http://schemas.microsoft.com/office/drawing/2014/main" id="{90DEC128-A61F-4535-ACE3-7DB607A7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19475"/>
            <a:ext cx="50292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開發加內容共320–440人時。</a:t>
            </a:r>
          </a:p>
        </p:txBody>
      </p:sp>
      <p:sp>
        <p:nvSpPr>
          <p:cNvPr id="10" name="文字-6-1">
            <a:extLst xmlns:a="http://schemas.openxmlformats.org/drawingml/2006/main">
              <a:ext uri="{FF2B5EF4-FFF2-40B4-BE49-F238E27FC236}">
                <a16:creationId xmlns:a16="http://schemas.microsoft.com/office/drawing/2014/main" id="{EAA0617D-F0A1-4B2A-B618-5AEE3124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53803"/>
            <a:ext cx="50292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五週每週64–88人時；</a:t>
            </a:r>
          </a:p>
        </p:txBody>
      </p:sp>
      <p:sp>
        <p:nvSpPr>
          <p:cNvPr id="11" name="文字-6-2">
            <a:extLst xmlns:a="http://schemas.openxmlformats.org/drawingml/2006/main">
              <a:ext uri="{FF2B5EF4-FFF2-40B4-BE49-F238E27FC236}">
                <a16:creationId xmlns:a16="http://schemas.microsoft.com/office/drawing/2014/main" id="{D75FE847-5E44-421F-8536-539EC22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88130"/>
            <a:ext cx="50292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三週約107–147人時。</a:t>
            </a:r>
          </a:p>
        </p:txBody>
      </p:sp>
      <p:sp>
        <p:nvSpPr>
          <p:cNvPr id="12" name="文字-7-0">
            <a:extLst xmlns:a="http://schemas.openxmlformats.org/drawingml/2006/main">
              <a:ext uri="{FF2B5EF4-FFF2-40B4-BE49-F238E27FC236}">
                <a16:creationId xmlns:a16="http://schemas.microsoft.com/office/drawing/2014/main" id="{C2C29DE0-326E-47F0-B1BE-7344779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先確認可投入成員、素材權利、活動提供者及主持投入。</a:t>
            </a:r>
          </a:p>
        </p:txBody>
      </p:sp>
      <p:sp>
        <p:nvSpPr>
          <p:cNvPr id="13" name="文字-7-1">
            <a:extLst xmlns:a="http://schemas.openxmlformats.org/drawingml/2006/main">
              <a:ext uri="{FF2B5EF4-FFF2-40B4-BE49-F238E27FC236}">
                <a16:creationId xmlns:a16="http://schemas.microsoft.com/office/drawing/2014/main" id="{B753534B-7E02-44D9-A3FB-4239F67D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4053"/>
            <a:ext cx="10972800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若10/28名單公布後才開始，需重排範圍與人力。</a:t>
            </a:r>
          </a:p>
        </p:txBody>
      </p:sp>
    </p:spTree>
    <p:extLst>
      <p:ext uri="{BB962C8B-B14F-4D97-AF65-F5344CB8AC3E}">
        <p14:creationId xmlns:p14="http://schemas.microsoft.com/office/powerpoint/2010/main" val="7926186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文字-0-0">
            <a:extLst xmlns:a="http://schemas.openxmlformats.org/drawingml/2006/main">
              <a:ext uri="{FF2B5EF4-FFF2-40B4-BE49-F238E27FC236}">
                <a16:creationId xmlns:a16="http://schemas.microsoft.com/office/drawing/2014/main" id="{319B5A5F-A909-47EF-8A86-69791EB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理解、選擇與回訪的驗證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97B272D9-8C15-479B-80B7-E5BE3B5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規劃中的驗證，尚無實測結果。兩週資料不能支持長期黏著度結論。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18A9F0E1-04E7-457B-9E56-0CFAFC6A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8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05CFF064-20D4-4F96-900E-FBA38F0A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先理解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F35AF394-D91E-40C1-B531-4A0E76D7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3827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邀5位未參與製作的人，說出用途、三柱好處、AI作用和yoxi角色，再說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6BD403DB-AF4E-4557-B7E5-E163CA6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6022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出值得選它的具體原因。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62EABED0-80CE-472A-9611-AACF5E22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再比較</a:t>
            </a:r>
          </a:p>
        </p:txBody>
      </p:sp>
      <p:sp>
        <p:nvSpPr>
          <p:cNvPr id="8" name="文字-6-0">
            <a:extLst xmlns:a="http://schemas.openxmlformats.org/drawingml/2006/main">
              <a:ext uri="{FF2B5EF4-FFF2-40B4-BE49-F238E27FC236}">
                <a16:creationId xmlns:a16="http://schemas.microsoft.com/office/drawing/2014/main" id="{1244338E-C8FA-421F-A50F-799B4334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3370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20人兩週試用，以同一需求、相近資料及條件和現有服務比較。分開看</a:t>
            </a:r>
          </a:p>
        </p:txBody>
      </p:sp>
      <p:sp>
        <p:nvSpPr>
          <p:cNvPr id="9" name="文字-6-1">
            <a:extLst xmlns:a="http://schemas.openxmlformats.org/drawingml/2006/main">
              <a:ext uri="{FF2B5EF4-FFF2-40B4-BE49-F238E27FC236}">
                <a16:creationId xmlns:a16="http://schemas.microsoft.com/office/drawing/2014/main" id="{E3E55FAE-C8CB-4A1D-9993-CA46F09E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564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探索、共同安排、解題、揭曉與寵物成長。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05AB7F71-01F7-4370-83C4-94D9152D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記錄回訪</a:t>
            </a:r>
          </a:p>
        </p:txBody>
      </p:sp>
      <p:sp>
        <p:nvSpPr>
          <p:cNvPr id="11" name="文字-8-0">
            <a:extLst xmlns:a="http://schemas.openxmlformats.org/drawingml/2006/main">
              <a:ext uri="{FF2B5EF4-FFF2-40B4-BE49-F238E27FC236}">
                <a16:creationId xmlns:a16="http://schemas.microsoft.com/office/drawing/2014/main" id="{E59275A3-02AA-4A73-A28F-59D0FAC1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2912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有效使用指得到可選探索結果、確認參加、完成挑戰或回看紀錄。分母</a:t>
            </a:r>
          </a:p>
        </p:txBody>
      </p:sp>
      <p:sp>
        <p:nvSpPr>
          <p:cNvPr id="12" name="文字-8-1">
            <a:extLst xmlns:a="http://schemas.openxmlformats.org/drawingml/2006/main">
              <a:ext uri="{FF2B5EF4-FFF2-40B4-BE49-F238E27FC236}">
                <a16:creationId xmlns:a16="http://schemas.microsoft.com/office/drawing/2014/main" id="{B113141D-68DA-4A6D-BF51-8F912C7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75107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為已有完整七日觀察窗的人；看七日內另一天再次有效使用的比例。</a:t>
            </a:r>
          </a:p>
        </p:txBody>
      </p:sp>
    </p:spTree>
    <p:extLst>
      <p:ext uri="{BB962C8B-B14F-4D97-AF65-F5344CB8AC3E}">
        <p14:creationId xmlns:p14="http://schemas.microsoft.com/office/powerpoint/2010/main" val="17890779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文字-0-0">
            <a:extLst xmlns:a="http://schemas.openxmlformats.org/drawingml/2006/main">
              <a:ext uri="{FF2B5EF4-FFF2-40B4-BE49-F238E27FC236}">
                <a16:creationId xmlns:a16="http://schemas.microsoft.com/office/drawing/2014/main" id="{5BE79D14-592D-4741-889A-6605D955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品質、活動與成本分開驗證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8BED25C1-8A5C-4755-8C84-ED33B7A7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9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7C91427A-4CCF-4909-BCF4-12B6694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AI品質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C046F14F-3C50-44E0-ADB2-6981CD5A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5732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用20組固定情境，查多地點、偏好、預算、閉館、時間衝突、缺活動和</a:t>
            </a:r>
          </a:p>
        </p:txBody>
      </p:sp>
      <p:sp>
        <p:nvSpPr>
          <p:cNvPr id="5" name="文字-3-1">
            <a:extLst xmlns:a="http://schemas.openxmlformats.org/drawingml/2006/main">
              <a:ext uri="{FF2B5EF4-FFF2-40B4-BE49-F238E27FC236}">
                <a16:creationId xmlns:a16="http://schemas.microsoft.com/office/drawing/2014/main" id="{E71F2A0C-0168-41BB-B858-49EE9575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7927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缺來源。核對推薦理由、候選差異、共同目的、延遲與費用。</a:t>
            </a:r>
          </a:p>
        </p:txBody>
      </p:sp>
      <p:sp>
        <p:nvSpPr>
          <p:cNvPr id="6" name="文字-4-0">
            <a:extLst xmlns:a="http://schemas.openxmlformats.org/drawingml/2006/main">
              <a:ext uri="{FF2B5EF4-FFF2-40B4-BE49-F238E27FC236}">
                <a16:creationId xmlns:a16="http://schemas.microsoft.com/office/drawing/2014/main" id="{C5537F07-3CEA-432F-B076-295ADEB4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活動與交通</a:t>
            </a:r>
          </a:p>
        </p:txBody>
      </p:sp>
      <p:sp>
        <p:nvSpPr>
          <p:cNvPr id="7" name="文字-5-0">
            <a:extLst xmlns:a="http://schemas.openxmlformats.org/drawingml/2006/main">
              <a:ext uri="{FF2B5EF4-FFF2-40B4-BE49-F238E27FC236}">
                <a16:creationId xmlns:a16="http://schemas.microsoft.com/office/drawing/2014/main" id="{E80E05E3-2A4E-45B7-A538-9B74A7D5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5275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確認參加、到場、交通查詢、下單和車程完成分開記。只報有資料的事</a:t>
            </a:r>
          </a:p>
        </p:txBody>
      </p:sp>
      <p:sp>
        <p:nvSpPr>
          <p:cNvPr id="8" name="文字-5-1">
            <a:extLst xmlns:a="http://schemas.openxmlformats.org/drawingml/2006/main">
              <a:ext uri="{FF2B5EF4-FFF2-40B4-BE49-F238E27FC236}">
                <a16:creationId xmlns:a16="http://schemas.microsoft.com/office/drawing/2014/main" id="{7A267FA2-2BD8-4C64-AC57-902FABD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7469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件；新增叫車需可比組或期間。活動方另記投入、到場及再合作意願。</a:t>
            </a:r>
          </a:p>
        </p:txBody>
      </p:sp>
      <p:sp>
        <p:nvSpPr>
          <p:cNvPr id="9" name="文字-6-0">
            <a:extLst xmlns:a="http://schemas.openxmlformats.org/drawingml/2006/main">
              <a:ext uri="{FF2B5EF4-FFF2-40B4-BE49-F238E27FC236}">
                <a16:creationId xmlns:a16="http://schemas.microsoft.com/office/drawing/2014/main" id="{B81DFA2E-3CCC-4A25-9C88-9C11D3B7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回訪與單位成本</a:t>
            </a:r>
          </a:p>
        </p:txBody>
      </p:sp>
      <p:sp>
        <p:nvSpPr>
          <p:cNvPr id="10" name="文字-7-0">
            <a:extLst xmlns:a="http://schemas.openxmlformats.org/drawingml/2006/main">
              <a:ext uri="{FF2B5EF4-FFF2-40B4-BE49-F238E27FC236}">
                <a16:creationId xmlns:a16="http://schemas.microsoft.com/office/drawing/2014/main" id="{78A08BAF-3D20-4BBF-9AE5-4780A25A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4817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自然、通知後、獎勵相關可重疊，分類不證明因果。雲端與內容活動成</a:t>
            </a:r>
          </a:p>
        </p:txBody>
      </p:sp>
      <p:sp>
        <p:nvSpPr>
          <p:cNvPr id="11" name="文字-7-1">
            <a:extLst xmlns:a="http://schemas.openxmlformats.org/drawingml/2006/main">
              <a:ext uri="{FF2B5EF4-FFF2-40B4-BE49-F238E27FC236}">
                <a16:creationId xmlns:a16="http://schemas.microsoft.com/office/drawing/2014/main" id="{9E95B18B-FF18-489F-873A-BCD389F6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77012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本分列；有效安排和去重規則定義後再計單位成本，分母為零只</a:t>
            </a:r>
          </a:p>
        </p:txBody>
      </p:sp>
      <p:sp>
        <p:nvSpPr>
          <p:cNvPr id="12" name="文字-7-2">
            <a:extLst xmlns:a="http://schemas.openxmlformats.org/drawingml/2006/main">
              <a:ext uri="{FF2B5EF4-FFF2-40B4-BE49-F238E27FC236}">
                <a16:creationId xmlns:a16="http://schemas.microsoft.com/office/drawing/2014/main" id="{A34223F2-FDCF-4865-980E-712013B8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09206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報總額。</a:t>
            </a:r>
          </a:p>
        </p:txBody>
      </p:sp>
    </p:spTree>
    <p:extLst>
      <p:ext uri="{BB962C8B-B14F-4D97-AF65-F5344CB8AC3E}">
        <p14:creationId xmlns:p14="http://schemas.microsoft.com/office/powerpoint/2010/main" val="19751686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字-0-0">
            <a:extLst xmlns:a="http://schemas.openxmlformats.org/drawingml/2006/main">
              <a:ext uri="{FF2B5EF4-FFF2-40B4-BE49-F238E27FC236}">
                <a16:creationId xmlns:a16="http://schemas.microsoft.com/office/drawing/2014/main" id="{A3E235D2-E072-4B2B-BA23-1D25484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延伸功能與尚待決定的規則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34958017-171A-474E-A347-5750D8E0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這些是保留的提議與後續方向，未列為本版全部開發承諾。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59352230-9A39-43BB-A357-445F0BE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10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40DB9344-F073-4A5F-8044-9DAADC7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地方內容與貢獻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B5D6335D-EA37-4C3E-AB35-4FA3D057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3827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照片地圖、文化故事、照片挑戰及可選日記保留。投稿換更多地方內容</a:t>
            </a:r>
          </a:p>
        </p:txBody>
      </p:sp>
      <p:sp>
        <p:nvSpPr>
          <p:cNvPr id="6" name="文字-4-1">
            <a:extLst xmlns:a="http://schemas.openxmlformats.org/drawingml/2006/main">
              <a:ext uri="{FF2B5EF4-FFF2-40B4-BE49-F238E27FC236}">
                <a16:creationId xmlns:a16="http://schemas.microsoft.com/office/drawing/2014/main" id="{686A6E80-5411-4CC2-B510-4DBFA32E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6022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解鎖是長期候選；基本推薦、規劃與導覽建議一開始可用，邊界</a:t>
            </a:r>
          </a:p>
        </p:txBody>
      </p:sp>
      <p:sp>
        <p:nvSpPr>
          <p:cNvPr id="7" name="文字-4-2">
            <a:extLst xmlns:a="http://schemas.openxmlformats.org/drawingml/2006/main">
              <a:ext uri="{FF2B5EF4-FFF2-40B4-BE49-F238E27FC236}">
                <a16:creationId xmlns:a16="http://schemas.microsoft.com/office/drawing/2014/main" id="{0AAA78AA-7C2C-4257-A4C6-2832BB1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216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待確認。</a:t>
            </a:r>
          </a:p>
        </p:txBody>
      </p:sp>
      <p:sp>
        <p:nvSpPr>
          <p:cNvPr id="8" name="文字-5-0">
            <a:extLst xmlns:a="http://schemas.openxmlformats.org/drawingml/2006/main">
              <a:ext uri="{FF2B5EF4-FFF2-40B4-BE49-F238E27FC236}">
                <a16:creationId xmlns:a16="http://schemas.microsoft.com/office/drawing/2014/main" id="{6A814F0F-B6A4-4E7A-9C83-40FF1448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社交與成長選項</a:t>
            </a:r>
          </a:p>
        </p:txBody>
      </p:sp>
      <p:sp>
        <p:nvSpPr>
          <p:cNvPr id="9" name="文字-6-0">
            <a:extLst xmlns:a="http://schemas.openxmlformats.org/drawingml/2006/main">
              <a:ext uri="{FF2B5EF4-FFF2-40B4-BE49-F238E27FC236}">
                <a16:creationId xmlns:a16="http://schemas.microsoft.com/office/drawing/2014/main" id="{DEEF47C4-A92A-4A49-9337-A70B994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5275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朋友共同紀念需雙方同意；排行榜另訂評分，不把付費消費直接當排</a:t>
            </a:r>
          </a:p>
        </p:txBody>
      </p:sp>
      <p:sp>
        <p:nvSpPr>
          <p:cNvPr id="10" name="文字-6-1">
            <a:extLst xmlns:a="http://schemas.openxmlformats.org/drawingml/2006/main">
              <a:ext uri="{FF2B5EF4-FFF2-40B4-BE49-F238E27FC236}">
                <a16:creationId xmlns:a16="http://schemas.microsoft.com/office/drawing/2014/main" id="{46A0657F-64A9-4FA5-AEF4-1827AE81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7469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名。匿名、同性別選項、位置可見範圍及安全處理仍需產品規則。</a:t>
            </a:r>
          </a:p>
        </p:txBody>
      </p:sp>
      <p:sp>
        <p:nvSpPr>
          <p:cNvPr id="11" name="文字-7-0">
            <a:extLst xmlns:a="http://schemas.openxmlformats.org/drawingml/2006/main">
              <a:ext uri="{FF2B5EF4-FFF2-40B4-BE49-F238E27FC236}">
                <a16:creationId xmlns:a16="http://schemas.microsoft.com/office/drawing/2014/main" id="{189A085F-3BEA-406A-9079-2723CB73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667000" cy="364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rPr>
              <a:t>其他會議構想</a:t>
            </a:r>
          </a:p>
        </p:txBody>
      </p:sp>
      <p:sp>
        <p:nvSpPr>
          <p:cNvPr id="12" name="文字-8-0">
            <a:extLst xmlns:a="http://schemas.openxmlformats.org/drawingml/2006/main">
              <a:ext uri="{FF2B5EF4-FFF2-40B4-BE49-F238E27FC236}">
                <a16:creationId xmlns:a16="http://schemas.microsoft.com/office/drawing/2014/main" id="{17CC4F91-2896-44FE-8481-C7D611B7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67225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多景點旅遊、跨圈交流、神祕目的地、戀愛巴士、跨城市順風車、簽</a:t>
            </a:r>
          </a:p>
        </p:txBody>
      </p:sp>
      <p:sp>
        <p:nvSpPr>
          <p:cNvPr id="13" name="文字-8-1">
            <a:extLst xmlns:a="http://schemas.openxmlformats.org/drawingml/2006/main">
              <a:ext uri="{FF2B5EF4-FFF2-40B4-BE49-F238E27FC236}">
                <a16:creationId xmlns:a16="http://schemas.microsoft.com/office/drawing/2014/main" id="{1569C047-3A13-41F3-AB0E-19FF41D2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789170"/>
            <a:ext cx="7896225" cy="326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到、小驚喜、隨機回饋與評論平台參考，保留後續評估。</a:t>
            </a:r>
          </a:p>
        </p:txBody>
      </p:sp>
    </p:spTree>
    <p:extLst>
      <p:ext uri="{BB962C8B-B14F-4D97-AF65-F5344CB8AC3E}">
        <p14:creationId xmlns:p14="http://schemas.microsoft.com/office/powerpoint/2010/main" val="19659245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文字-0-0">
            <a:extLst xmlns:a="http://schemas.openxmlformats.org/drawingml/2006/main">
              <a:ext uri="{FF2B5EF4-FFF2-40B4-BE49-F238E27FC236}">
                <a16:creationId xmlns:a16="http://schemas.microsoft.com/office/drawing/2014/main" id="{6EFC712E-2BF4-4595-8F9B-BB23DE16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553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來源與素材</a:t>
            </a:r>
          </a:p>
        </p:txBody>
      </p:sp>
      <p:sp>
        <p:nvSpPr>
          <p:cNvPr id="2" name="文字-1-0">
            <a:extLst xmlns:a="http://schemas.openxmlformats.org/drawingml/2006/main">
              <a:ext uri="{FF2B5EF4-FFF2-40B4-BE49-F238E27FC236}">
                <a16:creationId xmlns:a16="http://schemas.microsoft.com/office/drawing/2014/main" id="{65D3B4FA-4CD9-4F48-945A-BA9C4A3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7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地方資料支持例子，工具文件支持技術候選；均不代表本案效果已成立。</a:t>
            </a:r>
          </a:p>
        </p:txBody>
      </p:sp>
      <p:sp>
        <p:nvSpPr>
          <p:cNvPr id="3" name="文字-2-0">
            <a:extLst xmlns:a="http://schemas.openxmlformats.org/drawingml/2006/main">
              <a:ext uri="{FF2B5EF4-FFF2-40B4-BE49-F238E27FC236}">
                <a16:creationId xmlns:a16="http://schemas.microsoft.com/office/drawing/2014/main" id="{8E7F8B97-BCD5-456B-88D3-2463A6C7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714375" cy="21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2636A"/>
                </a:solidFill>
                <a:latin typeface="Arial Unicode MS"/>
                <a:ea typeface="Arial Unicode MS"/>
                <a:cs typeface="Arial Unicode MS"/>
              </a:rPr>
              <a:t>附錄 11</a:t>
            </a:r>
          </a:p>
        </p:txBody>
      </p:sp>
      <p:sp>
        <p:nvSpPr>
          <p:cNvPr id="4" name="文字-3-0">
            <a:extLst xmlns:a="http://schemas.openxmlformats.org/drawingml/2006/main">
              <a:ext uri="{FF2B5EF4-FFF2-40B4-BE49-F238E27FC236}">
                <a16:creationId xmlns:a16="http://schemas.microsoft.com/office/drawing/2014/main" id="{E99EE415-08B3-4927-A7B1-A4769548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42987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5de0f8fb59cf4270"/>
              </a:rPr>
              <a:t>官方命題與繳件資料</a:t>
            </a:r>
          </a:p>
        </p:txBody>
      </p:sp>
      <p:sp>
        <p:nvSpPr>
          <p:cNvPr id="5" name="文字-4-0">
            <a:extLst xmlns:a="http://schemas.openxmlformats.org/drawingml/2006/main">
              <a:ext uri="{FF2B5EF4-FFF2-40B4-BE49-F238E27FC236}">
                <a16:creationId xmlns:a16="http://schemas.microsoft.com/office/drawing/2014/main" id="{C09CB9D0-B9DE-4AA8-96BE-DB1722E7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42987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a4e1706d19904bb7"/>
              </a:rPr>
              <a:t>工作區保存的官方原件與會議資料</a:t>
            </a:r>
          </a:p>
        </p:txBody>
      </p:sp>
      <p:sp>
        <p:nvSpPr>
          <p:cNvPr id="6" name="文字-5-0">
            <a:extLst xmlns:a="http://schemas.openxmlformats.org/drawingml/2006/main">
              <a:ext uri="{FF2B5EF4-FFF2-40B4-BE49-F238E27FC236}">
                <a16:creationId xmlns:a16="http://schemas.microsoft.com/office/drawing/2014/main" id="{D425E208-E8AC-4954-8DDF-E3F0126E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42987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9bc0c95489a4eea"/>
              </a:rPr>
              <a:t>藍晒圖文創園區｜臺南旅遊網</a:t>
            </a:r>
          </a:p>
        </p:txBody>
      </p:sp>
      <p:sp>
        <p:nvSpPr>
          <p:cNvPr id="7" name="文字-6-0">
            <a:extLst xmlns:a="http://schemas.openxmlformats.org/drawingml/2006/main">
              <a:ext uri="{FF2B5EF4-FFF2-40B4-BE49-F238E27FC236}">
                <a16:creationId xmlns:a16="http://schemas.microsoft.com/office/drawing/2014/main" id="{F9483595-38FC-48E3-89D7-1DBC4EDD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42987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138f3e3fd4849a1"/>
              </a:rPr>
              <a:t>臺南國家美術館｜臺南旅遊網</a:t>
            </a:r>
          </a:p>
        </p:txBody>
      </p:sp>
      <p:sp>
        <p:nvSpPr>
          <p:cNvPr id="8" name="文字-7-0">
            <a:extLst xmlns:a="http://schemas.openxmlformats.org/drawingml/2006/main">
              <a:ext uri="{FF2B5EF4-FFF2-40B4-BE49-F238E27FC236}">
                <a16:creationId xmlns:a16="http://schemas.microsoft.com/office/drawing/2014/main" id="{6E6BE4C6-67F5-4232-B498-C7E4818E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42987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0090450f99b24b77"/>
              </a:rPr>
              <a:t>Gemini模型與費率</a:t>
            </a:r>
          </a:p>
        </p:txBody>
      </p:sp>
      <p:sp>
        <p:nvSpPr>
          <p:cNvPr id="9" name="文字-8-0">
            <a:extLst xmlns:a="http://schemas.openxmlformats.org/drawingml/2006/main">
              <a:ext uri="{FF2B5EF4-FFF2-40B4-BE49-F238E27FC236}">
                <a16:creationId xmlns:a16="http://schemas.microsoft.com/office/drawing/2014/main" id="{B2AA116F-A9E4-4218-9F89-7DA103EF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42987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20fd010fa8f14d88"/>
              </a:rPr>
              <a:t>Supabase方案</a:t>
            </a:r>
          </a:p>
        </p:txBody>
      </p:sp>
      <p:sp>
        <p:nvSpPr>
          <p:cNvPr id="10" name="文字-9-0">
            <a:extLst xmlns:a="http://schemas.openxmlformats.org/drawingml/2006/main">
              <a:ext uri="{FF2B5EF4-FFF2-40B4-BE49-F238E27FC236}">
                <a16:creationId xmlns:a16="http://schemas.microsoft.com/office/drawing/2014/main" id="{4C050538-DF33-486A-B263-89EDFFED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429875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4566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9fcc8887fbc4d33"/>
              </a:rPr>
              <a:t>Google Routes費率</a:t>
            </a:r>
          </a:p>
        </p:txBody>
      </p:sp>
      <p:sp>
        <p:nvSpPr>
          <p:cNvPr id="11" name="文字-10-0">
            <a:extLst xmlns:a="http://schemas.openxmlformats.org/drawingml/2006/main">
              <a:ext uri="{FF2B5EF4-FFF2-40B4-BE49-F238E27FC236}">
                <a16:creationId xmlns:a16="http://schemas.microsoft.com/office/drawing/2014/main" id="{DC66F2CB-D395-48F2-B72E-C61121C8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本版插畫由AI生成，為體驗與角色概念，非實景、正式UI或實測結果。</a:t>
            </a:r>
          </a:p>
        </p:txBody>
      </p:sp>
      <p:sp>
        <p:nvSpPr>
          <p:cNvPr id="12" name="文字-10-1">
            <a:extLst xmlns:a="http://schemas.openxmlformats.org/drawingml/2006/main">
              <a:ext uri="{FF2B5EF4-FFF2-40B4-BE49-F238E27FC236}">
                <a16:creationId xmlns:a16="http://schemas.microsoft.com/office/drawing/2014/main" id="{C9F7D236-C852-452C-A86B-CAF24F7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8313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既有服務參考：Google Maps、Timeleft、Meetup、Pikmin Bloom。</a:t>
            </a:r>
          </a:p>
        </p:txBody>
      </p:sp>
      <p:sp>
        <p:nvSpPr>
          <p:cNvPr id="13" name="文字-10-2">
            <a:extLst xmlns:a="http://schemas.openxmlformats.org/drawingml/2006/main">
              <a:ext uri="{FF2B5EF4-FFF2-40B4-BE49-F238E27FC236}">
                <a16:creationId xmlns:a16="http://schemas.microsoft.com/office/drawing/2014/main" id="{02BCC586-46C3-4E1D-8786-D0AC2C31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F3A"/>
                </a:solidFill>
                <a:latin typeface="Arial Unicode MS"/>
                <a:ea typeface="Arial Unicode MS"/>
                <a:cs typeface="Arial Unicode MS"/>
              </a:rPr>
              <a:t>完整連結與使用範圍保留在講者備註。</a:t>
            </a:r>
          </a:p>
        </p:txBody>
      </p:sp>
    </p:spTree>
    <p:extLst>
      <p:ext uri="{BB962C8B-B14F-4D97-AF65-F5344CB8AC3E}">
        <p14:creationId xmlns:p14="http://schemas.microsoft.com/office/powerpoint/2010/main" val="1380305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2026-10-10T15:37:14.0790000Z</dcterms:created>
  <dcterms:modified xsi:type="dcterms:W3CDTF">2026-10-10T15:37:14.0790000Z</dcterms:modified>
</coreProperties>
</file>
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6013182eec4e4d" /><Relationship Type="http://schemas.openxmlformats.org/officeDocument/2006/relationships/extended-properties" Target="/docProps/app.xml" Id="R5cedac1083d149b2" /><Relationship Type="http://schemas.openxmlformats.org/officeDocument/2006/relationships/officeDocument" Target="/ppt/presentation.xml" Id="Rc727e1f8bda84d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633b27066a4302"/>
  </p:sldMasterIdLst>
  <p:notesMasterIdLst>
    <p:notesMasterId xmlns:r="http://schemas.openxmlformats.org/officeDocument/2006/relationships" r:id="R4210422d47dc4b64"/>
  </p:notesMasterIdLst>
  <p:sldIdLst>
    <p:sldId xmlns:r="http://schemas.openxmlformats.org/officeDocument/2006/relationships" id="256" r:id="R2c10384081d047d5"/>
    <p:sldId xmlns:r="http://schemas.openxmlformats.org/officeDocument/2006/relationships" id="257" r:id="R22a5d325aead4a4e"/>
    <p:sldId xmlns:r="http://schemas.openxmlformats.org/officeDocument/2006/relationships" id="258" r:id="Rc93a2ec7c4854a67"/>
    <p:sldId xmlns:r="http://schemas.openxmlformats.org/officeDocument/2006/relationships" id="259" r:id="R5c9e885dcf694115"/>
    <p:sldId xmlns:r="http://schemas.openxmlformats.org/officeDocument/2006/relationships" id="260" r:id="R2e797c44c5084b92"/>
    <p:sldId xmlns:r="http://schemas.openxmlformats.org/officeDocument/2006/relationships" id="261" r:id="R3dc86a38adb64e06"/>
    <p:sldId xmlns:r="http://schemas.openxmlformats.org/officeDocument/2006/relationships" id="262" r:id="R60e5990383604c62"/>
    <p:sldId xmlns:r="http://schemas.openxmlformats.org/officeDocument/2006/relationships" id="263" r:id="Rf1f5c9a2f8a148ba"/>
    <p:sldId xmlns:r="http://schemas.openxmlformats.org/officeDocument/2006/relationships" id="264" r:id="R6b99733ec06f4868"/>
    <p:sldId xmlns:r="http://schemas.openxmlformats.org/officeDocument/2006/relationships" id="265" r:id="Rf17f2c864a424356"/>
    <p:sldId xmlns:r="http://schemas.openxmlformats.org/officeDocument/2006/relationships" id="266" r:id="Rda50700fb7964c9a"/>
    <p:sldId xmlns:r="http://schemas.openxmlformats.org/officeDocument/2006/relationships" id="267" r:id="R0404645613d548d9"/>
    <p:sldId xmlns:r="http://schemas.openxmlformats.org/officeDocument/2006/relationships" id="268" r:id="R4df911bd4be44ec4"/>
    <p:sldId xmlns:r="http://schemas.openxmlformats.org/officeDocument/2006/relationships" id="269" r:id="R4bf069be9a8d4458"/>
    <p:sldId xmlns:r="http://schemas.openxmlformats.org/officeDocument/2006/relationships" id="270" r:id="R0c178cfda5484235"/>
    <p:sldId xmlns:r="http://schemas.openxmlformats.org/officeDocument/2006/relationships" id="271" r:id="R1eead95102644e38"/>
    <p:sldId xmlns:r="http://schemas.openxmlformats.org/officeDocument/2006/relationships" id="272" r:id="R0a143335935549ed"/>
    <p:sldId xmlns:r="http://schemas.openxmlformats.org/officeDocument/2006/relationships" id="273" r:id="R0d2fa3c1c8024129"/>
    <p:sldId xmlns:r="http://schemas.openxmlformats.org/officeDocument/2006/relationships" id="274" r:id="R753ee171d81047f3"/>
    <p:sldId xmlns:r="http://schemas.openxmlformats.org/officeDocument/2006/relationships" id="275" r:id="R97ccb84cc42e4078"/>
    <p:sldId xmlns:r="http://schemas.openxmlformats.org/officeDocument/2006/relationships" id="276" r:id="R5cc28dd86fe3450e"/>
    <p:sldId xmlns:r="http://schemas.openxmlformats.org/officeDocument/2006/relationships" id="277" r:id="Rda0d4f7905024b68"/>
    <p:sldId xmlns:r="http://schemas.openxmlformats.org/officeDocument/2006/relationships" id="278" r:id="R6520fe2175894adb"/>
    <p:sldId xmlns:r="http://schemas.openxmlformats.org/officeDocument/2006/relationships" id="279" r:id="Rd7241902fa614bc7"/>
    <p:sldId xmlns:r="http://schemas.openxmlformats.org/officeDocument/2006/relationships" id="280" r:id="R84f564b0576b4d2e"/>
    <p:sldId xmlns:r="http://schemas.openxmlformats.org/officeDocument/2006/relationships" id="281" r:id="R579a835d712d4fd6"/>
    <p:sldId xmlns:r="http://schemas.openxmlformats.org/officeDocument/2006/relationships" id="282" r:id="R9391665c8fcd45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d84d177dc64a25" /><Relationship Type="http://schemas.openxmlformats.org/officeDocument/2006/relationships/slideMaster" Target="/ppt/slideMasters/slideMaster1.xml" Id="R8c633b27066a4302" /><Relationship Type="http://schemas.openxmlformats.org/officeDocument/2006/relationships/notesMaster" Target="/ppt/notesMasters/notesMaster1.xml" Id="R4210422d47dc4b64" /><Relationship Type="http://schemas.openxmlformats.org/officeDocument/2006/relationships/presProps" Target="/ppt/presProps.xml" Id="Ra572f86431224f1d" /><Relationship Type="http://schemas.openxmlformats.org/officeDocument/2006/relationships/tableStyles" Target="/ppt/tableStyles.xml" Id="R45a4d0237d414cbc" /><Relationship Type="http://schemas.openxmlformats.org/officeDocument/2006/relationships/slide" Target="/ppt/slides/slide1.xml" Id="R2c10384081d047d5" /><Relationship Type="http://schemas.openxmlformats.org/officeDocument/2006/relationships/slide" Target="/ppt/slides/slide2.xml" Id="R22a5d325aead4a4e" /><Relationship Type="http://schemas.openxmlformats.org/officeDocument/2006/relationships/slide" Target="/ppt/slides/slide3.xml" Id="Rc93a2ec7c4854a67" /><Relationship Type="http://schemas.openxmlformats.org/officeDocument/2006/relationships/slide" Target="/ppt/slides/slide4.xml" Id="R5c9e885dcf694115" /><Relationship Type="http://schemas.openxmlformats.org/officeDocument/2006/relationships/slide" Target="/ppt/slides/slide5.xml" Id="R2e797c44c5084b92" /><Relationship Type="http://schemas.openxmlformats.org/officeDocument/2006/relationships/slide" Target="/ppt/slides/slide6.xml" Id="R3dc86a38adb64e06" /><Relationship Type="http://schemas.openxmlformats.org/officeDocument/2006/relationships/slide" Target="/ppt/slides/slide7.xml" Id="R60e5990383604c62" /><Relationship Type="http://schemas.openxmlformats.org/officeDocument/2006/relationships/slide" Target="/ppt/slides/slide8.xml" Id="Rf1f5c9a2f8a148ba" /><Relationship Type="http://schemas.openxmlformats.org/officeDocument/2006/relationships/slide" Target="/ppt/slides/slide9.xml" Id="R6b99733ec06f4868" /><Relationship Type="http://schemas.openxmlformats.org/officeDocument/2006/relationships/slide" Target="/ppt/slides/slide10.xml" Id="Rf17f2c864a424356" /><Relationship Type="http://schemas.openxmlformats.org/officeDocument/2006/relationships/slide" Target="/ppt/slides/slide11.xml" Id="Rda50700fb7964c9a" /><Relationship Type="http://schemas.openxmlformats.org/officeDocument/2006/relationships/slide" Target="/ppt/slides/slide12.xml" Id="R0404645613d548d9" /><Relationship Type="http://schemas.openxmlformats.org/officeDocument/2006/relationships/slide" Target="/ppt/slides/slide13.xml" Id="R4df911bd4be44ec4" /><Relationship Type="http://schemas.openxmlformats.org/officeDocument/2006/relationships/slide" Target="/ppt/slides/slide14.xml" Id="R4bf069be9a8d4458" /><Relationship Type="http://schemas.openxmlformats.org/officeDocument/2006/relationships/slide" Target="/ppt/slides/slide15.xml" Id="R0c178cfda5484235" /><Relationship Type="http://schemas.openxmlformats.org/officeDocument/2006/relationships/slide" Target="/ppt/slides/slide16.xml" Id="R1eead95102644e38" /><Relationship Type="http://schemas.openxmlformats.org/officeDocument/2006/relationships/slide" Target="/ppt/slides/slide17.xml" Id="R0a143335935549ed" /><Relationship Type="http://schemas.openxmlformats.org/officeDocument/2006/relationships/slide" Target="/ppt/slides/slide18.xml" Id="R0d2fa3c1c8024129" /><Relationship Type="http://schemas.openxmlformats.org/officeDocument/2006/relationships/slide" Target="/ppt/slides/slide19.xml" Id="R753ee171d81047f3" /><Relationship Type="http://schemas.openxmlformats.org/officeDocument/2006/relationships/slide" Target="/ppt/slides/slide20.xml" Id="R97ccb84cc42e4078" /><Relationship Type="http://schemas.openxmlformats.org/officeDocument/2006/relationships/slide" Target="/ppt/slides/slide21.xml" Id="R5cc28dd86fe3450e" /><Relationship Type="http://schemas.openxmlformats.org/officeDocument/2006/relationships/slide" Target="/ppt/slides/slide22.xml" Id="Rda0d4f7905024b68" /><Relationship Type="http://schemas.openxmlformats.org/officeDocument/2006/relationships/slide" Target="/ppt/slides/slide23.xml" Id="R6520fe2175894adb" /><Relationship Type="http://schemas.openxmlformats.org/officeDocument/2006/relationships/slide" Target="/ppt/slides/slide24.xml" Id="Rd7241902fa614bc7" /><Relationship Type="http://schemas.openxmlformats.org/officeDocument/2006/relationships/slide" Target="/ppt/slides/slide25.xml" Id="R84f564b0576b4d2e" /><Relationship Type="http://schemas.openxmlformats.org/officeDocument/2006/relationships/slide" Target="/ppt/slides/slide26.xml" Id="R579a835d712d4fd6" /><Relationship Type="http://schemas.openxmlformats.org/officeDocument/2006/relationships/slide" Target="/ppt/slides/slide27.xml" Id="R9391665c8fcd45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ddff5f62ec45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e3668a71814127" /><Relationship Type="http://schemas.openxmlformats.org/officeDocument/2006/relationships/notesMaster" Target="/ppt/notesMasters/notesMaster1.xml" Id="R07ff773de8354f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2c63a6bf33a451e" /><Relationship Type="http://schemas.openxmlformats.org/officeDocument/2006/relationships/notesMaster" Target="/ppt/notesMasters/notesMaster1.xml" Id="Rf65fbcfcf7fd49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a2ca3363164ea6" /><Relationship Type="http://schemas.openxmlformats.org/officeDocument/2006/relationships/notesMaster" Target="/ppt/notesMasters/notesMaster1.xml" Id="R0782e4130aa642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2d8e05a76344d9" /><Relationship Type="http://schemas.openxmlformats.org/officeDocument/2006/relationships/notesMaster" Target="/ppt/notesMasters/notesMaster1.xml" Id="R6caf535387874a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53b6dc64fc4e49" /><Relationship Type="http://schemas.openxmlformats.org/officeDocument/2006/relationships/notesMaster" Target="/ppt/notesMasters/notesMaster1.xml" Id="R48e7aeaaf2a141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f2888ca5a14ff5" /><Relationship Type="http://schemas.openxmlformats.org/officeDocument/2006/relationships/notesMaster" Target="/ppt/notesMasters/notesMaster1.xml" Id="R6da7ed3c63284fe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830f9c3b534d10" /><Relationship Type="http://schemas.openxmlformats.org/officeDocument/2006/relationships/notesMaster" Target="/ppt/notesMasters/notesMaster1.xml" Id="Rc0ed8baaf21648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27b2c042ab49a6" /><Relationship Type="http://schemas.openxmlformats.org/officeDocument/2006/relationships/notesMaster" Target="/ppt/notesMasters/notesMaster1.xml" Id="R37adafb5e9f04a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d87eb217b34b2d" /><Relationship Type="http://schemas.openxmlformats.org/officeDocument/2006/relationships/notesMaster" Target="/ppt/notesMasters/notesMaster1.xml" Id="Rd875b81f6ed54f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ebbe05c4ab4224" /><Relationship Type="http://schemas.openxmlformats.org/officeDocument/2006/relationships/notesMaster" Target="/ppt/notesMasters/notesMaster1.xml" Id="R18299df9d97b449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861f22a67a48c4" /><Relationship Type="http://schemas.openxmlformats.org/officeDocument/2006/relationships/notesMaster" Target="/ppt/notesMasters/notesMaster1.xml" Id="R446c5756e1b2416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7ac4921d7e48e2" /><Relationship Type="http://schemas.openxmlformats.org/officeDocument/2006/relationships/notesMaster" Target="/ppt/notesMasters/notesMaster1.xml" Id="R01659d835afe42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0e00313dc94e1a" /><Relationship Type="http://schemas.openxmlformats.org/officeDocument/2006/relationships/notesMaster" Target="/ppt/notesMasters/notesMaster1.xml" Id="R96dd83f631434ae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db8b9d42f14154" /><Relationship Type="http://schemas.openxmlformats.org/officeDocument/2006/relationships/notesMaster" Target="/ppt/notesMasters/notesMaster1.xml" Id="Rc89540e4a51d41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7babe2fb854a6d" /><Relationship Type="http://schemas.openxmlformats.org/officeDocument/2006/relationships/notesMaster" Target="/ppt/notesMasters/notesMaster1.xml" Id="R289b95743811421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d627eb75014537" /><Relationship Type="http://schemas.openxmlformats.org/officeDocument/2006/relationships/notesMaster" Target="/ppt/notesMasters/notesMaster1.xml" Id="R795f92bd66a947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758aae599414569" /><Relationship Type="http://schemas.openxmlformats.org/officeDocument/2006/relationships/notesMaster" Target="/ppt/notesMasters/notesMaster1.xml" Id="Rf85f1b078023483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1db01d5b4a47eb" /><Relationship Type="http://schemas.openxmlformats.org/officeDocument/2006/relationships/notesMaster" Target="/ppt/notesMasters/notesMaster1.xml" Id="Rd3bcdb8401a14f4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013b178b4b84583" /><Relationship Type="http://schemas.openxmlformats.org/officeDocument/2006/relationships/notesMaster" Target="/ppt/notesMasters/notesMaster1.xml" Id="R634b6f9f976f4e7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5ab3ce325d4318" /><Relationship Type="http://schemas.openxmlformats.org/officeDocument/2006/relationships/notesMaster" Target="/ppt/notesMasters/notesMaster1.xml" Id="R4570b0a19af34f6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4b7e1ea5fd14abf" /><Relationship Type="http://schemas.openxmlformats.org/officeDocument/2006/relationships/notesMaster" Target="/ppt/notesMasters/notesMaster1.xml" Id="R5003af301c65420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e94c1923a714c05" /><Relationship Type="http://schemas.openxmlformats.org/officeDocument/2006/relationships/notesMaster" Target="/ppt/notesMasters/notesMaster1.xml" Id="R6515b8e38f964e2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64e85efea5c446a" /><Relationship Type="http://schemas.openxmlformats.org/officeDocument/2006/relationships/notesMaster" Target="/ppt/notesMasters/notesMaster1.xml" Id="R36988ee0cdb3466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e3b6221c0a45a0" /><Relationship Type="http://schemas.openxmlformats.org/officeDocument/2006/relationships/notesMaster" Target="/ppt/notesMasters/notesMaster1.xml" Id="Re34202c87e134ab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5b0e856766940ee" /><Relationship Type="http://schemas.openxmlformats.org/officeDocument/2006/relationships/notesMaster" Target="/ppt/notesMasters/notesMaster1.xml" Id="R9e968fc46e1749f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9159b356e004975" /><Relationship Type="http://schemas.openxmlformats.org/officeDocument/2006/relationships/notesMaster" Target="/ppt/notesMasters/notesMaster1.xml" Id="Rf475780389e3425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c76c694b5e6421f" /><Relationship Type="http://schemas.openxmlformats.org/officeDocument/2006/relationships/notesMaster" Target="/ppt/notesMasters/notesMaster1.xml" Id="R1403ed8921f94b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這份提案把 yoxi 的使用時機往前延伸。使用者還沒有叫車需求時，就能找新體驗、找人一起，或玩城市挑戰。三種用法可以各自開始，也會透過本人確認的興趣、收藏與紀錄互相接續。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以下是服務構想。團隊名稱、正式作品名及實際採用的工具仍待確認，使用效果與估算尚未經實測。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https://ht-hackathon.tw/tw/home/</a:t>
            </a:r>
          </a:p>
          <a:p xmlns:a="http://schemas.openxmlformats.org/drawingml/2006/main">
            <a:r>
              <a:t>官方初賽簡報模板：七欄摘要、一頁摘要與附錄不計入十五頁正文。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我們想讓 yoxi 在還沒決定出門時，就能幫上忙。看到想去的地方，可以繼續找相似的體驗；想吃合菜卻找不到人，可以加入有人帶頭的邀約；今天留在家，也能透過小挑戰認識城市，累積自己的收藏與寵物成長。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這三種用法各自有吸引人的地方。當使用者想繼續探索，已經確認的興趣和收藏又能帶出新的活動。等到決定出發，yoxi 再承接交通安排。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份提案從三個使用時機出發。第一個是已經收藏了地方，卻還沒找到成行的機會。第二個是想做一件事，但少了願意一起的人，或少了先開口邀約的人。第三個是日常空檔，希望有一點可以探索、可以累積的樂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首批試用會找有這些需求的人，同一個人也可能符合不只一種。我們要先知道他願意為哪一個結果回來，再調整推薦、活動和遊戲內容。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探索的入口可以是一則貼文、一張照片，也可以直接說想做什麼。從手機分享選單送進 yoxi 後，AI 先整理地點和可能的喜好，再請本人確認。以這個案例來說，留下的是「我喜歡線條與空間感」，接著才拿這個條件找地方。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晒圖可以觀察白線與立體裝置；美術館則能結合空間攝影和看展。兩個選項提供不同的體驗。時間變少時，規劃會調整能做的事；到了現場，導覽再幫使用者發現值得看的細節。台南是這段的說明素材，試辦城市還沒選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https://www.twtainan.net/zh-tw/attractions/detail/740/</a:t>
            </a:r>
          </a:p>
          <a:p xmlns:a="http://schemas.openxmlformats.org/drawingml/2006/main">
            <a:r>
              <a:t>https://www.twtainan.net/zh-tw/attractions/detail/5533/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找伴的價值，是讓原本不好參加的體驗變得可行。像合菜，一個人不好點，多人一起就有更多菜可以試，也有機會認識同好。對不習慣發起的人來說，眼前有一個時間清楚、有人主持的邀約，會比要求他自己開團更接近需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用四人合菜作示例。參加前要看清楚時間、人數、每人費用和截止時間。如果只是想有人一起、還沒決定去哪裡，也能從興趣和可約時段開始。首批活動由試辦主持人先提供邀約；沒有合適活動時，保留意願，等實際出現新邀約再通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遊戲先給一個值得觀察的問題。這題要從白線和立體結構的關係，找到相符的街景。使用者可以先猜，也可以選擇看提示，答錯後還能再試。揭曉要說明看到了什麼，讓解題本身留下收穫。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來才把線索連到地方。以藍晒圖為例，園區前身是司法宿舍，現在結合藝術裝置與文創店家。這些內容可以存成發現卡；日後到訪，再拍自己的角度，加回原本的卡片；也可以選同角度的拍照挑戰，保留會議提出的不同玩法。小挑戰、地方故事和實地探索因此有了關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https://www.twtainan.net/zh-tw/attractions/detail/740/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收藏最有用的時候，是後來出現了適合自己的機會。原本想吃的餐廳有新邀約，可以回來看人數和費用；收藏的地方在外縣市，可以留到旅行時再用，同時看看附近有沒有相似體驗。原本的收藏都保留。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遊戲發現也能接進來。玩過一個地方的題目後，想親自去的人可以加入想去清單，到場再把照片加回紀錄。使用者自己決定要不要開啟附近或新邀約通知，也自己決定是否參加，這樣收藏才能延續興趣，又保留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長要讓使用者知道接著想做什麼，也看得見做完之後的改變。他可以先選喜歡的主題，完成其中的發現；寵物隨著經驗增加動作和表情，主題完成後，再由本人選造型或物件。配件也能回看取得的地方，讓它和自己的經歷有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次打開的理由可以不同。有人等新題目，有人回來看未完成的主題，也有人關心收藏地點的新邀約。中斷後保留已有進度。步數、乘車里程和優惠可以加入成長設計，但要先確認資料、回饋成本與條件，遊戲經驗和可兌換點數分開處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的作用要從結果看得出來。想吃合菜的人，先確認時段與預算，再從可參加的邀約中找餐點興趣相近的同伴，說明共同點。如果原本只有我想拍空間，朋友加入後又多了看展的需求，推薦就要找出兩個人各自有期待的安排。再遇到時間或預算改變，也要重新比較候選，說清楚保留了什麼、哪個條件還沒滿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樣的方法可以用在導覽和遊戲提示。使用者卡在觀察哪個細節，就補那一段資訊。這些結果都要建立在可核對的資料上。本人願意保留的喜好與回饋，才會進入下一次推薦；這次朋友的限制不會自動變成自己的長期偏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https://www.twtainan.net/zh-tw/attractions/detail/740/</a:t>
            </a:r>
          </a:p>
          <a:p xmlns:a="http://schemas.openxmlformats.org/drawingml/2006/main">
            <a:r>
              <a:t>https://www.twtainan.net/zh-tw/attractions/detail/5533/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術上先分清楚誰負責什麼。模型理解圖片和文字，把需求整理成可比較的候選；地方和活動資料則提供開放時間、費用、名額和內容來源。後端再用規則核對條件，避免把模型的一句建議直接當成可報名的活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模型候選是 Gemini 3.8 Flash，因為它能處理圖片與文字，也能分欄輸出，方便核對。搭配 Supabase 保存地方資料、收藏、紀錄與邀約，Google Routes 查路程。實際介接後，會用固定情境比較品質、等待時間和成本，再決定正式選型。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https://ai.google.dev/gemini-api/docs/structured-output</a:t>
            </a:r>
          </a:p>
          <a:p xmlns:a="http://schemas.openxmlformats.org/drawingml/2006/main">
            <a:r>
              <a:t>https://supabase.com/pricing</a:t>
            </a:r>
          </a:p>
          <a:p xmlns:a="http://schemas.openxmlformats.org/drawingml/2006/main">
            <a:r>
              <a:t>https://developers.google.com/maps/billing-and-pricing/pricing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這些常見功能本身已經有成熟服務。Google Maps 有地點搜尋、對話規劃和分享；Timeleft 能安排配對活動；Pikmin Bloom 結合步行、蒐集和紀念。使用者熟悉的好用功能仍然值得保留，我們要說明的是它們在這份提案裡如何互相增加價值。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收藏能接上有人帶頭的邀約，城市遊戲能接上地方故事與親自探索，實際經歷再回到後續推薦。要持續做好的基礎，是本人確認的細緻偏好、可參加的活動供給，以及經過審核的地方題庫。這些都需要累積，目前還不能宣稱難以複製。是否比各自使用既有服務更有吸引力，需要用同一個需求和相近條件實際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https://blog.google/products-and-platforms/products/maps/ask-maps-immersive-navigation/</a:t>
            </a:r>
          </a:p>
          <a:p xmlns:a="http://schemas.openxmlformats.org/drawingml/2006/main">
            <a:r>
              <a:t>https://help.timeleft.com/hc/en-150/articles/28529250732444-What-is-Timeleft-and-How-Does-It-Work</a:t>
            </a:r>
          </a:p>
          <a:p xmlns:a="http://schemas.openxmlformats.org/drawingml/2006/main">
            <a:r>
              <a:t>https://www.pikminbloom.com/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yoxi 的角色從使用者還在想去哪裡時就開始。活動方先提供可以參加的體驗，使用者找到同好、確認時間和費用，接著才決定怎麼出發。活動方能從提前報名掌握人數，再安排服務。多人套餐或合作優惠若有實際提供，可以連同各自前往或同車的費用比較總花費，再判斷是否划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交通沿用已經選好的目的地與同行安排，但共同參加和同車分開。第一版維持一團一個目的地，可以有不同上車點，讓使用者比較等待、路程和各自負擔。官方提到的去識別熱門地點與時段資料，可協助挑選活動區域；它不代表個人的喜好或即時車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https://ht-hackathon.tw/tw/home/</a:t>
            </a:r>
          </a:p>
          <a:p xmlns:a="http://schemas.openxmlformats.org/drawingml/2006/main">
            <a:r>
              <a:t>https://ht-hackathon.tw/tw/challenge?item=6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內容要讓三種用法都有東西可以體驗。探索先準備三十筆地方與活動資料；遊戲先做三個主題、十二道挑戰，每道題目都要有素材、答案和揭曉。活動則先安排三場有人主持的邀約，讓想參加的人看得到具體機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再招募二十位有相關需求的人試用。試辦地區依團隊能否到場核對、取得素材和找到活動提供者決定。台南目前只是案例，城市確定後，範例、內容供給和人力安排會一起調整。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這份估算把展示中的手機分享入口列進雛型工作。原本的開發範圍再加三十二到四十八人時，先在一個手機平台驗證分享進來的文字、圖片和地圖連結。正式接進 yoxi，以及第二個平台的工作量，仍需要確認介接條件後另估。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遊戲內容也加入地方故事與揭曉，每題先抓三人時。以這組人力單價和工作量計，雛型加首批內容約二十六萬到三十七萬多元；每月內容與兩場活動約一萬六千元。雲端另外用一百人的情境估算，這和二十人的首測規模不同。所有金額都是規劃假設，後續用實際製作與用量修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驗證先從理解開始。找沒有參與製作的人看完提案，請他用自己的話說明用途，再看哪一個結果會讓他想試。如果看不懂，就修說明和畫面；如果看懂卻不想用，就回到體驗本身。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接著讓試用者實際比較推薦和共同安排，並且玩到解題、揭曉和成長。兩週內記錄他是否在不同日子回來、回來做什麼，也量測 AI 的錯誤、延遲和費用。七日回來一次只能支持早期回訪觀察，高頻和長期使用還需要繼續看。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這份提案希望留下三個清楚的好處：想探索時，能從喜歡的內容找到親自體驗的機會；想找伴時，有人一起、有具體邀約；日常空檔，也能從城市挑戰得到發現和成長。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三種用法透過興趣、收藏與紀錄接續，讓每一次使用都能替下一次留下東西。yoxi 因而能在出門計畫形成時就參與，等到使用者決定出發，再承接交通。這是我們接下來要做成體驗、並用實際試用驗證的方向。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分享入口先做單一手機平台驗證，確認能接收哪些媒體，再評估正式整合。遇到貼文權限、內容讀取或地點辨識問題，就請本人補圖片、地名或文字。多地點需要逐一確認，影片仍是第一版待決事項。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想去清單保存地點和意願，遊戲主題蒐集則記錄完成了哪些發現，兩者分開。使用者可以查看收藏的新邀約、附近提醒或跨城市搜尋，也能把遊戲發現加入想去清單。交通維持一團一個目的地；基本推薦、規劃與導覽的使用邊界仍需團隊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邀約要讓人看懂自己現在處在哪個狀態。收藏、考慮中、確認參加和完成店家訂位不同，不能互相代替。選擇參加前要看得到時段、人數、截止時間，以及餐飲、活動和交通各自的費用。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人退出或費用改變時，重新通知參加者確認，不能直接把差額轉給其他人。沒有合適活動時可以留下意願，等真實的新邀約出現再通知。首批用主持人的活動建立供給；發起人退出後保留房間、由誰接手，同時考慮多個團及自動退出、退款等規則仍待決定。聊天和我的行程保留改期與再邀請；路線地圖要讓人看出各上車點、繞路與等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遊戲要先有觀察與揭曉的收穫，成長才接在體驗之後。拍照挑戰保留原會議的同角度、限時和相似度發想；題目公平性、素材和取景條件要一起設計。主題進度表示完成了哪些相關發現，個人經驗則用來增加寵物動作、表情或物件。等級與門檻要根據試玩調整，避免只有數字增加卻看不見變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解答也能保存地方內容，獨立解題另記；重玩不重領首次獎勵。離開一段時間後回來，原來的紀錄和進度都保留。里程、步數、消費、會員與合作回饋保留為連動選項，必須先釐清資料與補貼來源；排行榜也不能直接以付費消費當成表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模型負責理解和產生候選，資料與規則負責核對可否使用。邀約名額、費用、車程和獎勵都要有明確來源，不能由模型自行補齊。遊戲提示也需要對照已審核題目，避免提前洩漏答案或講錯地方故事。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個人化只保留本人確認並願意留下的資訊。當次朋友的時段限制和長期興趣分開；位置、照片、共同紀念及通知需要各自的設定。官方去識別熱點資料能幫忙選區與時段，不能拿來推定個人偏好。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開發先估二百七十二到四百零八人時，其中三十二到四十八人時用來驗證單一手機平台的分享入口。每人時以八百元計，開發費為二十一萬七千六百到三十二萬六千四百元。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首批內容九十二人時，以四百元計，共三萬六千八百元，再加八千元素材預留，合計二十六萬二千四百到三十七萬一千二百元。十二題每題三小時，包含題目、揭曉和地方故事審核。活動每場先抓準備兩小時、主持兩小時；若需要更多主持或安全人力，要另外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每月內容與活動共四十人時，約一萬六千元。這組數字適用八題、資料核對、兩場活動和回覆的工作量，未含場地、參加者餐費交通、獎勵補貼、稅金與正式維護。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雲端先用一百名月活躍使用者，每人每月一百次模型呼叫估算。每次假設五千輸入 token 和一千個含推理的輸出計費 token；依既有核價紀錄，模型約七十五美元。加上資料庫、網站通知和基本路程查詢，約一百二十到一百二十五美元。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這是用量情境，和二十人的首測招募數不同。五千輸入 token 是否完整包含圖片，需以實際請求紀錄確認。模型用量或單價增加一倍，其他條件相同時總額為一百九十五到二百美元；兩者同時加倍，則是三百四十五到三百五十美元。正式使用前要再核費率，並把重試、搜尋及超額加進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https://supabase.com/pricing</a:t>
            </a:r>
          </a:p>
          <a:p xmlns:a="http://schemas.openxmlformats.org/drawingml/2006/main">
            <a:r>
              <a:t>https://developers.google.com/maps/billing-and-pricing/pricing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排程先把介面、資料和手機分享驗證放在前面，再做出三柱能操作的基本體驗，同時準備題目與主持活動。第三、四週安排試用並持續修正，最後一週整合展示與交件。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開發加首批內容共三百六十四到五百人時。若分成五週，平均每週約七十三到一百人時；如果等到初賽名單公布後才開始，只剩約三週，就需要更高的每週投入和重新排程。平均人時不能保證每個階段按時完成，因此必須先確認成員能投入的時間、素材權利、主持人和介接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https://ht-hackathon.tw/tw/home/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首次閱讀先看理解，再看選擇。請沒有參與製作的人說明三種用途和 yoxi 的角色，接著問他平常怎麼做，以及什麼結果會讓他改用這個方案。文字與畫面修正後，仍需真正操作和比較。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二十人兩週試用以相同需求和相近資料、條件比較，記錄參與者和團隊的關係。各人按自己的需求使用，無須每個人走完三柱。遊戲要分開觀察解題、提示、地方故事、主題完成及寵物變化。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訪只算有效使用，收到通知或單純打開不算。七日內在不同一天再使用，以已有完整七日觀察窗的人作分母；另外記使用天數、間隔及回來做什麼。自然、通知和獎勵可以重疊記錄，分類本身不能證明原因。長期使用還要繼續觀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測試會用固定情境覆蓋不同輸入和失敗條件。除了推薦理由是否符合喜好，也查共同安排是否保留各人的目的，遊戲提示和故事是否正確。手機分享另做入口測試，確認收到的內容、失敗原因和替代路徑。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活動到場和交通訂單分開觀察。有人自行前往，仍然可能完成一次好的共同體驗。要談新增叫車，需要可比組或期間；活動方的效果也要扣回準備、主持與營運成本。單位成本先定義分母與去重方式，不同幣別分列，若換算就記日期與匯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地方故事、文化地圖和照片挑戰已接進主要體驗，不再只留在延伸清單。照片和可選日記可以保留自己的經歷，共同紀念則需要雙方同意。投稿換更多地方內容解鎖，屬於長期社群機制，還需要權利、審核和供給設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會議的等級、貼紙、展覽蒐集、打卡、簽到與隨機回饋，以及跨圈交流、神祕目的地等發想繼續保留。它們的成熟度不同，不能一列進簡報就當成首版承諾。多景點交通仍依原有首版限制後續評估，基本推薦、規劃及導覽是否需要解鎖則仍待團隊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本版使用原始會議、使用者會後修正、官方題目與模板，以及地方和服務官方資料。Google Maps、Timeleft 和 Pikmin Bloom 的資料用來校正比較範圍，並未做成相同條件的產品實測。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簡報中的人物、邀約、推薦及玩法是設計示例，插畫沿用概念素材。正式 UI、App、活動供給、模型介接和真人試用仍待完成。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資料來源</a:t>
            </a:r>
          </a:p>
          <a:p xmlns:a="http://schemas.openxmlformats.org/drawingml/2006/main">
            <a:r>
              <a:t>https://ht-hackathon.tw/tw/home/</a:t>
            </a:r>
          </a:p>
          <a:p xmlns:a="http://schemas.openxmlformats.org/drawingml/2006/main">
            <a:r>
              <a:t>https://e40125.github.io/yoxi-meeting-review/</a:t>
            </a:r>
          </a:p>
          <a:p xmlns:a="http://schemas.openxmlformats.org/drawingml/2006/main">
            <a:r>
              <a:t>https://www.twtainan.net/zh-tw/attractions/detail/740/</a:t>
            </a:r>
          </a:p>
          <a:p xmlns:a="http://schemas.openxmlformats.org/drawingml/2006/main">
            <a:r>
              <a:t>https://www.twtainan.net/zh-tw/attractions/detail/5533/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https://supabase.com/pricing</a:t>
            </a:r>
          </a:p>
          <a:p xmlns:a="http://schemas.openxmlformats.org/drawingml/2006/main">
            <a:r>
              <a:t>https://developers.google.com/maps/billing-and-pricing/pricing</a:t>
            </a:r>
          </a:p>
          <a:p xmlns:a="http://schemas.openxmlformats.org/drawingml/2006/main">
            <a:r>
              <a:t>https://blog.google/products-and-platforms/products/maps/ask-maps-immersive-navigation/</a:t>
            </a:r>
          </a:p>
          <a:p xmlns:a="http://schemas.openxmlformats.org/drawingml/2006/main">
            <a:r>
              <a:t>https://help.timeleft.com/hc/en-150/articles/28529250732444-What-is-Timeleft-and-How-Does-It-Work</a:t>
            </a:r>
          </a:p>
          <a:p xmlns:a="http://schemas.openxmlformats.org/drawingml/2006/main">
            <a:r>
              <a:t>https://www.pikminbloom.com/</a:t>
            </a:r>
          </a:p>
          <a:p xmlns:a="http://schemas.openxmlformats.org/drawingml/2006/main">
            <a:r>
              <a:t>https://niantic.helpshift.com/hc/en/23-pikmin-bloom/faq/2858-postcards/</a:t>
            </a:r>
          </a:p>
          <a:p xmlns:a="http://schemas.openxmlformats.org/drawingml/2006/main">
            <a:r>
              <a:t>https://help.meetup.com/hc/en-us/articles/39235072484109-Finding-an-event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9c5f2acc9a4b9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1450041d4248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ca49f474445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d0bfecb1d34a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ebd88f74147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e5f0a0f8c243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D02647-647D-4D68-A24B-0ED1106AA4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09B81E6-4722-4E8E-93BF-CAF9A483BB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83D150A-0A15-4A04-AFB1-1B85B82FBC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A90224-5FDE-4F17-B142-97656A1792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CE295B6-E66D-495A-ADDF-B94CDF9A3B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A7C907A-A09A-456A-B5E4-3CA89377D4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071C539-09B7-4B15-AF0A-87F7447682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E49096-4770-4951-9C48-3B82159B5A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0E2B03-1DF7-43FB-BAFB-79C84CD38D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CDE7D7C-8002-42FD-ADA0-0799E8CF83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238d8df4bb4690" /><Relationship Type="http://schemas.openxmlformats.org/officeDocument/2006/relationships/slideLayout" Target="/ppt/slideLayouts/slideLayout1.xml" Id="Ra038ee3f838543cd" /><Relationship Type="http://schemas.openxmlformats.org/officeDocument/2006/relationships/slideLayout" Target="/ppt/slideLayouts/slideLayout2.xml" Id="R78ead87eea6f484c" /><Relationship Type="http://schemas.openxmlformats.org/officeDocument/2006/relationships/slideLayout" Target="/ppt/slideLayouts/slideLayout3.xml" Id="Rb09ba032067d47c0" /><Relationship Type="http://schemas.openxmlformats.org/officeDocument/2006/relationships/slideLayout" Target="/ppt/slideLayouts/slideLayout4.xml" Id="R462f9b310a834ad8" /><Relationship Type="http://schemas.openxmlformats.org/officeDocument/2006/relationships/slideLayout" Target="/ppt/slideLayouts/slideLayout5.xml" Id="R5a782eb4f57a41d1" /><Relationship Type="http://schemas.openxmlformats.org/officeDocument/2006/relationships/slideLayout" Target="/ppt/slideLayouts/slideLayout6.xml" Id="R38af572282bb43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38ee3f838543cd"/>
    <p:sldLayoutId xmlns:r="http://schemas.openxmlformats.org/officeDocument/2006/relationships" id="2147483650" r:id="R78ead87eea6f484c"/>
    <p:sldLayoutId xmlns:r="http://schemas.openxmlformats.org/officeDocument/2006/relationships" id="2147483651" r:id="Rb09ba032067d47c0"/>
    <p:sldLayoutId xmlns:r="http://schemas.openxmlformats.org/officeDocument/2006/relationships" id="2147483652" r:id="R462f9b310a834ad8"/>
    <p:sldLayoutId xmlns:r="http://schemas.openxmlformats.org/officeDocument/2006/relationships" id="2147483653" r:id="R5a782eb4f57a41d1"/>
    <p:sldLayoutId xmlns:r="http://schemas.openxmlformats.org/officeDocument/2006/relationships" id="2147483654" r:id="R38af572282bb43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a39f3b080a494e" /><Relationship Type="http://schemas.openxmlformats.org/officeDocument/2006/relationships/notesSlide" Target="/ppt/notesSlides/notesSlide1.xml" Id="R0512dac4e655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4ab91a0fd24c01" /><Relationship Type="http://schemas.openxmlformats.org/officeDocument/2006/relationships/image" Target="/ppt/media/image.png" Id="Rd35c792a37ff45c3" /><Relationship Type="http://schemas.openxmlformats.org/officeDocument/2006/relationships/notesSlide" Target="/ppt/notesSlides/notesSlide2.xml" Id="R8dbfe4bab4474e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a12725e27b499a" /><Relationship Type="http://schemas.openxmlformats.org/officeDocument/2006/relationships/notesSlide" Target="/ppt/notesSlides/notesSlide3.xml" Id="R07e34f5031fd49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a63505c05440e6" /><Relationship Type="http://schemas.openxmlformats.org/officeDocument/2006/relationships/image" Target="/ppt/media/image2.png" Id="Reef0026e426d46a4" /><Relationship Type="http://schemas.openxmlformats.org/officeDocument/2006/relationships/notesSlide" Target="/ppt/notesSlides/notesSlide4.xml" Id="Ra302529a3acd4c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d513c1b2334deb" /><Relationship Type="http://schemas.openxmlformats.org/officeDocument/2006/relationships/image" Target="/ppt/media/image3.png" Id="Rc6771cebb50b435e" /><Relationship Type="http://schemas.openxmlformats.org/officeDocument/2006/relationships/notesSlide" Target="/ppt/notesSlides/notesSlide5.xml" Id="R5f3fcfd0103545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1d792690f04ad4" /><Relationship Type="http://schemas.openxmlformats.org/officeDocument/2006/relationships/image" Target="/ppt/media/image4.png" Id="Rda3afd2accce4313" /><Relationship Type="http://schemas.openxmlformats.org/officeDocument/2006/relationships/notesSlide" Target="/ppt/notesSlides/notesSlide6.xml" Id="R410e3111615e42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ce8ff146cb4a83" /><Relationship Type="http://schemas.openxmlformats.org/officeDocument/2006/relationships/notesSlide" Target="/ppt/notesSlides/notesSlide7.xml" Id="Rfc73df69032040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1f85e1423d4036" /><Relationship Type="http://schemas.openxmlformats.org/officeDocument/2006/relationships/image" Target="/ppt/media/image5.png" Id="R925c38bcf16741e4" /><Relationship Type="http://schemas.openxmlformats.org/officeDocument/2006/relationships/notesSlide" Target="/ppt/notesSlides/notesSlide8.xml" Id="Rab1a141553d747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139856c8124c41" /><Relationship Type="http://schemas.openxmlformats.org/officeDocument/2006/relationships/notesSlide" Target="/ppt/notesSlides/notesSlide9.xml" Id="Rbd4daf9ebe464e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91dca70a12488c" /><Relationship Type="http://schemas.openxmlformats.org/officeDocument/2006/relationships/notesSlide" Target="/ppt/notesSlides/notesSlide10.xml" Id="Rcec91bcb51c044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c92e2630db4c8e" /><Relationship Type="http://schemas.openxmlformats.org/officeDocument/2006/relationships/notesSlide" Target="/ppt/notesSlides/notesSlide11.xml" Id="Rd5900af772474c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617ca869354ea5" /><Relationship Type="http://schemas.openxmlformats.org/officeDocument/2006/relationships/notesSlide" Target="/ppt/notesSlides/notesSlide12.xml" Id="R79cf9da0a469475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9128eae4d344e2" /><Relationship Type="http://schemas.openxmlformats.org/officeDocument/2006/relationships/notesSlide" Target="/ppt/notesSlides/notesSlide13.xml" Id="Rdc80bf2597b442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012eb0c1ed40fa" /><Relationship Type="http://schemas.openxmlformats.org/officeDocument/2006/relationships/notesSlide" Target="/ppt/notesSlides/notesSlide14.xml" Id="R14e01be6a39646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39e0bbdc604444" /><Relationship Type="http://schemas.openxmlformats.org/officeDocument/2006/relationships/notesSlide" Target="/ppt/notesSlides/notesSlide15.xml" Id="R6a873ef0ea214f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0336510baa4647" /><Relationship Type="http://schemas.openxmlformats.org/officeDocument/2006/relationships/notesSlide" Target="/ppt/notesSlides/notesSlide16.xml" Id="R0b06992b587948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79bebd55744a0b" /><Relationship Type="http://schemas.openxmlformats.org/officeDocument/2006/relationships/notesSlide" Target="/ppt/notesSlides/notesSlide17.xml" Id="R9f23a2bfcb2f45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58443d602e404d" /><Relationship Type="http://schemas.openxmlformats.org/officeDocument/2006/relationships/notesSlide" Target="/ppt/notesSlides/notesSlide18.xml" Id="R8c4891cda7f64e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17a059f8146f3" /><Relationship Type="http://schemas.openxmlformats.org/officeDocument/2006/relationships/notesSlide" Target="/ppt/notesSlides/notesSlide19.xml" Id="Re7265a048ea8447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c48e7df0dc4bd2" /><Relationship Type="http://schemas.openxmlformats.org/officeDocument/2006/relationships/notesSlide" Target="/ppt/notesSlides/notesSlide20.xml" Id="Rc85ab9dadf494bc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c098ce45fc4f96" /><Relationship Type="http://schemas.openxmlformats.org/officeDocument/2006/relationships/notesSlide" Target="/ppt/notesSlides/notesSlide21.xml" Id="Ra07accf2f38d4f5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c55cab51ee4911" /><Relationship Type="http://schemas.openxmlformats.org/officeDocument/2006/relationships/notesSlide" Target="/ppt/notesSlides/notesSlide22.xml" Id="R3963ce28955545c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9b5f6aa73a4ec7" /><Relationship Type="http://schemas.openxmlformats.org/officeDocument/2006/relationships/notesSlide" Target="/ppt/notesSlides/notesSlide23.xml" Id="Rb0561e9753a643f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b5855d3c97407d" /><Relationship Type="http://schemas.openxmlformats.org/officeDocument/2006/relationships/notesSlide" Target="/ppt/notesSlides/notesSlide24.xml" Id="Ra2032ec6a8b84fe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dc46226e554189" /><Relationship Type="http://schemas.openxmlformats.org/officeDocument/2006/relationships/notesSlide" Target="/ppt/notesSlides/notesSlide25.xml" Id="R10fdac45dcc04e1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6b60107574516" /><Relationship Type="http://schemas.openxmlformats.org/officeDocument/2006/relationships/notesSlide" Target="/ppt/notesSlides/notesSlide26.xml" Id="Re284c1e73c494d9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ef7509ad7a4551" /><Relationship Type="http://schemas.openxmlformats.org/officeDocument/2006/relationships/hyperlink" Target="https://ht-hackathon.tw/tw/home/" TargetMode="External" Id="R8edf766178fd4c8b" /><Relationship Type="http://schemas.openxmlformats.org/officeDocument/2006/relationships/hyperlink" Target="https://e40125.github.io/yoxi-meeting-review/" TargetMode="External" Id="Rc4591920ffa74bee" /><Relationship Type="http://schemas.openxmlformats.org/officeDocument/2006/relationships/hyperlink" Target="https://www.twtainan.net/zh-tw/attractions/detail/740/" TargetMode="External" Id="R2caef1ddd4f243bd" /><Relationship Type="http://schemas.openxmlformats.org/officeDocument/2006/relationships/hyperlink" Target="https://www.twtainan.net/zh-tw/attractions/detail/5533/" TargetMode="External" Id="R3120248a2d2246d0" /><Relationship Type="http://schemas.openxmlformats.org/officeDocument/2006/relationships/hyperlink" Target="https://ai.google.dev/gemini-api/docs/pricing" TargetMode="External" Id="Rff855b3ad20f473b" /><Relationship Type="http://schemas.openxmlformats.org/officeDocument/2006/relationships/hyperlink" Target="https://supabase.com/pricing" TargetMode="External" Id="R4cffa53c8f7f40c7" /><Relationship Type="http://schemas.openxmlformats.org/officeDocument/2006/relationships/hyperlink" Target="https://developers.google.com/maps/billing-and-pricing/pricing" TargetMode="External" Id="Raa0c3e32432145e6" /><Relationship Type="http://schemas.openxmlformats.org/officeDocument/2006/relationships/hyperlink" Target="https://blog.google/products-and-platforms/products/maps/ask-maps-immersive-navigation/" TargetMode="External" Id="R589785d0de1d4ad3" /><Relationship Type="http://schemas.openxmlformats.org/officeDocument/2006/relationships/hyperlink" Target="https://help.timeleft.com/hc/en-150/articles/28529250732444-What-is-Timeleft-and-How-Does-It-Work" TargetMode="External" Id="R4db3034c401d4f2a" /><Relationship Type="http://schemas.openxmlformats.org/officeDocument/2006/relationships/hyperlink" Target="https://www.pikminbloom.com/" TargetMode="External" Id="R4c8283bb70be49e5" /><Relationship Type="http://schemas.openxmlformats.org/officeDocument/2006/relationships/hyperlink" Target="https://niantic.helpshift.com/hc/en/23-pikmin-bloom/faq/2858-postcards/" TargetMode="External" Id="Rd35d7d2a5e214700" /><Relationship Type="http://schemas.openxmlformats.org/officeDocument/2006/relationships/hyperlink" Target="https://help.meetup.com/hc/en-us/articles/39235072484109-Finding-an-event" TargetMode="External" Id="R7333e6e812454583" /><Relationship Type="http://schemas.openxmlformats.org/officeDocument/2006/relationships/notesSlide" Target="/ppt/notesSlides/notesSlide27.xml" Id="Rc17adcd7be864a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字-0-0">
            <a:extLst xmlns:a="http://schemas.openxmlformats.org/drawingml/2006/main">
              <a:ext uri="{FF2B5EF4-FFF2-40B4-BE49-F238E27FC236}">
                <a16:creationId xmlns:a16="http://schemas.microsoft.com/office/drawing/2014/main" id="{00F399AB-E2A0-4CF2-9CF9-F446280D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提案摘要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E8F05B1C-E133-4352-BABC-4A7C3F86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服務構想與規劃估算；尚無產品及使用成效實測。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3BA13A45-5F96-4A0C-AA48-36D17325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摘要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B7ACB-FE71-43DE-8421-809010384E49}"/>
              </a:ext>
            </a:extLst>
          </p:cNvPr>
          <p:cNvGraphicFramePr/>
          <p:nvPr/>
        </p:nvGraphicFramePr>
        <p:xfrm>
          <a:off xmlns:a="http://schemas.openxmlformats.org/drawingml/2006/main" x="609600" y="1190625"/>
          <a:ext xmlns:a="http://schemas.openxmlformats.org/drawingml/2006/main" cx="10972800" cy="48101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76550"/>
                <a:gridCol w="8096250"/>
              </a:tblGrid>
              <a:tr h="37147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團隊名稱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待團隊填寫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37147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產品/服務名稱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yoxi 城市夥伴（暫名）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企業挑戰題目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不搭車，也打開 yoxi —— 打造高頻互動的AI出行夥伴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54292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目標對象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有想去的收藏、想找人一起體驗，或喜歡城市觀察與蒐集的人。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113347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解決方案設計重點</a:t>
                      </a:r>
                    </a:p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(至多3項)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城市探索：從喜歡的內容找到去處，讓收藏接上新機會。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同好與共同體驗：有人一起、有人帶頭，參加原本不方便的體驗。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遊戲與成長：從城市線索認識地方，累積主題與寵物成長。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運用到的AI技術、</a:t>
                      </a:r>
                    </a:p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服務或模型等資源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候選 Gemini 3.8 Flash：辨識、推薦、配對、規劃與導覽。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地方與活動資料搭配條件核對；尚未介接與確認正式選型。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101917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預期效益簡述</a:t>
                      </a:r>
                    </a:p>
                  </a:txBody>
                  <a:tcPr marL="114300" marR="114300" marT="66675" marB="66675" anchor="ctr">
                    <a:solidFill>
                      <a:srgbClr val="EAE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平日能探索、找伴和遊玩；收藏與回饋延續到下次使用。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活動方提供可參加的體驗，yoxi在出門計畫形成時就能參與。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決定出發後，沿用地點、時間與同行安排選交通。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1867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文字-0-0">
            <a:extLst xmlns:a="http://schemas.openxmlformats.org/drawingml/2006/main">
              <a:ext uri="{FF2B5EF4-FFF2-40B4-BE49-F238E27FC236}">
                <a16:creationId xmlns:a16="http://schemas.microsoft.com/office/drawing/2014/main" id="{604EEB07-E993-4856-A8BD-2A3376EF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yoxi 城市夥伴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A119CF0D-B450-47B1-9325-582CB252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服務提案，名稱暫定；本簡報插畫均為概念素材。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AC6BA5F2-BA37-49EA-98D5-CFB73741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5F83EC93-D60A-45C2-BD5B-D5DEC44D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平日發現城市，想出門時有人一起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5E221-0D6B-43BB-9894-5DCE71132C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c792a37ff45c3"/>
          <a:stretch xmlns:a="http://schemas.openxmlformats.org/drawingml/2006/main"/>
        </p:blipFill>
        <p:spPr>
          <a:xfrm xmlns:a="http://schemas.openxmlformats.org/drawingml/2006/main">
            <a:off x="4744209" y="1771650"/>
            <a:ext cx="6837432" cy="3848100"/>
          </a:xfrm>
          <a:prstGeom xmlns:a="http://schemas.openxmlformats.org/drawingml/2006/main" prst="rect">
            <a:avLst/>
          </a:prstGeom>
        </p:spPr>
      </p:pic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43459040-B5B9-49AD-A1C2-2B3FC66C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398145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城市探索</a:t>
            </a:r>
          </a:p>
        </p:txBody>
      </p:sp>
      <p:sp>
        <p:nvSpPr>
          <p:cNvPr id="7" name="文字-6-0">
            <a:extLst xmlns:a="http://schemas.openxmlformats.org/drawingml/2006/main">
              <a:ext uri="{FF2B5EF4-FFF2-40B4-BE49-F238E27FC236}">
                <a16:creationId xmlns:a16="http://schemas.microsoft.com/office/drawing/2014/main" id="{70265254-79E3-4864-AF7B-BCFD73A4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從喜歡的內容找去處，</a:t>
            </a:r>
          </a:p>
        </p:txBody>
      </p:sp>
      <p:sp>
        <p:nvSpPr>
          <p:cNvPr id="8" name="文字-6-1">
            <a:extLst xmlns:a="http://schemas.openxmlformats.org/drawingml/2006/main">
              <a:ext uri="{FF2B5EF4-FFF2-40B4-BE49-F238E27FC236}">
                <a16:creationId xmlns:a16="http://schemas.microsoft.com/office/drawing/2014/main" id="{6DDDCD14-2B85-4FA6-AFE1-663499BF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0328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把想去的收藏變成新機會。</a:t>
            </a:r>
          </a:p>
        </p:txBody>
      </p:sp>
      <p:sp>
        <p:nvSpPr>
          <p:cNvPr id="9" name="文字-7-0">
            <a:extLst xmlns:a="http://schemas.openxmlformats.org/drawingml/2006/main">
              <a:ext uri="{FF2B5EF4-FFF2-40B4-BE49-F238E27FC236}">
                <a16:creationId xmlns:a16="http://schemas.microsoft.com/office/drawing/2014/main" id="{C0870AA5-582A-4158-B3C5-DA8CDB30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398145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同好與共同體驗</a:t>
            </a:r>
          </a:p>
        </p:txBody>
      </p:sp>
      <p:sp>
        <p:nvSpPr>
          <p:cNvPr id="10" name="文字-8-0">
            <a:extLst xmlns:a="http://schemas.openxmlformats.org/drawingml/2006/main">
              <a:ext uri="{FF2B5EF4-FFF2-40B4-BE49-F238E27FC236}">
                <a16:creationId xmlns:a16="http://schemas.microsoft.com/office/drawing/2014/main" id="{0AFA0EFE-80BC-4C9E-856E-24A294D8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找到願意一起的人，</a:t>
            </a:r>
          </a:p>
        </p:txBody>
      </p:sp>
      <p:sp>
        <p:nvSpPr>
          <p:cNvPr id="11" name="文字-8-1">
            <a:extLst xmlns:a="http://schemas.openxmlformats.org/drawingml/2006/main">
              <a:ext uri="{FF2B5EF4-FFF2-40B4-BE49-F238E27FC236}">
                <a16:creationId xmlns:a16="http://schemas.microsoft.com/office/drawing/2014/main" id="{81356AD8-ACC1-4E5D-A234-A8DF90D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3828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參加合菜與多人體驗。</a:t>
            </a:r>
          </a:p>
        </p:txBody>
      </p:sp>
      <p:sp>
        <p:nvSpPr>
          <p:cNvPr id="12" name="文字-9-0">
            <a:extLst xmlns:a="http://schemas.openxmlformats.org/drawingml/2006/main">
              <a:ext uri="{FF2B5EF4-FFF2-40B4-BE49-F238E27FC236}">
                <a16:creationId xmlns:a16="http://schemas.microsoft.com/office/drawing/2014/main" id="{4763584F-6090-4EF5-9FE1-BBB67315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398145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遊戲與成長</a:t>
            </a:r>
          </a:p>
        </p:txBody>
      </p:sp>
      <p:sp>
        <p:nvSpPr>
          <p:cNvPr id="13" name="文字-10-0">
            <a:extLst xmlns:a="http://schemas.openxmlformats.org/drawingml/2006/main">
              <a:ext uri="{FF2B5EF4-FFF2-40B4-BE49-F238E27FC236}">
                <a16:creationId xmlns:a16="http://schemas.microsoft.com/office/drawing/2014/main" id="{A45F3EB9-10AB-46F6-B92E-4F3A2896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解城市線索、認識地方，</a:t>
            </a:r>
          </a:p>
        </p:txBody>
      </p:sp>
      <p:sp>
        <p:nvSpPr>
          <p:cNvPr id="14" name="文字-10-1">
            <a:extLst xmlns:a="http://schemas.openxmlformats.org/drawingml/2006/main">
              <a:ext uri="{FF2B5EF4-FFF2-40B4-BE49-F238E27FC236}">
                <a16:creationId xmlns:a16="http://schemas.microsoft.com/office/drawing/2014/main" id="{836D806F-DC3A-42E2-9D03-049939B3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7328"/>
            <a:ext cx="39814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養成有自己風格的寵物。</a:t>
            </a:r>
          </a:p>
        </p:txBody>
      </p:sp>
      <p:sp>
        <p:nvSpPr>
          <p:cNvPr id="15" name="文字-11-0">
            <a:extLst xmlns:a="http://schemas.openxmlformats.org/drawingml/2006/main">
              <a:ext uri="{FF2B5EF4-FFF2-40B4-BE49-F238E27FC236}">
                <a16:creationId xmlns:a16="http://schemas.microsoft.com/office/drawing/2014/main" id="{74694A42-96A0-40B9-9316-0247DF87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三種用法都能直接開始，收藏、喜好與紀錄讓下一次接得上。</a:t>
            </a:r>
          </a:p>
        </p:txBody>
      </p:sp>
    </p:spTree>
    <p:extLst>
      <p:ext uri="{BB962C8B-B14F-4D97-AF65-F5344CB8AC3E}">
        <p14:creationId xmlns:p14="http://schemas.microsoft.com/office/powerpoint/2010/main" val="9673901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48D161D0-E798-4F84-B149-E7F4DBCB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想探索、想找伴，或今天只想玩一會兒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2E84EF3E-E72B-4558-8E7C-B52A6C42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首批需求假設，待訪談及試用確認。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16B5B5A8-E9A2-4F7C-B2BD-5F703A37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E8768D51-77F6-4ECF-9A08-894595AE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762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想去，還沒安排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EE0CB926-5005-4154-B0AB-AB6BE408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533525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存了餐廳、展覽或城市照片，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F832B273-C1B8-4AF2-AC11-66C10275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92618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下次打開時，希望知道現在有什麼能參加。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745B77AE-E563-4C82-958D-70801E79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762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想找人一起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5DCBAC80-D53E-4F6E-A564-50089178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14650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想吃合菜或參加多人體驗，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B4914438-0283-479C-9B71-DADB9C4C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73743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希望有人先約，也能先找伴再選去處。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3187176E-3EDC-4690-A0FB-C57C9FF6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2762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日常找點樂趣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09C2BD06-5AE8-4BB2-9E3F-E19B7793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95775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喜歡觀察、解題或蒐集，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DFA3D56D-00F4-427A-9F18-C6E3CCA1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54868"/>
            <a:ext cx="790575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想花幾分鐘認識一個地方，留下自己的發現。</a:t>
            </a:r>
          </a:p>
        </p:txBody>
      </p:sp>
      <p:sp>
        <p:nvSpPr>
          <p:cNvPr id="13" name="文字-9-0">
            <a:extLst xmlns:a="http://schemas.openxmlformats.org/drawingml/2006/main">
              <a:ext uri="{FF2B5EF4-FFF2-40B4-BE49-F238E27FC236}">
                <a16:creationId xmlns:a16="http://schemas.microsoft.com/office/drawing/2014/main" id="{43DB8CD4-8021-45A0-AD6D-1A365146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先找有這些需求的人試用，確認什麼會讓他願意再打開。</a:t>
            </a:r>
          </a:p>
        </p:txBody>
      </p:sp>
    </p:spTree>
    <p:extLst>
      <p:ext uri="{BB962C8B-B14F-4D97-AF65-F5344CB8AC3E}">
        <p14:creationId xmlns:p14="http://schemas.microsoft.com/office/powerpoint/2010/main" val="16342558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文字-0-0">
            <a:extLst xmlns:a="http://schemas.openxmlformats.org/drawingml/2006/main">
              <a:ext uri="{FF2B5EF4-FFF2-40B4-BE49-F238E27FC236}">
                <a16:creationId xmlns:a16="http://schemas.microsoft.com/office/drawing/2014/main" id="{02A839DF-6D3A-4DB1-AFC7-ACF08DDF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從喜歡的細節，找到可以親自試的體驗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E1BA646A-8B4A-4360-9BF1-DCF5159B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台南為案例背景；候選與推薦理由由人工設計，尚未模型測試。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8B246C13-DEDF-43BE-B980-F600020E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C0C1D2EB-0D94-4F9F-AA6D-0DB37856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從手機分享選單選yoxi，確認AI整理的地點與喜好。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6EFF787C-446C-4D63-9BCB-052221DF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例：喜歡照片裡的線條與空間感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13C9F-930E-473B-A8D6-3CE9D7CD66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0026e426d46a4"/>
          <a:srcRect xmlns:a="http://schemas.openxmlformats.org/drawingml/2006/main" l="0" t="16927" r="0" b="169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990725"/>
            <a:ext cx="10972800" cy="2419350"/>
          </a:xfrm>
          <a:prstGeom xmlns:a="http://schemas.openxmlformats.org/drawingml/2006/main" prst="rect">
            <a:avLst/>
          </a:prstGeom>
        </p:spPr>
      </p:pic>
      <p:sp>
        <p:nvSpPr>
          <p:cNvPr id="7" name="文字-6-0">
            <a:extLst xmlns:a="http://schemas.openxmlformats.org/drawingml/2006/main">
              <a:ext uri="{FF2B5EF4-FFF2-40B4-BE49-F238E27FC236}">
                <a16:creationId xmlns:a16="http://schemas.microsoft.com/office/drawing/2014/main" id="{34A840AC-D39B-4E92-B25E-92016F91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1054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藍晒圖文創園區</a:t>
            </a:r>
          </a:p>
        </p:txBody>
      </p:sp>
      <p:sp>
        <p:nvSpPr>
          <p:cNvPr id="8" name="文字-7-0">
            <a:extLst xmlns:a="http://schemas.openxmlformats.org/drawingml/2006/main">
              <a:ext uri="{FF2B5EF4-FFF2-40B4-BE49-F238E27FC236}">
                <a16:creationId xmlns:a16="http://schemas.microsoft.com/office/drawing/2014/main" id="{31CDC62D-4618-4827-9156-B3EBDC03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觀察白線與立體裝置，試不同構圖。</a:t>
            </a:r>
          </a:p>
        </p:txBody>
      </p:sp>
      <p:sp>
        <p:nvSpPr>
          <p:cNvPr id="9" name="文字-8-0">
            <a:extLst xmlns:a="http://schemas.openxmlformats.org/drawingml/2006/main">
              <a:ext uri="{FF2B5EF4-FFF2-40B4-BE49-F238E27FC236}">
                <a16:creationId xmlns:a16="http://schemas.microsoft.com/office/drawing/2014/main" id="{8C480117-F6BA-49D4-BB95-46803FC4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05325"/>
            <a:ext cx="51054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臺南國家美術館</a:t>
            </a:r>
          </a:p>
        </p:txBody>
      </p:sp>
      <p:sp>
        <p:nvSpPr>
          <p:cNvPr id="10" name="文字-9-0">
            <a:extLst xmlns:a="http://schemas.openxmlformats.org/drawingml/2006/main">
              <a:ext uri="{FF2B5EF4-FFF2-40B4-BE49-F238E27FC236}">
                <a16:creationId xmlns:a16="http://schemas.microsoft.com/office/drawing/2014/main" id="{C7F07C59-1733-492B-97E7-33D99140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24425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拍空間層次，再選想看的展。</a:t>
            </a:r>
          </a:p>
        </p:txBody>
      </p:sp>
      <p:sp>
        <p:nvSpPr>
          <p:cNvPr id="11" name="文字-10-0">
            <a:extLst xmlns:a="http://schemas.openxmlformats.org/drawingml/2006/main">
              <a:ext uri="{FF2B5EF4-FFF2-40B4-BE49-F238E27FC236}">
                <a16:creationId xmlns:a16="http://schemas.microsoft.com/office/drawing/2014/main" id="{1DF22DE5-6C24-475A-9CA6-B78E04D6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規劃：場內只剩25分鐘，保留最想拍的一組；交通另計。</a:t>
            </a:r>
          </a:p>
        </p:txBody>
      </p:sp>
      <p:sp>
        <p:nvSpPr>
          <p:cNvPr id="12" name="文字-10-1">
            <a:extLst xmlns:a="http://schemas.openxmlformats.org/drawingml/2006/main">
              <a:ext uri="{FF2B5EF4-FFF2-40B4-BE49-F238E27FC236}">
                <a16:creationId xmlns:a16="http://schemas.microsoft.com/office/drawing/2014/main" id="{F3E2739B-65B8-4038-AE6A-01F5CD28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4538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導覽：到場後提供觀察提示，接著看地方故事或拍自己的照片。</a:t>
            </a:r>
          </a:p>
        </p:txBody>
      </p:sp>
    </p:spTree>
    <p:extLst>
      <p:ext uri="{BB962C8B-B14F-4D97-AF65-F5344CB8AC3E}">
        <p14:creationId xmlns:p14="http://schemas.microsoft.com/office/powerpoint/2010/main" val="2089903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文字-0-0">
            <a:extLst xmlns:a="http://schemas.openxmlformats.org/drawingml/2006/main">
              <a:ext uri="{FF2B5EF4-FFF2-40B4-BE49-F238E27FC236}">
                <a16:creationId xmlns:a16="http://schemas.microsoft.com/office/drawing/2014/main" id="{DD8D96FD-EFC7-4331-B858-7CB8AFCE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有人帶頭邀約，原本不好成行的體驗就能開始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4CF14F20-F08F-4741-B6DB-4E6A4AFE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邀約情境示例：餐廳、名額及費用尚未確認。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8A75A64C-2352-4627-9ACE-65CDF780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50A09-0598-4C78-942A-E7F54F40EB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71cebb50b435e"/>
          <a:stretch xmlns:a="http://schemas.openxmlformats.org/drawingml/2006/main"/>
        </p:blipFill>
        <p:spPr>
          <a:xfrm xmlns:a="http://schemas.openxmlformats.org/drawingml/2006/main">
            <a:off x="609600" y="1470422"/>
            <a:ext cx="4333875" cy="3250406"/>
          </a:xfrm>
          <a:prstGeom xmlns:a="http://schemas.openxmlformats.org/drawingml/2006/main" prst="rect">
            <a:avLst/>
          </a:prstGeom>
        </p:spPr>
      </p:pic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6A27B95E-0F09-49E5-83BD-36E7F9F2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333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點一個人不好點的菜，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6CA42902-0003-4EAE-AD44-C1D43684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4333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也有機會認識同好。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AAFE8C7E-A5A4-445E-8EBA-DD1E7137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495425"/>
            <a:ext cx="6191250" cy="4274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例如：週六一起吃合菜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165D4D4C-C394-4B55-8347-9A8524E5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57400"/>
            <a:ext cx="61912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主持人已發起四人邀約，還缺兩位。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F9975FBF-C092-4C36-BDBB-9F94B1EF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04110"/>
            <a:ext cx="61912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使用者確認時段、預算與餐點偏好後，</a:t>
            </a:r>
          </a:p>
        </p:txBody>
      </p:sp>
      <p:sp>
        <p:nvSpPr>
          <p:cNvPr id="10" name="文字-6-2">
            <a:extLst xmlns:a="http://schemas.openxmlformats.org/drawingml/2006/main">
              <a:ext uri="{FF2B5EF4-FFF2-40B4-BE49-F238E27FC236}">
                <a16:creationId xmlns:a16="http://schemas.microsoft.com/office/drawing/2014/main" id="{A2B0A2A2-AEC6-4EC5-BF3E-9B0F1900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50820"/>
            <a:ext cx="61912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再決定是否參加。</a:t>
            </a:r>
          </a:p>
        </p:txBody>
      </p:sp>
      <p:sp>
        <p:nvSpPr>
          <p:cNvPr id="11" name="文字-7-0">
            <a:extLst xmlns:a="http://schemas.openxmlformats.org/drawingml/2006/main">
              <a:ext uri="{FF2B5EF4-FFF2-40B4-BE49-F238E27FC236}">
                <a16:creationId xmlns:a16="http://schemas.microsoft.com/office/drawing/2014/main" id="{83CD3F0D-169C-4717-B02A-2DDE9E94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371850"/>
            <a:ext cx="6191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還不知道去哪裡，也能先找伴</a:t>
            </a:r>
          </a:p>
        </p:txBody>
      </p:sp>
      <p:sp>
        <p:nvSpPr>
          <p:cNvPr id="12" name="文字-8-0">
            <a:extLst xmlns:a="http://schemas.openxmlformats.org/drawingml/2006/main">
              <a:ext uri="{FF2B5EF4-FFF2-40B4-BE49-F238E27FC236}">
                <a16:creationId xmlns:a16="http://schemas.microsoft.com/office/drawing/2014/main" id="{8CC85A65-1F8D-43EC-B459-A0D56055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67150"/>
            <a:ext cx="61912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依想做的事找同好，再共同選地點。</a:t>
            </a:r>
          </a:p>
        </p:txBody>
      </p:sp>
      <p:sp>
        <p:nvSpPr>
          <p:cNvPr id="13" name="文字-8-1">
            <a:extLst xmlns:a="http://schemas.openxmlformats.org/drawingml/2006/main">
              <a:ext uri="{FF2B5EF4-FFF2-40B4-BE49-F238E27FC236}">
                <a16:creationId xmlns:a16="http://schemas.microsoft.com/office/drawing/2014/main" id="{B7AEECC9-3DA2-4421-AD64-CEEDC697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201478"/>
            <a:ext cx="61912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沒有合適邀約時，保留意願，</a:t>
            </a:r>
          </a:p>
        </p:txBody>
      </p:sp>
      <p:sp>
        <p:nvSpPr>
          <p:cNvPr id="14" name="文字-8-2">
            <a:extLst xmlns:a="http://schemas.openxmlformats.org/drawingml/2006/main">
              <a:ext uri="{FF2B5EF4-FFF2-40B4-BE49-F238E27FC236}">
                <a16:creationId xmlns:a16="http://schemas.microsoft.com/office/drawing/2014/main" id="{8CF35D4B-B987-4FEA-998F-AA7F868C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35805"/>
            <a:ext cx="61912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有新邀約再通知；也可以自己發起。</a:t>
            </a:r>
          </a:p>
        </p:txBody>
      </p:sp>
      <p:sp>
        <p:nvSpPr>
          <p:cNvPr id="15" name="文字-9-0">
            <a:extLst xmlns:a="http://schemas.openxmlformats.org/drawingml/2006/main">
              <a:ext uri="{FF2B5EF4-FFF2-40B4-BE49-F238E27FC236}">
                <a16:creationId xmlns:a16="http://schemas.microsoft.com/office/drawing/2014/main" id="{4630967B-1834-4119-A959-9A7D59DE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400675"/>
            <a:ext cx="619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參加前列總費用、每人負擔與截止時間。</a:t>
            </a:r>
          </a:p>
        </p:txBody>
      </p:sp>
      <p:sp>
        <p:nvSpPr>
          <p:cNvPr id="16" name="文字-9-1">
            <a:extLst xmlns:a="http://schemas.openxmlformats.org/drawingml/2006/main">
              <a:ext uri="{FF2B5EF4-FFF2-40B4-BE49-F238E27FC236}">
                <a16:creationId xmlns:a16="http://schemas.microsoft.com/office/drawing/2014/main" id="{FFBC01E5-CA8D-423F-AFBC-AB58A5AB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710238"/>
            <a:ext cx="6191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人數、時間或費用變動時，通知每人重新確認。</a:t>
            </a:r>
          </a:p>
        </p:txBody>
      </p:sp>
    </p:spTree>
    <p:extLst>
      <p:ext uri="{BB962C8B-B14F-4D97-AF65-F5344CB8AC3E}">
        <p14:creationId xmlns:p14="http://schemas.microsoft.com/office/powerpoint/2010/main" val="19260597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文字-0-0">
            <a:extLst xmlns:a="http://schemas.openxmlformats.org/drawingml/2006/main">
              <a:ext uri="{FF2B5EF4-FFF2-40B4-BE49-F238E27FC236}">
                <a16:creationId xmlns:a16="http://schemas.microsoft.com/office/drawing/2014/main" id="{C83A27BE-DBAF-4DF0-AFDC-425F8161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解開城市線索，也發現一個地方的故事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23C7AD86-7280-44A7-B6D0-B460C738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概念題，插畫非實景；正式題目需使用可授權的實際素材。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C207DE63-5359-41C2-BEC2-5CC52EB8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73736821-4804-4CCC-8398-A9A74D25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哪張街景的白線，和局部線索相符？需要時再看提示。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2BD38DBF-5521-4597-B2E0-EAC80FB9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26003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局部線索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CCB522E6-098E-4D23-8C09-22A091E2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09725"/>
            <a:ext cx="26003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街景甲</a:t>
            </a:r>
          </a:p>
        </p:txBody>
      </p:sp>
      <p:sp>
        <p:nvSpPr>
          <p:cNvPr id="7" name="文字-6-0">
            <a:extLst xmlns:a="http://schemas.openxmlformats.org/drawingml/2006/main">
              <a:ext uri="{FF2B5EF4-FFF2-40B4-BE49-F238E27FC236}">
                <a16:creationId xmlns:a16="http://schemas.microsoft.com/office/drawing/2014/main" id="{4BED2B8E-2EDB-4EC9-92AA-784775E0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09725"/>
            <a:ext cx="26003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街景乙</a:t>
            </a:r>
          </a:p>
        </p:txBody>
      </p:sp>
      <p:sp>
        <p:nvSpPr>
          <p:cNvPr id="8" name="文字-7-0">
            <a:extLst xmlns:a="http://schemas.openxmlformats.org/drawingml/2006/main">
              <a:ext uri="{FF2B5EF4-FFF2-40B4-BE49-F238E27FC236}">
                <a16:creationId xmlns:a16="http://schemas.microsoft.com/office/drawing/2014/main" id="{47BF86EF-0F2E-48CA-899E-D0956358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09725"/>
            <a:ext cx="26003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街景丙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2653D-E465-4464-A14C-399B21549B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afd2accce4313"/>
          <a:stretch xmlns:a="http://schemas.openxmlformats.org/drawingml/2006/main"/>
        </p:blipFill>
        <p:spPr>
          <a:xfrm xmlns:a="http://schemas.openxmlformats.org/drawingml/2006/main">
            <a:off x="1438275" y="1971675"/>
            <a:ext cx="9315450" cy="3105150"/>
          </a:xfrm>
          <a:prstGeom xmlns:a="http://schemas.openxmlformats.org/drawingml/2006/main" prst="rect">
            <a:avLst/>
          </a:prstGeom>
        </p:spPr>
      </p:pic>
      <p:sp>
        <p:nvSpPr>
          <p:cNvPr id="10" name="文字-9-0">
            <a:extLst xmlns:a="http://schemas.openxmlformats.org/drawingml/2006/main">
              <a:ext uri="{FF2B5EF4-FFF2-40B4-BE49-F238E27FC236}">
                <a16:creationId xmlns:a16="http://schemas.microsoft.com/office/drawing/2014/main" id="{188CC80A-AFA9-4E40-83DD-ED550E49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揭曉：乙的白線延伸到立體方塊上。</a:t>
            </a:r>
          </a:p>
        </p:txBody>
      </p:sp>
      <p:sp>
        <p:nvSpPr>
          <p:cNvPr id="11" name="文字-10-0">
            <a:extLst xmlns:a="http://schemas.openxmlformats.org/drawingml/2006/main">
              <a:ext uri="{FF2B5EF4-FFF2-40B4-BE49-F238E27FC236}">
                <a16:creationId xmlns:a16="http://schemas.microsoft.com/office/drawing/2014/main" id="{4771C4D9-6230-4694-81B0-52A05A33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接著認識藍晒圖：園區前身是司法宿舍，如今有藝術裝置與文創店家。</a:t>
            </a:r>
          </a:p>
        </p:txBody>
      </p:sp>
      <p:sp>
        <p:nvSpPr>
          <p:cNvPr id="12" name="文字-10-1">
            <a:extLst xmlns:a="http://schemas.openxmlformats.org/drawingml/2006/main">
              <a:ext uri="{FF2B5EF4-FFF2-40B4-BE49-F238E27FC236}">
                <a16:creationId xmlns:a16="http://schemas.microsoft.com/office/drawing/2014/main" id="{E70B56E4-618B-4FBD-A6D1-6992E927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1213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收藏這次發現；到訪後可試不同構圖，或接同角度拍照挑戰。</a:t>
            </a:r>
          </a:p>
        </p:txBody>
      </p:sp>
    </p:spTree>
    <p:extLst>
      <p:ext uri="{BB962C8B-B14F-4D97-AF65-F5344CB8AC3E}">
        <p14:creationId xmlns:p14="http://schemas.microsoft.com/office/powerpoint/2010/main" val="21163509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7C0A237E-0556-4C08-BCBA-8920DB4A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收藏接到新機會，想去的念頭就能繼續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7BD803F7-969D-4682-81B8-4F763643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以下為預期使用情境；通知由本人選擇，收藏不等於報名。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CF0FC42E-B66B-4F26-98E7-DDC1AE72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1C21C8B9-2BB1-437C-B865-AD55EE0B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30003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有想去的餐廳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43D1F4EB-85C4-4B4C-8E5B-A82F51EC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552575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收藏後出現同時段的合菜邀約，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6A312D96-76B4-4989-AB03-C7F6D3D9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911668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可直接查看還缺幾人、費用與參加條件。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84930950-6BAA-4F56-A79E-01DDAB71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30003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地方在另一個城市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EFE6C7A7-AEC5-48A8-A551-CF9A5694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914650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原收藏留著，旅行時再用；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6CE38510-10DE-4EEA-AAB5-D8C670A9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73743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今天先看附近能體驗到相似特色的選項。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C022A181-A5BC-49F6-A985-561BF571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30003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玩過的地方想親自去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BB59FDEA-685A-4582-811E-DF4EFB7B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276725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把發現卡加入想去清單，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42DB90C1-A0EB-41E5-BFF4-56FFC42C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635818"/>
            <a:ext cx="7667625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到場看線索、拍照片，留下自己的紀念。</a:t>
            </a:r>
          </a:p>
        </p:txBody>
      </p:sp>
      <p:sp>
        <p:nvSpPr>
          <p:cNvPr id="13" name="文字-9-0">
            <a:extLst xmlns:a="http://schemas.openxmlformats.org/drawingml/2006/main">
              <a:ext uri="{FF2B5EF4-FFF2-40B4-BE49-F238E27FC236}">
                <a16:creationId xmlns:a16="http://schemas.microsoft.com/office/drawing/2014/main" id="{AE47179D-9DBB-41DF-9F7E-8817CC4D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同一份收藏，連起新邀約、附近提醒與下一次探索。</a:t>
            </a:r>
          </a:p>
        </p:txBody>
      </p:sp>
    </p:spTree>
    <p:extLst>
      <p:ext uri="{BB962C8B-B14F-4D97-AF65-F5344CB8AC3E}">
        <p14:creationId xmlns:p14="http://schemas.microsoft.com/office/powerpoint/2010/main" val="12232666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文字-0-0">
            <a:extLst xmlns:a="http://schemas.openxmlformats.org/drawingml/2006/main">
              <a:ext uri="{FF2B5EF4-FFF2-40B4-BE49-F238E27FC236}">
                <a16:creationId xmlns:a16="http://schemas.microsoft.com/office/drawing/2014/main" id="{29DFCC74-C84B-41F0-81F7-16DD6058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選自己的主題與目標，看見寵物慢慢成長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A80713D4-68A3-4526-9AD2-FFE78F38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成長門檻與回饋為機制提案，需用實際題目和試玩調整。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C62E2D76-2D11-4231-91FB-8C19EC3E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A2CB5-1597-4770-A847-53DD43CC44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c38bcf16741e4"/>
          <a:stretch xmlns:a="http://schemas.openxmlformats.org/drawingml/2006/main"/>
        </p:blipFill>
        <p:spPr>
          <a:xfrm xmlns:a="http://schemas.openxmlformats.org/drawingml/2006/main">
            <a:off x="1438275" y="1171575"/>
            <a:ext cx="931545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F4C9E221-5F9C-4F4E-ADB9-66635C9E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下一個想完成的主題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E016D4A3-E3C2-40E6-9F4D-BD8B9200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線條、老招牌或地方故事，</a:t>
            </a:r>
          </a:p>
        </p:txBody>
      </p:sp>
      <p:sp>
        <p:nvSpPr>
          <p:cNvPr id="7" name="文字-5-1">
            <a:extLst xmlns:a="http://schemas.openxmlformats.org/drawingml/2006/main">
              <a:ext uri="{FF2B5EF4-FFF2-40B4-BE49-F238E27FC236}">
                <a16:creationId xmlns:a16="http://schemas.microsoft.com/office/drawing/2014/main" id="{EAA38896-E5DC-4991-BC24-102A8339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8738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自己選擇接著探索什麼。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D97FFDE3-4318-4B6E-BEA4-6D5D8406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43400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會改變的寵物</a:t>
            </a:r>
          </a:p>
        </p:txBody>
      </p:sp>
      <p:sp>
        <p:nvSpPr>
          <p:cNvPr id="9" name="文字-7-0">
            <a:extLst xmlns:a="http://schemas.openxmlformats.org/drawingml/2006/main">
              <a:ext uri="{FF2B5EF4-FFF2-40B4-BE49-F238E27FC236}">
                <a16:creationId xmlns:a16="http://schemas.microsoft.com/office/drawing/2014/main" id="{8A81E804-997E-41F3-93BF-A8FA274B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29175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累積經驗增加動作與表情，</a:t>
            </a:r>
          </a:p>
        </p:txBody>
      </p:sp>
      <p:sp>
        <p:nvSpPr>
          <p:cNvPr id="10" name="文字-7-1">
            <a:extLst xmlns:a="http://schemas.openxmlformats.org/drawingml/2006/main">
              <a:ext uri="{FF2B5EF4-FFF2-40B4-BE49-F238E27FC236}">
                <a16:creationId xmlns:a16="http://schemas.microsoft.com/office/drawing/2014/main" id="{A68EFFFE-4D87-4F2A-A90D-6A09FC68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138738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完成主題再選造型與物件。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8AD25A3C-2468-473C-B591-C0656EC9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43400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留得下來的經歷</a:t>
            </a:r>
          </a:p>
        </p:txBody>
      </p:sp>
      <p:sp>
        <p:nvSpPr>
          <p:cNvPr id="12" name="文字-9-0">
            <a:extLst xmlns:a="http://schemas.openxmlformats.org/drawingml/2006/main">
              <a:ext uri="{FF2B5EF4-FFF2-40B4-BE49-F238E27FC236}">
                <a16:creationId xmlns:a16="http://schemas.microsoft.com/office/drawing/2014/main" id="{A4490C8B-5743-49C7-9004-280A444E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829175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照片加回發現卡，</a:t>
            </a:r>
          </a:p>
        </p:txBody>
      </p:sp>
      <p:sp>
        <p:nvSpPr>
          <p:cNvPr id="13" name="文字-9-1">
            <a:extLst xmlns:a="http://schemas.openxmlformats.org/drawingml/2006/main">
              <a:ext uri="{FF2B5EF4-FFF2-40B4-BE49-F238E27FC236}">
                <a16:creationId xmlns:a16="http://schemas.microsoft.com/office/drawing/2014/main" id="{D5C5881B-A2A4-4A03-BCC3-475ADAC6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38738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回看配件來自哪次探索。</a:t>
            </a:r>
          </a:p>
        </p:txBody>
      </p:sp>
      <p:sp>
        <p:nvSpPr>
          <p:cNvPr id="14" name="文字-10-0">
            <a:extLst xmlns:a="http://schemas.openxmlformats.org/drawingml/2006/main">
              <a:ext uri="{FF2B5EF4-FFF2-40B4-BE49-F238E27FC236}">
                <a16:creationId xmlns:a16="http://schemas.microsoft.com/office/drawing/2014/main" id="{84E013A0-F569-4610-B907-CB4742D0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新題目、新邀約與未完成的目標，提供不同的回來理由。</a:t>
            </a:r>
          </a:p>
        </p:txBody>
      </p:sp>
      <p:sp>
        <p:nvSpPr>
          <p:cNvPr id="15" name="文字-10-1">
            <a:extLst xmlns:a="http://schemas.openxmlformats.org/drawingml/2006/main">
              <a:ext uri="{FF2B5EF4-FFF2-40B4-BE49-F238E27FC236}">
                <a16:creationId xmlns:a16="http://schemas.microsoft.com/office/drawing/2014/main" id="{C9D1339B-AB6B-4A3B-9FA1-3CD11CAD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5988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步數與里程可評估連動；可兌換點數、優惠和會員權益另訂條件。</a:t>
            </a:r>
          </a:p>
        </p:txBody>
      </p:sp>
    </p:spTree>
    <p:extLst>
      <p:ext uri="{BB962C8B-B14F-4D97-AF65-F5344CB8AC3E}">
        <p14:creationId xmlns:p14="http://schemas.microsoft.com/office/powerpoint/2010/main" val="16482699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文字-0-0">
            <a:extLst xmlns:a="http://schemas.openxmlformats.org/drawingml/2006/main">
              <a:ext uri="{FF2B5EF4-FFF2-40B4-BE49-F238E27FC236}">
                <a16:creationId xmlns:a16="http://schemas.microsoft.com/office/drawing/2014/main" id="{42B6257D-C75B-4A75-80FB-23CE5DA9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條件改變時，AI幫你找出新的可行選擇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E3CF92D6-3943-4EEA-AD3E-115D0D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人工編排的輸出示例，尚未經模型測試。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95844396-EB16-4160-9C5C-3A6F91BB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958170FB-51CD-4D45-BC9C-10C36400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28575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同好邀約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D463FFE8-E707-4E8D-B968-E689C0F0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457325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想試合菜、週六有空：從可參加的邀約中，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87030C0B-0DFA-498A-BE8C-3B9A005D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79270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找出餐點興趣相近的同伴，說明共同點和費用條件。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FA11A3BE-1BB7-451D-9D68-2FD83110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8575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朋友一起選去處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2AC03777-8B13-4D72-A774-2162F3EB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24125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我想拍空間，朋友想看展。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FBF34209-7024-4B87-BD5D-C108F341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46070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加入朋友條件後，美術館成為兩人都能做想做的事的候選。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2BEEB8C9-BF6E-40BF-83A6-E7D1BB2D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28575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時間與預算改變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0C4D6315-A035-46C6-8012-C083871E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590925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場內從一小時改成25分鐘，保留最想拍的一組。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39032300-E0F0-41D2-9AA2-0E6949F5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12870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若交通或預算仍不合，提出其他候選並說明差異。</a:t>
            </a:r>
          </a:p>
        </p:txBody>
      </p:sp>
      <p:sp>
        <p:nvSpPr>
          <p:cNvPr id="13" name="文字-9-0">
            <a:extLst xmlns:a="http://schemas.openxmlformats.org/drawingml/2006/main">
              <a:ext uri="{FF2B5EF4-FFF2-40B4-BE49-F238E27FC236}">
                <a16:creationId xmlns:a16="http://schemas.microsoft.com/office/drawing/2014/main" id="{90C02BD5-FB2B-4D24-B044-EA0A73D8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28575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導覽與遊戲提示</a:t>
            </a:r>
          </a:p>
        </p:txBody>
      </p:sp>
      <p:sp>
        <p:nvSpPr>
          <p:cNvPr id="14" name="文字-10-0">
            <a:extLst xmlns:a="http://schemas.openxmlformats.org/drawingml/2006/main">
              <a:ext uri="{FF2B5EF4-FFF2-40B4-BE49-F238E27FC236}">
                <a16:creationId xmlns:a16="http://schemas.microsoft.com/office/drawing/2014/main" id="{01CE50DF-FDAD-4F7E-B097-7603773F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57725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卡在白線題時，先提示觀察立體結構；</a:t>
            </a:r>
          </a:p>
        </p:txBody>
      </p:sp>
      <p:sp>
        <p:nvSpPr>
          <p:cNvPr id="15" name="文字-10-1">
            <a:extLst xmlns:a="http://schemas.openxmlformats.org/drawingml/2006/main">
              <a:ext uri="{FF2B5EF4-FFF2-40B4-BE49-F238E27FC236}">
                <a16:creationId xmlns:a16="http://schemas.microsoft.com/office/drawing/2014/main" id="{1CD6DC2E-1EEF-4792-BCAD-40819CECE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79670"/>
            <a:ext cx="78105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到場後再依好奇的內容，說明地方故事與拍攝角度。</a:t>
            </a:r>
          </a:p>
        </p:txBody>
      </p:sp>
      <p:sp>
        <p:nvSpPr>
          <p:cNvPr id="16" name="文字-11-0">
            <a:extLst xmlns:a="http://schemas.openxmlformats.org/drawingml/2006/main">
              <a:ext uri="{FF2B5EF4-FFF2-40B4-BE49-F238E27FC236}">
                <a16:creationId xmlns:a16="http://schemas.microsoft.com/office/drawing/2014/main" id="{C894D907-F3CE-40CC-8DB2-C2AF49CB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由本人確認喜好；只保留願意留下的偏好與回饋，改善後續推薦。</a:t>
            </a:r>
          </a:p>
        </p:txBody>
      </p:sp>
    </p:spTree>
    <p:extLst>
      <p:ext uri="{BB962C8B-B14F-4D97-AF65-F5344CB8AC3E}">
        <p14:creationId xmlns:p14="http://schemas.microsoft.com/office/powerpoint/2010/main" val="11067332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文字-0-0">
            <a:extLst xmlns:a="http://schemas.openxmlformats.org/drawingml/2006/main">
              <a:ext uri="{FF2B5EF4-FFF2-40B4-BE49-F238E27FC236}">
                <a16:creationId xmlns:a16="http://schemas.microsoft.com/office/drawing/2014/main" id="{F2C2737C-2082-4B48-B4D4-BEC23655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AI理解需求，資料與規則讓建議可核對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B6414A55-8005-4521-9A0A-0F5E0967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候選技術；正式選型依品質、延遲、成本及團隊能力確認。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4165FEF3-6D1A-41BC-8360-C40BCF4A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FD5B83BF-3C1D-468A-9F70-0BED744A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05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輸入與本人確認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92E97975-C1C6-45DB-B16D-A0A1F3BD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圖片、文字、地圖連結，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E87C4ACF-B6BD-428C-AEF2-81BC6254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3628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加上喜好、時間、預算及同行需求。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6A549444-B040-49CB-8068-C24FADD1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05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可核對的資料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6B21109A-939B-4B3D-B2DA-754A31E2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1930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地方特色、照片與故事來源；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AD34247D-4C0E-49C2-9F16-8E2BD730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53628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活動時段、費用、名額及參加條件。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200F74F1-CB00-4145-BE45-4C86CE9C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105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AI產生建議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CCA06CC5-243C-4EAE-A0A2-AE22CE41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整理偏好、推薦與配對候選，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FA62CEF7-6DFA-475A-9B07-6A503BAC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0528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提出共同安排、導覽及提示。</a:t>
            </a:r>
          </a:p>
        </p:txBody>
      </p:sp>
      <p:sp>
        <p:nvSpPr>
          <p:cNvPr id="13" name="文字-9-0">
            <a:extLst xmlns:a="http://schemas.openxmlformats.org/drawingml/2006/main">
              <a:ext uri="{FF2B5EF4-FFF2-40B4-BE49-F238E27FC236}">
                <a16:creationId xmlns:a16="http://schemas.microsoft.com/office/drawing/2014/main" id="{0A8A892D-273D-41ED-89FB-E2A54675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43275"/>
            <a:ext cx="5105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規則與本人決定</a:t>
            </a:r>
          </a:p>
        </p:txBody>
      </p:sp>
      <p:sp>
        <p:nvSpPr>
          <p:cNvPr id="14" name="文字-10-0">
            <a:extLst xmlns:a="http://schemas.openxmlformats.org/drawingml/2006/main">
              <a:ext uri="{FF2B5EF4-FFF2-40B4-BE49-F238E27FC236}">
                <a16:creationId xmlns:a16="http://schemas.microsoft.com/office/drawing/2014/main" id="{C44CBAD4-8EAF-4ABF-8E09-8A54A5FA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8620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核對開放、路程、費用與名額；</a:t>
            </a:r>
          </a:p>
        </p:txBody>
      </p:sp>
      <p:sp>
        <p:nvSpPr>
          <p:cNvPr id="15" name="文字-10-1">
            <a:extLst xmlns:a="http://schemas.openxmlformats.org/drawingml/2006/main">
              <a:ext uri="{FF2B5EF4-FFF2-40B4-BE49-F238E27FC236}">
                <a16:creationId xmlns:a16="http://schemas.microsoft.com/office/drawing/2014/main" id="{307D17A6-04BD-4DB5-BD12-04FB5F00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0528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有衝突就提示，再由本人選擇。</a:t>
            </a:r>
          </a:p>
        </p:txBody>
      </p:sp>
      <p:sp>
        <p:nvSpPr>
          <p:cNvPr id="16" name="文字-11-0">
            <a:extLst xmlns:a="http://schemas.openxmlformats.org/drawingml/2006/main">
              <a:ext uri="{FF2B5EF4-FFF2-40B4-BE49-F238E27FC236}">
                <a16:creationId xmlns:a16="http://schemas.microsoft.com/office/drawing/2014/main" id="{E326E465-B2CB-4BA2-8127-94E71D91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模型候選：Gemini 3.8 Flash　｜　資料：Supabase　｜　路程：Google Routes</a:t>
            </a:r>
          </a:p>
        </p:txBody>
      </p:sp>
      <p:sp>
        <p:nvSpPr>
          <p:cNvPr id="17" name="文字-12-0">
            <a:extLst xmlns:a="http://schemas.openxmlformats.org/drawingml/2006/main">
              <a:ext uri="{FF2B5EF4-FFF2-40B4-BE49-F238E27FC236}">
                <a16:creationId xmlns:a16="http://schemas.microsoft.com/office/drawing/2014/main" id="{F4A4F96A-0979-4461-BD23-8459512E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支援圖片、文字與分欄輸出，便於核對候選、推薦理由及來源。</a:t>
            </a:r>
          </a:p>
        </p:txBody>
      </p:sp>
    </p:spTree>
    <p:extLst>
      <p:ext uri="{BB962C8B-B14F-4D97-AF65-F5344CB8AC3E}">
        <p14:creationId xmlns:p14="http://schemas.microsoft.com/office/powerpoint/2010/main" val="3820322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文字-0-0">
            <a:extLst xmlns:a="http://schemas.openxmlformats.org/drawingml/2006/main">
              <a:ext uri="{FF2B5EF4-FFF2-40B4-BE49-F238E27FC236}">
                <a16:creationId xmlns:a16="http://schemas.microsoft.com/office/drawing/2014/main" id="{2286159A-40F7-437E-A185-69180C35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把已有的好用功能，接成值得持續使用的體驗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098FC26F-DDD9-4461-92DA-574B1238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依官方功能介紹比較；本案的額外價值仍須在相同條件下實際比較。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85E5E6C7-FF0D-49BF-AAFA-7D6FC887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02BC253E-6C07-456A-8541-D8D20B74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既有服務已經做到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F65AC218-78E5-43F3-AD3A-F37D02AE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362075"/>
            <a:ext cx="718185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本案要再做到什麼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21B10615-5BE4-416B-8215-A35FF13D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Google Maps</a:t>
            </a:r>
          </a:p>
        </p:txBody>
      </p:sp>
      <p:sp>
        <p:nvSpPr>
          <p:cNvPr id="7" name="文字-5-1">
            <a:extLst xmlns:a="http://schemas.openxmlformats.org/drawingml/2006/main">
              <a:ext uri="{FF2B5EF4-FFF2-40B4-BE49-F238E27FC236}">
                <a16:creationId xmlns:a16="http://schemas.microsoft.com/office/drawing/2014/main" id="{7C2027A4-3D09-44A5-98B5-CB66A98E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4103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找地點、對話規劃與分享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7033AF4A-AAD6-4D5B-9414-13E15B96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收藏遇到合適的邀約，就有新的參加機會；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18A971FB-6557-4F24-B1A4-5BE41AD8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5648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親自探索後，紀錄能接到下一次推薦。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F784C7D4-62C6-4C3B-99CB-7904D8AE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Timeleft</a:t>
            </a:r>
          </a:p>
        </p:txBody>
      </p:sp>
      <p:sp>
        <p:nvSpPr>
          <p:cNvPr id="11" name="文字-7-1">
            <a:extLst xmlns:a="http://schemas.openxmlformats.org/drawingml/2006/main">
              <a:ext uri="{FF2B5EF4-FFF2-40B4-BE49-F238E27FC236}">
                <a16:creationId xmlns:a16="http://schemas.microsoft.com/office/drawing/2014/main" id="{CDE6D6E1-5739-4A7F-871B-FA96854D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7603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配對與安排共同活動</a:t>
            </a:r>
          </a:p>
        </p:txBody>
      </p:sp>
      <p:sp>
        <p:nvSpPr>
          <p:cNvPr id="12" name="文字-8-0">
            <a:extLst xmlns:a="http://schemas.openxmlformats.org/drawingml/2006/main">
              <a:ext uri="{FF2B5EF4-FFF2-40B4-BE49-F238E27FC236}">
                <a16:creationId xmlns:a16="http://schemas.microsoft.com/office/drawing/2014/main" id="{21610EDD-F391-41D0-97E4-C6CFF302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4327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能從現有收藏或想做的事找伴，</a:t>
            </a:r>
          </a:p>
        </p:txBody>
      </p:sp>
      <p:sp>
        <p:nvSpPr>
          <p:cNvPr id="13" name="文字-8-1">
            <a:extLst xmlns:a="http://schemas.openxmlformats.org/drawingml/2006/main">
              <a:ext uri="{FF2B5EF4-FFF2-40B4-BE49-F238E27FC236}">
                <a16:creationId xmlns:a16="http://schemas.microsoft.com/office/drawing/2014/main" id="{8FF67454-97FE-443C-916D-421757F1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8998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也能和原本的朋友一起選去處。</a:t>
            </a:r>
          </a:p>
        </p:txBody>
      </p:sp>
      <p:sp>
        <p:nvSpPr>
          <p:cNvPr id="14" name="文字-9-0">
            <a:extLst xmlns:a="http://schemas.openxmlformats.org/drawingml/2006/main">
              <a:ext uri="{FF2B5EF4-FFF2-40B4-BE49-F238E27FC236}">
                <a16:creationId xmlns:a16="http://schemas.microsoft.com/office/drawing/2014/main" id="{D3055307-1A46-4135-9C6B-D69ED74C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Pikmin Bloom</a:t>
            </a:r>
          </a:p>
        </p:txBody>
      </p:sp>
      <p:sp>
        <p:nvSpPr>
          <p:cNvPr id="15" name="文字-9-1">
            <a:extLst xmlns:a="http://schemas.openxmlformats.org/drawingml/2006/main">
              <a:ext uri="{FF2B5EF4-FFF2-40B4-BE49-F238E27FC236}">
                <a16:creationId xmlns:a16="http://schemas.microsoft.com/office/drawing/2014/main" id="{D29836A6-E9C2-4182-9C4F-DD50076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1103"/>
            <a:ext cx="335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步行、角色蒐集與紀念</a:t>
            </a:r>
          </a:p>
        </p:txBody>
      </p:sp>
      <p:sp>
        <p:nvSpPr>
          <p:cNvPr id="16" name="文字-10-0">
            <a:extLst xmlns:a="http://schemas.openxmlformats.org/drawingml/2006/main">
              <a:ext uri="{FF2B5EF4-FFF2-40B4-BE49-F238E27FC236}">
                <a16:creationId xmlns:a16="http://schemas.microsoft.com/office/drawing/2014/main" id="{5AA7C4BE-5861-4DDD-BC85-3592F1BD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城市觀察題結合地方故事，</a:t>
            </a:r>
          </a:p>
        </p:txBody>
      </p:sp>
      <p:sp>
        <p:nvSpPr>
          <p:cNvPr id="17" name="文字-10-1">
            <a:extLst xmlns:a="http://schemas.openxmlformats.org/drawingml/2006/main">
              <a:ext uri="{FF2B5EF4-FFF2-40B4-BE49-F238E27FC236}">
                <a16:creationId xmlns:a16="http://schemas.microsoft.com/office/drawing/2014/main" id="{56747155-ADC5-4483-B968-4F9D3672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23485"/>
            <a:ext cx="71818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再接到實地拍照、主題與寵物成長。</a:t>
            </a:r>
          </a:p>
        </p:txBody>
      </p:sp>
      <p:sp>
        <p:nvSpPr>
          <p:cNvPr id="18" name="文字-11-0">
            <a:extLst xmlns:a="http://schemas.openxmlformats.org/drawingml/2006/main">
              <a:ext uri="{FF2B5EF4-FFF2-40B4-BE49-F238E27FC236}">
                <a16:creationId xmlns:a16="http://schemas.microsoft.com/office/drawing/2014/main" id="{1C231B1D-774C-4305-9094-2984867E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972800" cy="30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持續累積的基礎：本人確認的細緻偏好、可參加的邀約，以及地方題庫。</a:t>
            </a:r>
          </a:p>
        </p:txBody>
      </p:sp>
    </p:spTree>
    <p:extLst>
      <p:ext uri="{BB962C8B-B14F-4D97-AF65-F5344CB8AC3E}">
        <p14:creationId xmlns:p14="http://schemas.microsoft.com/office/powerpoint/2010/main" val="21401736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文字-0-0">
            <a:extLst xmlns:a="http://schemas.openxmlformats.org/drawingml/2006/main">
              <a:ext uri="{FF2B5EF4-FFF2-40B4-BE49-F238E27FC236}">
                <a16:creationId xmlns:a16="http://schemas.microsoft.com/office/drawing/2014/main" id="{13982ADB-7398-4D95-AA18-254E7D53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yoxi參與出門的理由，也承接出發的安排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88359E99-607B-41C3-B56D-29D3C74C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合作提案；優惠、資料介接與收益均待實際合作確認。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BD4DD1D4-D83E-4FB5-A054-838AF107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49F9EC62-E6A0-48BB-843F-CED30682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3381375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使用者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BB05C0C7-7FD2-4E40-A890-486F1A37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有人帶頭，合菜更容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3ECA2A1B-B21F-409C-B131-BD24A98D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748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易成行。</a:t>
            </a:r>
          </a:p>
        </p:txBody>
      </p:sp>
      <p:sp>
        <p:nvSpPr>
          <p:cNvPr id="7" name="文字-4-2">
            <a:extLst xmlns:a="http://schemas.openxmlformats.org/drawingml/2006/main">
              <a:ext uri="{FF2B5EF4-FFF2-40B4-BE49-F238E27FC236}">
                <a16:creationId xmlns:a16="http://schemas.microsoft.com/office/drawing/2014/main" id="{337551EF-A770-4739-874A-D38DA29A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419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比較多人方案與分攤車資，</a:t>
            </a:r>
          </a:p>
        </p:txBody>
      </p:sp>
      <p:sp>
        <p:nvSpPr>
          <p:cNvPr id="8" name="文字-4-3">
            <a:extLst xmlns:a="http://schemas.openxmlformats.org/drawingml/2006/main">
              <a:ext uri="{FF2B5EF4-FFF2-40B4-BE49-F238E27FC236}">
                <a16:creationId xmlns:a16="http://schemas.microsoft.com/office/drawing/2014/main" id="{628C4F4A-4DE8-4883-8D30-5562D24F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090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連同交通一起看總花費。</a:t>
            </a:r>
          </a:p>
        </p:txBody>
      </p:sp>
      <p:sp>
        <p:nvSpPr>
          <p:cNvPr id="9" name="文字-5-0">
            <a:extLst xmlns:a="http://schemas.openxmlformats.org/drawingml/2006/main">
              <a:ext uri="{FF2B5EF4-FFF2-40B4-BE49-F238E27FC236}">
                <a16:creationId xmlns:a16="http://schemas.microsoft.com/office/drawing/2014/main" id="{33C90869-DA9C-4A5E-829D-A6B8FE11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81375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活動與店家</a:t>
            </a:r>
          </a:p>
        </p:txBody>
      </p:sp>
      <p:sp>
        <p:nvSpPr>
          <p:cNvPr id="10" name="文字-6-0">
            <a:extLst xmlns:a="http://schemas.openxmlformats.org/drawingml/2006/main">
              <a:ext uri="{FF2B5EF4-FFF2-40B4-BE49-F238E27FC236}">
                <a16:creationId xmlns:a16="http://schemas.microsoft.com/office/drawing/2014/main" id="{EA471A91-5788-417F-AFC7-E904E912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9077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提供可預約時段與多</a:t>
            </a:r>
          </a:p>
        </p:txBody>
      </p:sp>
      <p:sp>
        <p:nvSpPr>
          <p:cNvPr id="11" name="文字-6-1">
            <a:extLst xmlns:a="http://schemas.openxmlformats.org/drawingml/2006/main">
              <a:ext uri="{FF2B5EF4-FFF2-40B4-BE49-F238E27FC236}">
                <a16:creationId xmlns:a16="http://schemas.microsoft.com/office/drawing/2014/main" id="{D88CD881-3EC4-4440-A8A3-6C0486F3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3748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人方案，</a:t>
            </a:r>
          </a:p>
        </p:txBody>
      </p:sp>
      <p:sp>
        <p:nvSpPr>
          <p:cNvPr id="12" name="文字-6-2">
            <a:extLst xmlns:a="http://schemas.openxmlformats.org/drawingml/2006/main">
              <a:ext uri="{FF2B5EF4-FFF2-40B4-BE49-F238E27FC236}">
                <a16:creationId xmlns:a16="http://schemas.microsoft.com/office/drawing/2014/main" id="{0FE16676-A2CF-488E-BC88-CB624183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8419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讓有意願的人提早報名，</a:t>
            </a:r>
          </a:p>
        </p:txBody>
      </p:sp>
      <p:sp>
        <p:nvSpPr>
          <p:cNvPr id="13" name="文字-6-3">
            <a:extLst xmlns:a="http://schemas.openxmlformats.org/drawingml/2006/main">
              <a:ext uri="{FF2B5EF4-FFF2-40B4-BE49-F238E27FC236}">
                <a16:creationId xmlns:a16="http://schemas.microsoft.com/office/drawing/2014/main" id="{70DB40BA-EBDF-4E0C-93DF-7E2EC92F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090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依成團人數準備服務。</a:t>
            </a:r>
          </a:p>
        </p:txBody>
      </p:sp>
      <p:sp>
        <p:nvSpPr>
          <p:cNvPr id="14" name="文字-7-0">
            <a:extLst xmlns:a="http://schemas.openxmlformats.org/drawingml/2006/main">
              <a:ext uri="{FF2B5EF4-FFF2-40B4-BE49-F238E27FC236}">
                <a16:creationId xmlns:a16="http://schemas.microsoft.com/office/drawing/2014/main" id="{9F59017E-6DDC-4FB3-AA3D-9836DB40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90700"/>
            <a:ext cx="3381375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yoxi</a:t>
            </a:r>
          </a:p>
        </p:txBody>
      </p:sp>
      <p:sp>
        <p:nvSpPr>
          <p:cNvPr id="15" name="文字-8-0">
            <a:extLst xmlns:a="http://schemas.openxmlformats.org/drawingml/2006/main">
              <a:ext uri="{FF2B5EF4-FFF2-40B4-BE49-F238E27FC236}">
                <a16:creationId xmlns:a16="http://schemas.microsoft.com/office/drawing/2014/main" id="{92717127-ECC9-4616-A388-432DEE11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9077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先參與去哪裡、和誰去，</a:t>
            </a:r>
          </a:p>
        </p:txBody>
      </p:sp>
      <p:sp>
        <p:nvSpPr>
          <p:cNvPr id="16" name="文字-8-1">
            <a:extLst xmlns:a="http://schemas.openxmlformats.org/drawingml/2006/main">
              <a:ext uri="{FF2B5EF4-FFF2-40B4-BE49-F238E27FC236}">
                <a16:creationId xmlns:a16="http://schemas.microsoft.com/office/drawing/2014/main" id="{670BF19B-B87B-4013-9B0D-5786BE7B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3748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再沿用安排提供交通選擇。</a:t>
            </a:r>
          </a:p>
        </p:txBody>
      </p:sp>
      <p:sp>
        <p:nvSpPr>
          <p:cNvPr id="17" name="文字-8-2">
            <a:extLst xmlns:a="http://schemas.openxmlformats.org/drawingml/2006/main">
              <a:ext uri="{FF2B5EF4-FFF2-40B4-BE49-F238E27FC236}">
                <a16:creationId xmlns:a16="http://schemas.microsoft.com/office/drawing/2014/main" id="{3967CFFF-AC48-49DB-8D08-E4DE1117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419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去識別熱點協助選擇</a:t>
            </a:r>
          </a:p>
        </p:txBody>
      </p:sp>
      <p:sp>
        <p:nvSpPr>
          <p:cNvPr id="18" name="文字-8-3">
            <a:extLst xmlns:a="http://schemas.openxmlformats.org/drawingml/2006/main">
              <a:ext uri="{FF2B5EF4-FFF2-40B4-BE49-F238E27FC236}">
                <a16:creationId xmlns:a16="http://schemas.microsoft.com/office/drawing/2014/main" id="{CE3F9B93-E8E7-42AD-BA4F-C2C3B633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3090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活動區域與時段。</a:t>
            </a:r>
          </a:p>
        </p:txBody>
      </p:sp>
      <p:sp>
        <p:nvSpPr>
          <p:cNvPr id="19" name="文字-9-0">
            <a:extLst xmlns:a="http://schemas.openxmlformats.org/drawingml/2006/main">
              <a:ext uri="{FF2B5EF4-FFF2-40B4-BE49-F238E27FC236}">
                <a16:creationId xmlns:a16="http://schemas.microsoft.com/office/drawing/2014/main" id="{9B1FF538-3A1D-4916-A1C6-3FFB59A2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972800" cy="4274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共同參加、各自前往或同車，都保留選擇。</a:t>
            </a:r>
          </a:p>
        </p:txBody>
      </p:sp>
      <p:sp>
        <p:nvSpPr>
          <p:cNvPr id="20" name="文字-10-0">
            <a:extLst xmlns:a="http://schemas.openxmlformats.org/drawingml/2006/main">
              <a:ext uri="{FF2B5EF4-FFF2-40B4-BE49-F238E27FC236}">
                <a16:creationId xmlns:a16="http://schemas.microsoft.com/office/drawing/2014/main" id="{C1BD7302-1959-4A78-81C8-42E842F2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第一版一團一目的地，可有不同上車點。</a:t>
            </a:r>
          </a:p>
        </p:txBody>
      </p:sp>
      <p:sp>
        <p:nvSpPr>
          <p:cNvPr id="21" name="文字-10-1">
            <a:extLst xmlns:a="http://schemas.openxmlformats.org/drawingml/2006/main">
              <a:ext uri="{FF2B5EF4-FFF2-40B4-BE49-F238E27FC236}">
                <a16:creationId xmlns:a16="http://schemas.microsoft.com/office/drawing/2014/main" id="{81167008-ADF7-4025-9054-02E9CF3A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7853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先看路程、等待及每人車資；人數或費用變動時重新確認。</a:t>
            </a:r>
          </a:p>
        </p:txBody>
      </p:sp>
    </p:spTree>
    <p:extLst>
      <p:ext uri="{BB962C8B-B14F-4D97-AF65-F5344CB8AC3E}">
        <p14:creationId xmlns:p14="http://schemas.microsoft.com/office/powerpoint/2010/main" val="19742147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文字-0-0">
            <a:extLst xmlns:a="http://schemas.openxmlformats.org/drawingml/2006/main">
              <a:ext uri="{FF2B5EF4-FFF2-40B4-BE49-F238E27FC236}">
                <a16:creationId xmlns:a16="http://schemas.microsoft.com/office/drawing/2014/main" id="{A95121D6-FDFB-4C4A-ADC6-CE5DC7D1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先備好體驗內容，和有人帶頭的活動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16B82547-BE5B-4997-AD32-26BF61C4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規劃數量；地區、素材權利、主持人及團隊工時待確認。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CFFF5969-A6FA-4917-916D-FF554884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26195A0E-2EDA-4E1E-89C2-F0A93CAF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招募有收藏未成行、找伴，或城市觀察興趣的人試用。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F246882D-4577-49EC-B995-F4395527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105400" cy="414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地方與遊戲內容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859A5492-8843-4309-B6AD-E1D726F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30筆地方與活動資料</a:t>
            </a:r>
          </a:p>
        </p:txBody>
      </p:sp>
      <p:sp>
        <p:nvSpPr>
          <p:cNvPr id="7" name="文字-5-1">
            <a:extLst xmlns:a="http://schemas.openxmlformats.org/drawingml/2006/main">
              <a:ext uri="{FF2B5EF4-FFF2-40B4-BE49-F238E27FC236}">
                <a16:creationId xmlns:a16="http://schemas.microsoft.com/office/drawing/2014/main" id="{638B3816-811C-4053-98E0-A4BBD79E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371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3個主題、12道挑戰</a:t>
            </a:r>
          </a:p>
        </p:txBody>
      </p:sp>
      <p:sp>
        <p:nvSpPr>
          <p:cNvPr id="8" name="文字-5-2">
            <a:extLst xmlns:a="http://schemas.openxmlformats.org/drawingml/2006/main">
              <a:ext uri="{FF2B5EF4-FFF2-40B4-BE49-F238E27FC236}">
                <a16:creationId xmlns:a16="http://schemas.microsoft.com/office/drawing/2014/main" id="{52622FBE-BA1D-463B-8341-750AB46E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042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9" name="文字-5-3">
            <a:extLst xmlns:a="http://schemas.openxmlformats.org/drawingml/2006/main">
              <a:ext uri="{FF2B5EF4-FFF2-40B4-BE49-F238E27FC236}">
                <a16:creationId xmlns:a16="http://schemas.microsoft.com/office/drawing/2014/main" id="{C222BECF-CDBA-4203-95EA-4A6E96A2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713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每題有照片、答案、揭曉，</a:t>
            </a:r>
          </a:p>
        </p:txBody>
      </p:sp>
      <p:sp>
        <p:nvSpPr>
          <p:cNvPr id="10" name="文字-5-4">
            <a:extLst xmlns:a="http://schemas.openxmlformats.org/drawingml/2006/main">
              <a:ext uri="{FF2B5EF4-FFF2-40B4-BE49-F238E27FC236}">
                <a16:creationId xmlns:a16="http://schemas.microsoft.com/office/drawing/2014/main" id="{6A8C5CC6-C0CB-46DE-86F6-9EA2F8A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384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以及可核對的地方故事。</a:t>
            </a:r>
          </a:p>
        </p:txBody>
      </p:sp>
      <p:sp>
        <p:nvSpPr>
          <p:cNvPr id="11" name="文字-6-0">
            <a:extLst xmlns:a="http://schemas.openxmlformats.org/drawingml/2006/main">
              <a:ext uri="{FF2B5EF4-FFF2-40B4-BE49-F238E27FC236}">
                <a16:creationId xmlns:a16="http://schemas.microsoft.com/office/drawing/2014/main" id="{4BD12878-DF5D-4031-92EE-32310B68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5105400" cy="414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活動與試用</a:t>
            </a:r>
          </a:p>
        </p:txBody>
      </p:sp>
      <p:sp>
        <p:nvSpPr>
          <p:cNvPr id="12" name="文字-7-0">
            <a:extLst xmlns:a="http://schemas.openxmlformats.org/drawingml/2006/main">
              <a:ext uri="{FF2B5EF4-FFF2-40B4-BE49-F238E27FC236}">
                <a16:creationId xmlns:a16="http://schemas.microsoft.com/office/drawing/2014/main" id="{D6956E30-E5C4-446B-B51A-48685758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20位試用者</a:t>
            </a:r>
          </a:p>
        </p:txBody>
      </p:sp>
      <p:sp>
        <p:nvSpPr>
          <p:cNvPr id="13" name="文字-7-1">
            <a:extLst xmlns:a="http://schemas.openxmlformats.org/drawingml/2006/main">
              <a:ext uri="{FF2B5EF4-FFF2-40B4-BE49-F238E27FC236}">
                <a16:creationId xmlns:a16="http://schemas.microsoft.com/office/drawing/2014/main" id="{D6D9BB71-E8FD-4191-8BCA-9966287B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1371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3場有人主持的活動</a:t>
            </a:r>
          </a:p>
        </p:txBody>
      </p:sp>
      <p:sp>
        <p:nvSpPr>
          <p:cNvPr id="14" name="文字-7-2">
            <a:extLst xmlns:a="http://schemas.openxmlformats.org/drawingml/2006/main">
              <a:ext uri="{FF2B5EF4-FFF2-40B4-BE49-F238E27FC236}">
                <a16:creationId xmlns:a16="http://schemas.microsoft.com/office/drawing/2014/main" id="{D7372F84-1821-4976-A3AE-E33E92BC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6042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文字-7-3">
            <a:extLst xmlns:a="http://schemas.openxmlformats.org/drawingml/2006/main">
              <a:ext uri="{FF2B5EF4-FFF2-40B4-BE49-F238E27FC236}">
                <a16:creationId xmlns:a16="http://schemas.microsoft.com/office/drawing/2014/main" id="{FBCD556A-5623-45FF-A10F-E9B06CFED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0713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先確認時段、費用、名額；</a:t>
            </a:r>
          </a:p>
        </p:txBody>
      </p:sp>
      <p:sp>
        <p:nvSpPr>
          <p:cNvPr id="16" name="文字-7-4">
            <a:extLst xmlns:a="http://schemas.openxmlformats.org/drawingml/2006/main">
              <a:ext uri="{FF2B5EF4-FFF2-40B4-BE49-F238E27FC236}">
                <a16:creationId xmlns:a16="http://schemas.microsoft.com/office/drawing/2014/main" id="{4019A58C-3411-4FDF-9A05-18697708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53840"/>
            <a:ext cx="51054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使用者能直接看到可加入的邀約。</a:t>
            </a:r>
          </a:p>
        </p:txBody>
      </p:sp>
      <p:sp>
        <p:nvSpPr>
          <p:cNvPr id="17" name="文字-8-0">
            <a:extLst xmlns:a="http://schemas.openxmlformats.org/drawingml/2006/main">
              <a:ext uri="{FF2B5EF4-FFF2-40B4-BE49-F238E27FC236}">
                <a16:creationId xmlns:a16="http://schemas.microsoft.com/office/drawing/2014/main" id="{CFDC59CF-50C2-4E46-AF81-2CEA60B0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優先選團隊能到場、取得素材，也找得到活動提供者的地區。</a:t>
            </a:r>
          </a:p>
        </p:txBody>
      </p:sp>
      <p:sp>
        <p:nvSpPr>
          <p:cNvPr id="18" name="文字-9-0">
            <a:extLst xmlns:a="http://schemas.openxmlformats.org/drawingml/2006/main">
              <a:ext uri="{FF2B5EF4-FFF2-40B4-BE49-F238E27FC236}">
                <a16:creationId xmlns:a16="http://schemas.microsoft.com/office/drawing/2014/main" id="{A8064D4A-0BAC-4B52-9ED6-AE7DD050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台南用來說明體驗，試辦城市尚未選定。</a:t>
            </a:r>
          </a:p>
        </p:txBody>
      </p:sp>
    </p:spTree>
    <p:extLst>
      <p:ext uri="{BB962C8B-B14F-4D97-AF65-F5344CB8AC3E}">
        <p14:creationId xmlns:p14="http://schemas.microsoft.com/office/powerpoint/2010/main" val="567851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文字-0-0">
            <a:extLst xmlns:a="http://schemas.openxmlformats.org/drawingml/2006/main">
              <a:ext uri="{FF2B5EF4-FFF2-40B4-BE49-F238E27FC236}">
                <a16:creationId xmlns:a16="http://schemas.microsoft.com/office/drawing/2014/main" id="{DBF8AB12-3727-40A7-A331-A0C2722C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雛型開發、內容與持續營運的投入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CDC3DBBF-D684-4741-80E6-8788F8CF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規劃估算，非報價；新台幣與美元分列。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35AC1860-FB96-4BA3-97A1-E1FC533A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FB113-B0AE-4654-BDA1-67743DCDB634}"/>
              </a:ext>
            </a:extLst>
          </p:cNvPr>
          <p:cNvGraphicFramePr/>
          <p:nvPr/>
        </p:nvGraphicFramePr>
        <p:xfrm>
          <a:off xmlns:a="http://schemas.openxmlformats.org/drawingml/2006/main" x="609600" y="1609725"/>
          <a:ext xmlns:a="http://schemas.openxmlformats.org/drawingml/2006/main" cx="10972800" cy="36385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24100"/>
                <a:gridCol w="3381375"/>
                <a:gridCol w="5267325"/>
              </a:tblGrid>
              <a:tr h="514350">
                <a:tc>
                  <a:txBody>
                    <a:bodyPr wrap="square"/>
                    <a:lstStyle/>
                    <a:p>
                      <a:pPr algn="l"/>
                      <a:r>
                        <a:rPr sz="195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項目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估算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範圍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</a:tr>
              <a:tr h="1085850"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雛型與首批內容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NT$262,400–371,200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開發272–408人時，另含內容及素材；</a:t>
                      </a:r>
                    </a:p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含單一手機平台的分享入口驗證。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1028700"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每月內容與活動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NT$16,000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40人時：8題與地方故事、</a:t>
                      </a:r>
                    </a:p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資料核對、2場活動及回覆。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1009650"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每月雲端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US$120–125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100人、約10,000次模型呼叫。</a:t>
                      </a:r>
                    </a:p>
                    <a:p>
                      <a:pPr algn="l"/>
                      <a:r>
                        <a:rPr sz="195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圖片計費與實際用量待測。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A2905E31-EDF3-4DB0-8299-3B8813A4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先在一個手機平台驗證分享，再確認正式整合的工作量。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615B1CE2-3B68-426D-B905-6A8A5B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972800" cy="30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正式yoxi整合、第二平台、叫車與付款、維護及獎勵補貼另估。</a:t>
            </a:r>
          </a:p>
        </p:txBody>
      </p:sp>
    </p:spTree>
    <p:extLst>
      <p:ext uri="{BB962C8B-B14F-4D97-AF65-F5344CB8AC3E}">
        <p14:creationId xmlns:p14="http://schemas.microsoft.com/office/powerpoint/2010/main" val="6791912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3BA5B002-F783-4C12-8872-C7D5B89B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讓人看懂、願意選，也有理由再次使用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C6F3C0C3-BAA5-45FC-BD15-621DE3FE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先做20人兩週試用；以下為測試計畫，尚無實測結果。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AD131EEA-5D82-4AB7-9805-24B90C30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D015567D-B717-4312-B769-32AEF8A9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26860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看懂並想試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43557E97-84C7-4F3A-9604-C873B595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533525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首次讀者能說出三種好處和yoxi的角色，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9D26BEE1-BD24-43A2-8A8A-6D039BC6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80235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也說得出哪個結果讓他想試。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53345678-95B7-4948-B238-18D25F0A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6860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用過仍願意選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10D0041B-A012-42D2-9667-D7B2A7C7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14650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探索與共同安排和現有服務比較；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9C75029D-6930-4C58-93BC-AA65606D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61360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遊戲分開看解題、故事揭曉與寵物變化的吸引力。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DF2AA603-1BFF-4418-9B2A-9D5D79D5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26860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知道為何回來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FC458E6A-FFE7-4BFC-944B-14E4D2D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295775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記錄七日內再用、使用天數，以及回來做什麼。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BE8A3A6C-677E-43D9-B366-FAD8F66F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642485"/>
            <a:ext cx="7981950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看新題、新邀約或原有目標，能否持續帶來收穫。</a:t>
            </a:r>
          </a:p>
        </p:txBody>
      </p:sp>
      <p:sp>
        <p:nvSpPr>
          <p:cNvPr id="13" name="文字-9-0">
            <a:extLst xmlns:a="http://schemas.openxmlformats.org/drawingml/2006/main">
              <a:ext uri="{FF2B5EF4-FFF2-40B4-BE49-F238E27FC236}">
                <a16:creationId xmlns:a16="http://schemas.microsoft.com/office/drawing/2014/main" id="{B0C7CE59-66E7-4FEC-8EC9-D3077137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另查AI條件錯誤、等待與費用；活動到場和叫車分開觀察。</a:t>
            </a:r>
          </a:p>
        </p:txBody>
      </p:sp>
    </p:spTree>
    <p:extLst>
      <p:ext uri="{BB962C8B-B14F-4D97-AF65-F5344CB8AC3E}">
        <p14:creationId xmlns:p14="http://schemas.microsoft.com/office/powerpoint/2010/main" val="14899565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24566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文字-0-0">
            <a:extLst xmlns:a="http://schemas.openxmlformats.org/drawingml/2006/main">
              <a:ext uri="{FF2B5EF4-FFF2-40B4-BE49-F238E27FC236}">
                <a16:creationId xmlns:a16="http://schemas.microsoft.com/office/drawing/2014/main" id="{BE86F28F-AC51-46CA-8601-9F0F2784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讓城市裡想做的事，</a:t>
            </a:r>
          </a:p>
        </p:txBody>
      </p:sp>
      <p:sp>
        <p:nvSpPr>
          <p:cNvPr id="2" name="文字-0-1">
            <a:extLst xmlns:a="http://schemas.openxmlformats.org/drawingml/2006/main">
              <a:ext uri="{FF2B5EF4-FFF2-40B4-BE49-F238E27FC236}">
                <a16:creationId xmlns:a16="http://schemas.microsoft.com/office/drawing/2014/main" id="{BB9F4B84-8974-46CC-85B6-A2218906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249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更容易開始，也值得繼續</a:t>
            </a:r>
          </a:p>
        </p:txBody>
      </p:sp>
      <p:sp>
        <p:nvSpPr>
          <p:cNvPr id="3" name="文字-1-0">
            <a:extLst xmlns:a="http://schemas.openxmlformats.org/drawingml/2006/main">
              <a:ext uri="{FF2B5EF4-FFF2-40B4-BE49-F238E27FC236}">
                <a16:creationId xmlns:a16="http://schemas.microsoft.com/office/drawing/2014/main" id="{AF624ADF-D5CB-43BF-9F96-FC47AD96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sp>
        <p:nvSpPr>
          <p:cNvPr id="4" name="文字-2-0">
            <a:extLst xmlns:a="http://schemas.openxmlformats.org/drawingml/2006/main">
              <a:ext uri="{FF2B5EF4-FFF2-40B4-BE49-F238E27FC236}">
                <a16:creationId xmlns:a16="http://schemas.microsoft.com/office/drawing/2014/main" id="{61B587B3-C6FB-4670-A5E0-B26304EA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3381375" cy="389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城市探索</a:t>
            </a:r>
          </a:p>
        </p:txBody>
      </p:sp>
      <p:sp>
        <p:nvSpPr>
          <p:cNvPr id="5" name="文字-3-0">
            <a:extLst xmlns:a="http://schemas.openxmlformats.org/drawingml/2006/main">
              <a:ext uri="{FF2B5EF4-FFF2-40B4-BE49-F238E27FC236}">
                <a16:creationId xmlns:a16="http://schemas.microsoft.com/office/drawing/2014/main" id="{9153C8F5-8D52-4D5B-AD11-04F7A858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找到想親自試的體驗，</a:t>
            </a:r>
          </a:p>
        </p:txBody>
      </p:sp>
      <p:sp>
        <p:nvSpPr>
          <p:cNvPr id="6" name="文字-3-1">
            <a:extLst xmlns:a="http://schemas.openxmlformats.org/drawingml/2006/main">
              <a:ext uri="{FF2B5EF4-FFF2-40B4-BE49-F238E27FC236}">
                <a16:creationId xmlns:a16="http://schemas.microsoft.com/office/drawing/2014/main" id="{8E0723A1-9100-4FF3-A5DC-9E7A18368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423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讓收藏接上新的機會。</a:t>
            </a:r>
          </a:p>
        </p:txBody>
      </p:sp>
      <p:sp>
        <p:nvSpPr>
          <p:cNvPr id="7" name="文字-4-0">
            <a:extLst xmlns:a="http://schemas.openxmlformats.org/drawingml/2006/main">
              <a:ext uri="{FF2B5EF4-FFF2-40B4-BE49-F238E27FC236}">
                <a16:creationId xmlns:a16="http://schemas.microsoft.com/office/drawing/2014/main" id="{FB8767E2-E063-43DC-9500-B9037733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38400"/>
            <a:ext cx="3381375" cy="389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同好與共同體驗</a:t>
            </a:r>
          </a:p>
        </p:txBody>
      </p:sp>
      <p:sp>
        <p:nvSpPr>
          <p:cNvPr id="8" name="文字-5-0">
            <a:extLst xmlns:a="http://schemas.openxmlformats.org/drawingml/2006/main">
              <a:ext uri="{FF2B5EF4-FFF2-40B4-BE49-F238E27FC236}">
                <a16:creationId xmlns:a16="http://schemas.microsoft.com/office/drawing/2014/main" id="{B9109B06-5A7F-4B1B-A8F3-2EE8FB8E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5752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有人一起、有人帶頭，</a:t>
            </a:r>
          </a:p>
        </p:txBody>
      </p:sp>
      <p:sp>
        <p:nvSpPr>
          <p:cNvPr id="9" name="文字-5-1">
            <a:extLst xmlns:a="http://schemas.openxmlformats.org/drawingml/2006/main">
              <a:ext uri="{FF2B5EF4-FFF2-40B4-BE49-F238E27FC236}">
                <a16:creationId xmlns:a16="http://schemas.microsoft.com/office/drawing/2014/main" id="{80B5F839-F3F0-4271-ABBF-2533DEF3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423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參加原本不方便的體驗。</a:t>
            </a:r>
          </a:p>
        </p:txBody>
      </p:sp>
      <p:sp>
        <p:nvSpPr>
          <p:cNvPr id="10" name="文字-6-0">
            <a:extLst xmlns:a="http://schemas.openxmlformats.org/drawingml/2006/main">
              <a:ext uri="{FF2B5EF4-FFF2-40B4-BE49-F238E27FC236}">
                <a16:creationId xmlns:a16="http://schemas.microsoft.com/office/drawing/2014/main" id="{22B27EF1-2CF6-4B19-B20E-6F00DF5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38400"/>
            <a:ext cx="3381375" cy="389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遊戲與成長</a:t>
            </a:r>
          </a:p>
        </p:txBody>
      </p:sp>
      <p:sp>
        <p:nvSpPr>
          <p:cNvPr id="11" name="文字-7-0">
            <a:extLst xmlns:a="http://schemas.openxmlformats.org/drawingml/2006/main">
              <a:ext uri="{FF2B5EF4-FFF2-40B4-BE49-F238E27FC236}">
                <a16:creationId xmlns:a16="http://schemas.microsoft.com/office/drawing/2014/main" id="{4C47DEC5-400B-4AB1-BCD9-41527E44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5752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從線索認識地方，</a:t>
            </a:r>
          </a:p>
        </p:txBody>
      </p:sp>
      <p:sp>
        <p:nvSpPr>
          <p:cNvPr id="12" name="文字-7-1">
            <a:extLst xmlns:a="http://schemas.openxmlformats.org/drawingml/2006/main">
              <a:ext uri="{FF2B5EF4-FFF2-40B4-BE49-F238E27FC236}">
                <a16:creationId xmlns:a16="http://schemas.microsoft.com/office/drawing/2014/main" id="{2F72F0FC-7A4E-4EC5-B499-626A0FAD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04235"/>
            <a:ext cx="3381375" cy="352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留下自己的發現與成長。</a:t>
            </a:r>
          </a:p>
        </p:txBody>
      </p:sp>
      <p:sp>
        <p:nvSpPr>
          <p:cNvPr id="13" name="文字-8-0">
            <a:extLst xmlns:a="http://schemas.openxmlformats.org/drawingml/2006/main">
              <a:ext uri="{FF2B5EF4-FFF2-40B4-BE49-F238E27FC236}">
                <a16:creationId xmlns:a16="http://schemas.microsoft.com/office/drawing/2014/main" id="{BB79C0B4-E956-47E7-B6F1-FF477611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414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興趣、收藏與紀錄，讓下一次使用接得上這一次。</a:t>
            </a:r>
          </a:p>
        </p:txBody>
      </p:sp>
      <p:sp>
        <p:nvSpPr>
          <p:cNvPr id="14" name="文字-9-0">
            <a:extLst xmlns:a="http://schemas.openxmlformats.org/drawingml/2006/main">
              <a:ext uri="{FF2B5EF4-FFF2-40B4-BE49-F238E27FC236}">
                <a16:creationId xmlns:a16="http://schemas.microsoft.com/office/drawing/2014/main" id="{3B587722-0F7A-40CB-A80A-64D1A944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yoxi在出門計畫形成時就能參與。</a:t>
            </a:r>
          </a:p>
        </p:txBody>
      </p:sp>
      <p:sp>
        <p:nvSpPr>
          <p:cNvPr id="15" name="文字-9-1">
            <a:extLst xmlns:a="http://schemas.openxmlformats.org/drawingml/2006/main">
              <a:ext uri="{FF2B5EF4-FFF2-40B4-BE49-F238E27FC236}">
                <a16:creationId xmlns:a16="http://schemas.microsoft.com/office/drawing/2014/main" id="{373102E1-7DF1-4361-9DAF-EDEDB8C5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6418"/>
            <a:ext cx="109728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F7F4ED"/>
                </a:solidFill>
                <a:latin typeface="Arial Unicode MS"/>
                <a:ea typeface="Arial Unicode MS"/>
                <a:cs typeface="Arial Unicode MS"/>
              </a:rPr>
              <a:t>決定出發後，再沿用安排提供交通選擇。</a:t>
            </a:r>
          </a:p>
        </p:txBody>
      </p:sp>
    </p:spTree>
    <p:extLst>
      <p:ext uri="{BB962C8B-B14F-4D97-AF65-F5344CB8AC3E}">
        <p14:creationId xmlns:p14="http://schemas.microsoft.com/office/powerpoint/2010/main" val="15644156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DFCABD31-BB5D-44F4-A10E-37E2C6BC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分享、收藏與行程安排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63D69354-542D-49A7-89D7-BB63BEC1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首版一團一目的地，可有不同上車點；多景點串遊保留後續評估。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4AC36344-C9FC-44A2-BAF1-751FCA4F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1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BF0B676C-7A6F-43B2-9FC7-9B075DFB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手機分享與輸入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65E502F5-0B48-46F1-BEE3-3D9971AF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先在一個手機平台驗證分享文字、圖片與地圖連結。一則貼文可確認多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4F57D59A-768D-4406-AE74-0F18B97F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個地點；讀不到時改用圖片、地名或文字。第一版是否支援影片</a:t>
            </a:r>
          </a:p>
        </p:txBody>
      </p:sp>
      <p:sp>
        <p:nvSpPr>
          <p:cNvPr id="7" name="文字-4-2">
            <a:extLst xmlns:a="http://schemas.openxmlformats.org/drawingml/2006/main">
              <a:ext uri="{FF2B5EF4-FFF2-40B4-BE49-F238E27FC236}">
                <a16:creationId xmlns:a16="http://schemas.microsoft.com/office/drawing/2014/main" id="{042C6DCA-9DB4-49BA-B5FF-14F1CDD3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2501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待確認。</a:t>
            </a:r>
          </a:p>
        </p:txBody>
      </p:sp>
      <p:sp>
        <p:nvSpPr>
          <p:cNvPr id="8" name="文字-5-0">
            <a:extLst xmlns:a="http://schemas.openxmlformats.org/drawingml/2006/main">
              <a:ext uri="{FF2B5EF4-FFF2-40B4-BE49-F238E27FC236}">
                <a16:creationId xmlns:a16="http://schemas.microsoft.com/office/drawing/2014/main" id="{A898C83A-35FE-463B-97C2-49A5DD06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收藏的新機會</a:t>
            </a:r>
          </a:p>
        </p:txBody>
      </p:sp>
      <p:sp>
        <p:nvSpPr>
          <p:cNvPr id="9" name="文字-6-0">
            <a:extLst xmlns:a="http://schemas.openxmlformats.org/drawingml/2006/main">
              <a:ext uri="{FF2B5EF4-FFF2-40B4-BE49-F238E27FC236}">
                <a16:creationId xmlns:a16="http://schemas.microsoft.com/office/drawing/2014/main" id="{70A56295-346C-4BD2-8828-C1B79F7D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想去清單可看新邀約、附近提醒及跨城市搜尋。替代推薦保留原收藏；</a:t>
            </a:r>
          </a:p>
        </p:txBody>
      </p:sp>
      <p:sp>
        <p:nvSpPr>
          <p:cNvPr id="10" name="文字-6-1">
            <a:extLst xmlns:a="http://schemas.openxmlformats.org/drawingml/2006/main">
              <a:ext uri="{FF2B5EF4-FFF2-40B4-BE49-F238E27FC236}">
                <a16:creationId xmlns:a16="http://schemas.microsoft.com/office/drawing/2014/main" id="{1DA2E68F-8689-4E43-A8CE-633C7E0B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收藏與考慮中都不等於報名。新邀約與位置通知由本人選擇。</a:t>
            </a:r>
          </a:p>
        </p:txBody>
      </p:sp>
      <p:sp>
        <p:nvSpPr>
          <p:cNvPr id="11" name="文字-7-0">
            <a:extLst xmlns:a="http://schemas.openxmlformats.org/drawingml/2006/main">
              <a:ext uri="{FF2B5EF4-FFF2-40B4-BE49-F238E27FC236}">
                <a16:creationId xmlns:a16="http://schemas.microsoft.com/office/drawing/2014/main" id="{319C3E90-409D-4CFF-AE59-86B5A111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規劃與現場導覽</a:t>
            </a:r>
          </a:p>
        </p:txBody>
      </p:sp>
      <p:sp>
        <p:nvSpPr>
          <p:cNvPr id="12" name="文字-8-0">
            <a:extLst xmlns:a="http://schemas.openxmlformats.org/drawingml/2006/main">
              <a:ext uri="{FF2B5EF4-FFF2-40B4-BE49-F238E27FC236}">
                <a16:creationId xmlns:a16="http://schemas.microsoft.com/office/drawing/2014/main" id="{977FB330-4AF9-4701-9F2C-CAA1888D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規劃核對時間、預算、路程與停留安排。導覽依可核對的地方來源回</a:t>
            </a:r>
          </a:p>
        </p:txBody>
      </p:sp>
      <p:sp>
        <p:nvSpPr>
          <p:cNvPr id="13" name="文字-8-1">
            <a:extLst xmlns:a="http://schemas.openxmlformats.org/drawingml/2006/main">
              <a:ext uri="{FF2B5EF4-FFF2-40B4-BE49-F238E27FC236}">
                <a16:creationId xmlns:a16="http://schemas.microsoft.com/office/drawing/2014/main" id="{B2F4D1CB-2927-4815-9C2B-C7C945FF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答，保留拍照與可選日記；城市故事也能按主題或地圖查找。</a:t>
            </a:r>
          </a:p>
        </p:txBody>
      </p:sp>
    </p:spTree>
    <p:extLst>
      <p:ext uri="{BB962C8B-B14F-4D97-AF65-F5344CB8AC3E}">
        <p14:creationId xmlns:p14="http://schemas.microsoft.com/office/powerpoint/2010/main" val="9539090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文字-0-0">
            <a:extLst xmlns:a="http://schemas.openxmlformats.org/drawingml/2006/main">
              <a:ext uri="{FF2B5EF4-FFF2-40B4-BE49-F238E27FC236}">
                <a16:creationId xmlns:a16="http://schemas.microsoft.com/office/drawing/2014/main" id="{163DC3BB-0CD1-40C8-AF28-381E596F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邀約、費用與變動處理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35AAC564-3C08-4D77-BBF3-E60BC420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發起人退出、同時參加多個候選、付款、取消及訂位規則仍待定。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88880CF4-15FE-43E2-AD91-70977FE3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2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04775325-5A0A-4BB9-BB81-543C1A0A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看清能不能參加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42452428-DA92-4BB7-BD28-77864465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活動建議、已發起邀約、想去收藏、考慮中、確認參加與店家訂位分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0907E7DE-3BB4-4832-91B3-4716ACBA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開。可提前約，列時段、最低及最多人數、已確認與尚缺人數、截止時</a:t>
            </a:r>
          </a:p>
        </p:txBody>
      </p:sp>
      <p:sp>
        <p:nvSpPr>
          <p:cNvPr id="7" name="文字-4-2">
            <a:extLst xmlns:a="http://schemas.openxmlformats.org/drawingml/2006/main">
              <a:ext uri="{FF2B5EF4-FFF2-40B4-BE49-F238E27FC236}">
                <a16:creationId xmlns:a16="http://schemas.microsoft.com/office/drawing/2014/main" id="{2F97725E-CD8B-480B-8519-90B01380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2501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間；可先找伴，再共同選去處。</a:t>
            </a:r>
          </a:p>
        </p:txBody>
      </p:sp>
      <p:sp>
        <p:nvSpPr>
          <p:cNvPr id="8" name="文字-5-0">
            <a:extLst xmlns:a="http://schemas.openxmlformats.org/drawingml/2006/main">
              <a:ext uri="{FF2B5EF4-FFF2-40B4-BE49-F238E27FC236}">
                <a16:creationId xmlns:a16="http://schemas.microsoft.com/office/drawing/2014/main" id="{F04A1C37-1623-41EB-880F-D062822B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費用及人數變動</a:t>
            </a:r>
          </a:p>
        </p:txBody>
      </p:sp>
      <p:sp>
        <p:nvSpPr>
          <p:cNvPr id="9" name="文字-6-0">
            <a:extLst xmlns:a="http://schemas.openxmlformats.org/drawingml/2006/main">
              <a:ext uri="{FF2B5EF4-FFF2-40B4-BE49-F238E27FC236}">
                <a16:creationId xmlns:a16="http://schemas.microsoft.com/office/drawing/2014/main" id="{45B14444-66C8-456D-B9D1-85AFF6A2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餐飲、活動與交通費分列；多人優惠列提供者與條件，含交通一起比較</a:t>
            </a:r>
          </a:p>
        </p:txBody>
      </p:sp>
      <p:sp>
        <p:nvSpPr>
          <p:cNvPr id="10" name="文字-6-1">
            <a:extLst xmlns:a="http://schemas.openxmlformats.org/drawingml/2006/main">
              <a:ext uri="{FF2B5EF4-FFF2-40B4-BE49-F238E27FC236}">
                <a16:creationId xmlns:a16="http://schemas.microsoft.com/office/drawing/2014/main" id="{B3DE963B-4794-4C3D-847F-F7D1A9E1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總花費。人數、時間或費用改變，通知每人重新確認。退出不自動把差</a:t>
            </a:r>
          </a:p>
        </p:txBody>
      </p:sp>
      <p:sp>
        <p:nvSpPr>
          <p:cNvPr id="11" name="文字-6-2">
            <a:extLst xmlns:a="http://schemas.openxmlformats.org/drawingml/2006/main">
              <a:ext uri="{FF2B5EF4-FFF2-40B4-BE49-F238E27FC236}">
                <a16:creationId xmlns:a16="http://schemas.microsoft.com/office/drawing/2014/main" id="{DC803037-0FB5-405D-A339-F53925D5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60616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額轉給其他人。</a:t>
            </a:r>
          </a:p>
        </p:txBody>
      </p:sp>
      <p:sp>
        <p:nvSpPr>
          <p:cNvPr id="12" name="文字-7-0">
            <a:extLst xmlns:a="http://schemas.openxmlformats.org/drawingml/2006/main">
              <a:ext uri="{FF2B5EF4-FFF2-40B4-BE49-F238E27FC236}">
                <a16:creationId xmlns:a16="http://schemas.microsoft.com/office/drawing/2014/main" id="{D4AC5898-A164-40A5-AE16-36CF672C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沒有團或沒有成團</a:t>
            </a:r>
          </a:p>
        </p:txBody>
      </p:sp>
      <p:sp>
        <p:nvSpPr>
          <p:cNvPr id="13" name="文字-8-0">
            <a:extLst xmlns:a="http://schemas.openxmlformats.org/drawingml/2006/main">
              <a:ext uri="{FF2B5EF4-FFF2-40B4-BE49-F238E27FC236}">
                <a16:creationId xmlns:a16="http://schemas.microsoft.com/office/drawing/2014/main" id="{08B1CA36-D71A-4A07-B8B7-12C17B8F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可保留興趣等新邀約、自己發起，或選其他活動。未達人數時，由本人</a:t>
            </a:r>
          </a:p>
        </p:txBody>
      </p:sp>
      <p:sp>
        <p:nvSpPr>
          <p:cNvPr id="14" name="文字-8-1">
            <a:extLst xmlns:a="http://schemas.openxmlformats.org/drawingml/2006/main">
              <a:ext uri="{FF2B5EF4-FFF2-40B4-BE49-F238E27FC236}">
                <a16:creationId xmlns:a16="http://schemas.microsoft.com/office/drawing/2014/main" id="{83277896-4726-4040-8172-80724B9A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選改期、換活動，或在允許時自己去；聊天和我的行程支援協調。</a:t>
            </a:r>
          </a:p>
        </p:txBody>
      </p:sp>
    </p:spTree>
    <p:extLst>
      <p:ext uri="{BB962C8B-B14F-4D97-AF65-F5344CB8AC3E}">
        <p14:creationId xmlns:p14="http://schemas.microsoft.com/office/powerpoint/2010/main" val="3062369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45D17934-6154-49BE-90AB-1F529D18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遊戲、主題與成長回饋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B5E1D32D-ACA9-417C-A729-84C4B354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寵物物件可回看取得來由；到訪照片與共同紀念需本人或雙方同意。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3F2B5F00-7F41-4DB5-AC27-60C6F233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3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D5197713-D6C1-4417-A5B2-98CC488D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每次完成的收穫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CD87CC8A-7CAE-49AE-B6BD-CDF203B8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觀察線索、選提示、揭曉答案與地方故事，再存發現卡。可選同角度拍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AC3BC416-46CD-4747-905B-03E5C943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照挑戰，限時與相似度計分待定；主題進度與個人經驗分開，完成主題</a:t>
            </a:r>
          </a:p>
        </p:txBody>
      </p:sp>
      <p:sp>
        <p:nvSpPr>
          <p:cNvPr id="7" name="文字-4-2">
            <a:extLst xmlns:a="http://schemas.openxmlformats.org/drawingml/2006/main">
              <a:ext uri="{FF2B5EF4-FFF2-40B4-BE49-F238E27FC236}">
                <a16:creationId xmlns:a16="http://schemas.microsoft.com/office/drawing/2014/main" id="{30F19467-F582-4719-A83D-5D1894EC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2501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選造型。</a:t>
            </a:r>
          </a:p>
        </p:txBody>
      </p:sp>
      <p:sp>
        <p:nvSpPr>
          <p:cNvPr id="8" name="文字-5-0">
            <a:extLst xmlns:a="http://schemas.openxmlformats.org/drawingml/2006/main">
              <a:ext uri="{FF2B5EF4-FFF2-40B4-BE49-F238E27FC236}">
                <a16:creationId xmlns:a16="http://schemas.microsoft.com/office/drawing/2014/main" id="{85A5BD90-35ED-403D-AF85-8D9702ED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成長與再次回來</a:t>
            </a:r>
          </a:p>
        </p:txBody>
      </p:sp>
      <p:sp>
        <p:nvSpPr>
          <p:cNvPr id="9" name="文字-6-0">
            <a:extLst xmlns:a="http://schemas.openxmlformats.org/drawingml/2006/main">
              <a:ext uri="{FF2B5EF4-FFF2-40B4-BE49-F238E27FC236}">
                <a16:creationId xmlns:a16="http://schemas.microsoft.com/office/drawing/2014/main" id="{29F7C015-9C1F-41E7-A6FB-4033DFA9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累積經驗增加寵物動作、表情及物件；等級與門檻待試玩。答錯可再試</a:t>
            </a:r>
          </a:p>
        </p:txBody>
      </p:sp>
      <p:sp>
        <p:nvSpPr>
          <p:cNvPr id="10" name="文字-6-1">
            <a:extLst xmlns:a="http://schemas.openxmlformats.org/drawingml/2006/main">
              <a:ext uri="{FF2B5EF4-FFF2-40B4-BE49-F238E27FC236}">
                <a16:creationId xmlns:a16="http://schemas.microsoft.com/office/drawing/2014/main" id="{4C982988-7429-4198-A037-5AC6A7A8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或看解答，重玩不重領首次獎勵；中斷保留進度，核心主題可補玩。</a:t>
            </a:r>
          </a:p>
        </p:txBody>
      </p:sp>
      <p:sp>
        <p:nvSpPr>
          <p:cNvPr id="11" name="文字-7-0">
            <a:extLst xmlns:a="http://schemas.openxmlformats.org/drawingml/2006/main">
              <a:ext uri="{FF2B5EF4-FFF2-40B4-BE49-F238E27FC236}">
                <a16:creationId xmlns:a16="http://schemas.microsoft.com/office/drawing/2014/main" id="{E32FD1E5-440F-4810-9B50-C39E2D79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里程與合作回饋</a:t>
            </a:r>
          </a:p>
        </p:txBody>
      </p:sp>
      <p:sp>
        <p:nvSpPr>
          <p:cNvPr id="12" name="文字-8-0">
            <a:extLst xmlns:a="http://schemas.openxmlformats.org/drawingml/2006/main">
              <a:ext uri="{FF2B5EF4-FFF2-40B4-BE49-F238E27FC236}">
                <a16:creationId xmlns:a16="http://schemas.microsoft.com/office/drawing/2014/main" id="{112E1F10-C1AB-4945-B831-C136E677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步數、乘車里程、消費及車輛貼紙需授權與可核實資料。遊戲經驗、排</a:t>
            </a:r>
          </a:p>
        </p:txBody>
      </p:sp>
      <p:sp>
        <p:nvSpPr>
          <p:cNvPr id="13" name="文字-8-1">
            <a:extLst xmlns:a="http://schemas.openxmlformats.org/drawingml/2006/main">
              <a:ext uri="{FF2B5EF4-FFF2-40B4-BE49-F238E27FC236}">
                <a16:creationId xmlns:a16="http://schemas.microsoft.com/office/drawing/2014/main" id="{C183429E-5C21-478B-977C-40CA1F9F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名、可兌換點數分開；會員權益及優惠需確認提供者、成本與條件。</a:t>
            </a:r>
          </a:p>
        </p:txBody>
      </p:sp>
    </p:spTree>
    <p:extLst>
      <p:ext uri="{BB962C8B-B14F-4D97-AF65-F5344CB8AC3E}">
        <p14:creationId xmlns:p14="http://schemas.microsoft.com/office/powerpoint/2010/main" val="165117608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76924A12-7629-4901-99F4-E32703A2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AI、資料與本人選擇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14FB3716-F9E8-4978-A4E0-B2ED2B9E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資料服務候選為Supabase與Google Routes；正式yoxi、付款與叫車介接另確認。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F7424878-B09A-4BBA-AECC-962F347E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4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ADEED1AD-17AD-436B-B158-334FAA62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模型與規則分工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7CA9AB89-87EA-4DC7-9397-BEC45F34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AI協助辨識、推薦、配對、規劃、導覽及提示。時間、費用、名額、路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5FDA2DE2-0929-44DB-867E-8AC5991E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線、計分與解鎖由資料及規則核對；沒有資料就標示待確認。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9FD46607-884C-4ADD-AAC5-2A594B96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哪些資訊繼續使用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B123A63F-2E1C-453D-8CA2-ABE725D2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本人確認的喜好、選擇及回饋可改善後續推薦；當次同行條件另存，可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3CE6639E-984B-4D63-898A-4D12379D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修改偏好與移除紀錄。地方照片、故事和活動資料保留來源與更</a:t>
            </a:r>
          </a:p>
        </p:txBody>
      </p:sp>
      <p:sp>
        <p:nvSpPr>
          <p:cNvPr id="10" name="文字-6-2">
            <a:extLst xmlns:a="http://schemas.openxmlformats.org/drawingml/2006/main">
              <a:ext uri="{FF2B5EF4-FFF2-40B4-BE49-F238E27FC236}">
                <a16:creationId xmlns:a16="http://schemas.microsoft.com/office/drawing/2014/main" id="{867C8D59-16ED-44BD-8539-0816298D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60616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新時間。</a:t>
            </a:r>
          </a:p>
        </p:txBody>
      </p:sp>
      <p:sp>
        <p:nvSpPr>
          <p:cNvPr id="11" name="文字-7-0">
            <a:extLst xmlns:a="http://schemas.openxmlformats.org/drawingml/2006/main">
              <a:ext uri="{FF2B5EF4-FFF2-40B4-BE49-F238E27FC236}">
                <a16:creationId xmlns:a16="http://schemas.microsoft.com/office/drawing/2014/main" id="{00BDF573-7813-4085-A15F-FCB0637F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位置與互動權限</a:t>
            </a:r>
          </a:p>
        </p:txBody>
      </p:sp>
      <p:sp>
        <p:nvSpPr>
          <p:cNvPr id="12" name="文字-8-0">
            <a:extLst xmlns:a="http://schemas.openxmlformats.org/drawingml/2006/main">
              <a:ext uri="{FF2B5EF4-FFF2-40B4-BE49-F238E27FC236}">
                <a16:creationId xmlns:a16="http://schemas.microsoft.com/office/drawing/2014/main" id="{7A80F5D3-D95C-47D7-96AC-30292A3A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去識別熱點只看區域與時段趨勢。精確位置不全面公開；通知、公開紀</a:t>
            </a:r>
          </a:p>
        </p:txBody>
      </p:sp>
      <p:sp>
        <p:nvSpPr>
          <p:cNvPr id="13" name="文字-8-1">
            <a:extLst xmlns:a="http://schemas.openxmlformats.org/drawingml/2006/main">
              <a:ext uri="{FF2B5EF4-FFF2-40B4-BE49-F238E27FC236}">
                <a16:creationId xmlns:a16="http://schemas.microsoft.com/office/drawing/2014/main" id="{AAD1CE75-D571-4B60-B224-B3DFF8AEB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念及分享由本人選擇。匿名、同性別選項、封鎖與檢舉規則待設計。</a:t>
            </a:r>
          </a:p>
        </p:txBody>
      </p:sp>
    </p:spTree>
    <p:extLst>
      <p:ext uri="{BB962C8B-B14F-4D97-AF65-F5344CB8AC3E}">
        <p14:creationId xmlns:p14="http://schemas.microsoft.com/office/powerpoint/2010/main" val="112844144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文字-0-0">
            <a:extLst xmlns:a="http://schemas.openxmlformats.org/drawingml/2006/main">
              <a:ext uri="{FF2B5EF4-FFF2-40B4-BE49-F238E27FC236}">
                <a16:creationId xmlns:a16="http://schemas.microsoft.com/office/drawing/2014/main" id="{55F916E3-50FB-4BE6-BCC5-91F0D571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人力與內容成本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C5353B3E-4425-4BBF-876C-CA99949C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人力單價與工作量均為規劃假設，非報價。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A40FB411-F27F-4DB6-9488-F12E3F03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0AE83-0453-46F3-99A0-381AF4FB05F5}"/>
              </a:ext>
            </a:extLst>
          </p:cNvPr>
          <p:cNvGraphicFramePr/>
          <p:nvPr/>
        </p:nvGraphicFramePr>
        <p:xfrm>
          <a:off xmlns:a="http://schemas.openxmlformats.org/drawingml/2006/main" x="609600" y="1266825"/>
          <a:ext xmlns:a="http://schemas.openxmlformats.org/drawingml/2006/main" cx="10972800" cy="26955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90750"/>
                <a:gridCol w="4448175"/>
                <a:gridCol w="4333875"/>
              </a:tblGrid>
              <a:tr h="438150">
                <a:tc>
                  <a:txBody>
                    <a:bodyPr wrap="square"/>
                    <a:lstStyle/>
                    <a:p>
                      <a:pPr algn="l"/>
                      <a:r>
                        <a:rPr sz="1875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一次投入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計算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金額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開發與分享驗證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272–408人時 × NT$800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NT$217,600–326,400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首批內容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92人時 × NT$400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NT$36,800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523875"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素材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預留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NT$8,000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590550"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合計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開發、內容與素材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75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NT$262,400–371,200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139FA5A2-A6AC-4AEA-B3D0-A99060D5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1054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首批92人時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1184E467-9000-47D0-9BEE-3A1393A1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30筆資料30小時；12題與故事36小時；</a:t>
            </a:r>
          </a:p>
        </p:txBody>
      </p:sp>
      <p:sp>
        <p:nvSpPr>
          <p:cNvPr id="7" name="文字-5-1">
            <a:extLst xmlns:a="http://schemas.openxmlformats.org/drawingml/2006/main">
              <a:ext uri="{FF2B5EF4-FFF2-40B4-BE49-F238E27FC236}">
                <a16:creationId xmlns:a16="http://schemas.microsoft.com/office/drawing/2014/main" id="{A69B5405-FDEF-4BD4-9B9E-42D9A51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0638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3場活動12小時；素材審核14小時。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5C4D4EC4-1197-487E-8870-D15D277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24350"/>
            <a:ext cx="5105400" cy="364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每月40人時，NT$16,000</a:t>
            </a:r>
          </a:p>
        </p:txBody>
      </p:sp>
      <p:sp>
        <p:nvSpPr>
          <p:cNvPr id="9" name="文字-7-0">
            <a:extLst xmlns:a="http://schemas.openxmlformats.org/drawingml/2006/main">
              <a:ext uri="{FF2B5EF4-FFF2-40B4-BE49-F238E27FC236}">
                <a16:creationId xmlns:a16="http://schemas.microsoft.com/office/drawing/2014/main" id="{186D5E02-2F62-44A7-BB51-B5703C0B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91075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8題與故事24小時；資料核對5小時；</a:t>
            </a:r>
          </a:p>
        </p:txBody>
      </p:sp>
      <p:sp>
        <p:nvSpPr>
          <p:cNvPr id="10" name="文字-7-1">
            <a:extLst xmlns:a="http://schemas.openxmlformats.org/drawingml/2006/main">
              <a:ext uri="{FF2B5EF4-FFF2-40B4-BE49-F238E27FC236}">
                <a16:creationId xmlns:a16="http://schemas.microsoft.com/office/drawing/2014/main" id="{FC8B4864-5F8D-4CC6-BCE7-C77FCA28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00638"/>
            <a:ext cx="5105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2場活動8小時；回覆處理3小時。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DAD42EF2-FD9C-480C-B6B5-4E7AAFCE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30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活動每場先估準備2小時、主持2小時；額外人力、場地及餐費另計。</a:t>
            </a:r>
          </a:p>
        </p:txBody>
      </p:sp>
    </p:spTree>
    <p:extLst>
      <p:ext uri="{BB962C8B-B14F-4D97-AF65-F5344CB8AC3E}">
        <p14:creationId xmlns:p14="http://schemas.microsoft.com/office/powerpoint/2010/main" val="96884945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文字-0-0">
            <a:extLst xmlns:a="http://schemas.openxmlformats.org/drawingml/2006/main">
              <a:ext uri="{FF2B5EF4-FFF2-40B4-BE49-F238E27FC236}">
                <a16:creationId xmlns:a16="http://schemas.microsoft.com/office/drawing/2014/main" id="{81A943AF-ADCC-4FB3-A61F-5DDDEE50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雲端用量與費率假設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587D6C5D-0776-42A6-A0AB-360822CB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沿用2026/10/10核價紀錄；圖片計費與實際請求用量待量測。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9E5D172E-D42A-4503-9AD1-5BE512A3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6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97A92277-34D7-4A44-A6AD-C8DB1C55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389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100人 × 每月100次 = 10,000次模型呼叫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96BEDB30-59BD-45D9-843A-5F280ED7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每次5,000輸入token、1,000含推理的輸出計費token。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A50F0-C6D6-4283-9591-B23CFD47E7C9}"/>
              </a:ext>
            </a:extLst>
          </p:cNvPr>
          <p:cNvGraphicFramePr/>
          <p:nvPr/>
        </p:nvGraphicFramePr>
        <p:xfrm>
          <a:off xmlns:a="http://schemas.openxmlformats.org/drawingml/2006/main" x="609600" y="2266950"/>
          <a:ext xmlns:a="http://schemas.openxmlformats.org/drawingml/2006/main" cx="10972800" cy="28670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47875"/>
                <a:gridCol w="2019300"/>
                <a:gridCol w="6905625"/>
              </a:tblGrid>
              <a:tr h="43815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項目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每月（US$）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條件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模型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75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每百萬輸入0.75、輸出3.75，至2026/12/31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資料庫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25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Supabase單一Pro / Micro，方案額度內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網站與通知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20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預留，未實測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路程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0–5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1,000次Routes Essentials；依可用免費額度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85775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合計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120–125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超額及其他用量另計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  <p:sp>
        <p:nvSpPr>
          <p:cNvPr id="7" name="文字-6-0">
            <a:extLst xmlns:a="http://schemas.openxmlformats.org/drawingml/2006/main">
              <a:ext uri="{FF2B5EF4-FFF2-40B4-BE49-F238E27FC236}">
                <a16:creationId xmlns:a16="http://schemas.microsoft.com/office/drawing/2014/main" id="{FCE07529-4877-472D-9248-D70B3DDF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用量或模型單價加倍：US$195–200；兩者同時加倍：US$345–350。</a:t>
            </a:r>
          </a:p>
        </p:txBody>
      </p:sp>
      <p:sp>
        <p:nvSpPr>
          <p:cNvPr id="8" name="文字-7-0">
            <a:extLst xmlns:a="http://schemas.openxmlformats.org/drawingml/2006/main">
              <a:ext uri="{FF2B5EF4-FFF2-40B4-BE49-F238E27FC236}">
                <a16:creationId xmlns:a16="http://schemas.microsoft.com/office/drawing/2014/main" id="{9FB0990F-2BB6-4D90-9AF1-78B51C98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0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已公告2027/1/1模型單價加倍；影片、語音、搜尋與重試另評估。</a:t>
            </a:r>
          </a:p>
        </p:txBody>
      </p:sp>
    </p:spTree>
    <p:extLst>
      <p:ext uri="{BB962C8B-B14F-4D97-AF65-F5344CB8AC3E}">
        <p14:creationId xmlns:p14="http://schemas.microsoft.com/office/powerpoint/2010/main" val="77117662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文字-0-0">
            <a:extLst xmlns:a="http://schemas.openxmlformats.org/drawingml/2006/main">
              <a:ext uri="{FF2B5EF4-FFF2-40B4-BE49-F238E27FC236}">
                <a16:creationId xmlns:a16="http://schemas.microsoft.com/office/drawing/2014/main" id="{5515BB3F-C734-4D13-A8AC-19A93056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分工、排程與需要的資源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851BCDDD-DDAB-428B-8510-2CDE59BC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建議排程與人時；團隊尚未承諾，需確認可投入成員及介接條件。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7173CE1F-6618-4A66-AB08-68322AC4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AB4C8-1F25-4B52-97A8-56E1EC0D7DF0}"/>
              </a:ext>
            </a:extLst>
          </p:cNvPr>
          <p:cNvGraphicFramePr/>
          <p:nvPr/>
        </p:nvGraphicFramePr>
        <p:xfrm>
          <a:off xmlns:a="http://schemas.openxmlformats.org/drawingml/2006/main" x="609600" y="1362075"/>
          <a:ext xmlns:a="http://schemas.openxmlformats.org/drawingml/2006/main" cx="5486400" cy="3162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810000"/>
                <a:gridCol w="1676400"/>
              </a:tblGrid>
              <a:tr h="419100"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工作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>
                          <a:solidFill>
                            <a:srgbClr val="F7F4ED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預估人時</a:t>
                      </a:r>
                    </a:p>
                  </a:txBody>
                  <a:tcPr marL="114300" marR="114300" marT="66675" marB="66675" anchor="ctr">
                    <a:solidFill>
                      <a:srgbClr val="2456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產品與介面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40–60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前端、遊戲與紀錄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80–120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後端、AI與邀約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80–120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整合測試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40–60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單一平台分享驗證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32–48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首批內容與活動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02F3A"/>
                          </a:solidFill>
                          <a:latin typeface="Arial Unicode MS"/>
                          <a:ea typeface="Arial Unicode MS"/>
                          <a:cs typeface="Arial Unicode MS"/>
                        </a:rPr>
                        <a:t>92</a:t>
                      </a:r>
                    </a:p>
                  </a:txBody>
                  <a:tcPr marL="114300" marR="114300" marT="66675" marB="66675" anchor="ctr">
                    <a:solidFill>
                      <a:srgbClr val="F7F4ED"/>
                    </a:solidFill>
                  </a:tcPr>
                </a:tc>
              </a:tr>
            </a:tbl>
          </a:graphicData>
        </a:graphic>
      </p:graphicFrame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2015B962-A4C6-4EA3-A771-900712A8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09700"/>
            <a:ext cx="5105400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五週安排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FC9286E7-3224-4FDB-8B8B-B2EDDF38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907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第1週：介面、資料與分享驗證</a:t>
            </a:r>
          </a:p>
        </p:txBody>
      </p:sp>
      <p:sp>
        <p:nvSpPr>
          <p:cNvPr id="7" name="文字-5-1">
            <a:extLst xmlns:a="http://schemas.openxmlformats.org/drawingml/2006/main">
              <a:ext uri="{FF2B5EF4-FFF2-40B4-BE49-F238E27FC236}">
                <a16:creationId xmlns:a16="http://schemas.microsoft.com/office/drawing/2014/main" id="{FFDD4B3F-FF60-49EA-8DAC-2AC5FAFF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25053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第2週：三柱可操作、邀約備妥</a:t>
            </a:r>
          </a:p>
        </p:txBody>
      </p:sp>
      <p:sp>
        <p:nvSpPr>
          <p:cNvPr id="8" name="文字-5-2">
            <a:extLst xmlns:a="http://schemas.openxmlformats.org/drawingml/2006/main">
              <a:ext uri="{FF2B5EF4-FFF2-40B4-BE49-F238E27FC236}">
                <a16:creationId xmlns:a16="http://schemas.microsoft.com/office/drawing/2014/main" id="{709195AD-B2A9-456E-852D-E48D20A7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5938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第3–4週：試用、修正與內容更新</a:t>
            </a:r>
          </a:p>
        </p:txBody>
      </p:sp>
      <p:sp>
        <p:nvSpPr>
          <p:cNvPr id="9" name="文字-5-3">
            <a:extLst xmlns:a="http://schemas.openxmlformats.org/drawingml/2006/main">
              <a:ext uri="{FF2B5EF4-FFF2-40B4-BE49-F238E27FC236}">
                <a16:creationId xmlns:a16="http://schemas.microsoft.com/office/drawing/2014/main" id="{F9059CA1-5228-4639-96B9-65191B09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93708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第5週：整合、展示與交件</a:t>
            </a:r>
          </a:p>
        </p:txBody>
      </p:sp>
      <p:sp>
        <p:nvSpPr>
          <p:cNvPr id="10" name="文字-6-0">
            <a:extLst xmlns:a="http://schemas.openxmlformats.org/drawingml/2006/main">
              <a:ext uri="{FF2B5EF4-FFF2-40B4-BE49-F238E27FC236}">
                <a16:creationId xmlns:a16="http://schemas.microsoft.com/office/drawing/2014/main" id="{ED471065-BDAC-4689-AB46-2E24C5C1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052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開發加內容共364–500人時。</a:t>
            </a:r>
          </a:p>
        </p:txBody>
      </p:sp>
      <p:sp>
        <p:nvSpPr>
          <p:cNvPr id="11" name="文字-6-1">
            <a:extLst xmlns:a="http://schemas.openxmlformats.org/drawingml/2006/main">
              <a:ext uri="{FF2B5EF4-FFF2-40B4-BE49-F238E27FC236}">
                <a16:creationId xmlns:a16="http://schemas.microsoft.com/office/drawing/2014/main" id="{1852BB4A-7525-4226-A8AC-9F112C19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9603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五週平均每週73–100人時；</a:t>
            </a:r>
          </a:p>
        </p:txBody>
      </p:sp>
      <p:sp>
        <p:nvSpPr>
          <p:cNvPr id="12" name="文字-6-2">
            <a:extLst xmlns:a="http://schemas.openxmlformats.org/drawingml/2006/main">
              <a:ext uri="{FF2B5EF4-FFF2-40B4-BE49-F238E27FC236}">
                <a16:creationId xmlns:a16="http://schemas.microsoft.com/office/drawing/2014/main" id="{FB99D95F-66C8-408E-B33F-82DF38B7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73930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三週約121–167人時。</a:t>
            </a:r>
          </a:p>
        </p:txBody>
      </p:sp>
      <p:sp>
        <p:nvSpPr>
          <p:cNvPr id="13" name="文字-7-0">
            <a:extLst xmlns:a="http://schemas.openxmlformats.org/drawingml/2006/main">
              <a:ext uri="{FF2B5EF4-FFF2-40B4-BE49-F238E27FC236}">
                <a16:creationId xmlns:a16="http://schemas.microsoft.com/office/drawing/2014/main" id="{55906ACD-76D1-4107-ACBB-32659F50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若10/15開始，可銜接11/18交件；若10/28後才開始，須重排人力與排程。</a:t>
            </a:r>
          </a:p>
        </p:txBody>
      </p:sp>
    </p:spTree>
    <p:extLst>
      <p:ext uri="{BB962C8B-B14F-4D97-AF65-F5344CB8AC3E}">
        <p14:creationId xmlns:p14="http://schemas.microsoft.com/office/powerpoint/2010/main" val="79261861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文字-0-0">
            <a:extLst xmlns:a="http://schemas.openxmlformats.org/drawingml/2006/main">
              <a:ext uri="{FF2B5EF4-FFF2-40B4-BE49-F238E27FC236}">
                <a16:creationId xmlns:a16="http://schemas.microsoft.com/office/drawing/2014/main" id="{1B023395-619B-4E83-ACF1-94AF1910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理解、比較與再次使用的檢查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25B8A6FF-0326-4F86-B1D4-E36E1868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兩週首測用來找問題；七日再用一次不等於每日或長期使用。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02730486-92FC-41F0-B7CA-7CE56EE7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8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C2B1AA82-ED78-4E8A-ACA7-18DEFE19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首次閱讀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7FB112B6-84DB-4820-9E33-6062AE93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邀5位未參與製作的人，用自己的話說出三柱好處、AI作用與yoxi角色。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761DD709-60B4-47C7-AE71-A62FB740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再問哪個具體結果讓他想試；看不懂改表達，看懂卻不想用改體驗。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4A0C6D87-2B2E-4789-B841-9805FB2F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實際比較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26712181-386F-41E8-9D68-AD313DAD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20人兩週試用，用相同需求及相近條件和可用服務比較。記錄選哪個結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93A8D6F1-A223-4896-B2E3-F67B49EB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果、理由及未滿足條件；遊戲分開看解題、故事、蒐集與寵物變化。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A0C362BD-F69A-44C5-B33A-377E014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回訪與使用天數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E4313760-8099-4ED4-B37A-21EBFD06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有效使用包括取得可選結果、確認參加、完成挑戰或回看紀錄。已有完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E4BF813F-0C85-480F-BF7F-4B5DBC1D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整七日觀察窗者作分母，計另一天再用比例，另記天數、間隔及用途。</a:t>
            </a:r>
          </a:p>
        </p:txBody>
      </p:sp>
    </p:spTree>
    <p:extLst>
      <p:ext uri="{BB962C8B-B14F-4D97-AF65-F5344CB8AC3E}">
        <p14:creationId xmlns:p14="http://schemas.microsoft.com/office/powerpoint/2010/main" val="17890779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文字-0-0">
            <a:extLst xmlns:a="http://schemas.openxmlformats.org/drawingml/2006/main">
              <a:ext uri="{FF2B5EF4-FFF2-40B4-BE49-F238E27FC236}">
                <a16:creationId xmlns:a16="http://schemas.microsoft.com/office/drawing/2014/main" id="{39B4AEA7-9278-4213-9B7D-BB6A93F6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AI、活動與成本的檢查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AEDF9E14-0227-4CB9-8583-50D97643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沒有介接資料就只報可觀察的事件；分母為零時只列總成本。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2F2F8AAC-1041-4632-A011-2B5E0C7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9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5EB03D6F-9C9A-414A-8594-CC70A9A3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AI與分享入口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1887C9F1-A7B9-4909-8C55-AB0FED7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20組固定情境查多地點、偏好、預算、閉館、朋友衝突、缺活動與來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90C2A03F-CAD4-419F-AF20-5419C423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源。另測手機分享成功、讀取失敗及替代輸入；記品質、延遲與費用。</a:t>
            </a:r>
          </a:p>
        </p:txBody>
      </p:sp>
      <p:sp>
        <p:nvSpPr>
          <p:cNvPr id="7" name="文字-5-0">
            <a:extLst xmlns:a="http://schemas.openxmlformats.org/drawingml/2006/main">
              <a:ext uri="{FF2B5EF4-FFF2-40B4-BE49-F238E27FC236}">
                <a16:creationId xmlns:a16="http://schemas.microsoft.com/office/drawing/2014/main" id="{9A6B9FD6-4BFE-4030-BE72-CEBCEC74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活動與交通</a:t>
            </a:r>
          </a:p>
        </p:txBody>
      </p:sp>
      <p:sp>
        <p:nvSpPr>
          <p:cNvPr id="8" name="文字-6-0">
            <a:extLst xmlns:a="http://schemas.openxmlformats.org/drawingml/2006/main">
              <a:ext uri="{FF2B5EF4-FFF2-40B4-BE49-F238E27FC236}">
                <a16:creationId xmlns:a16="http://schemas.microsoft.com/office/drawing/2014/main" id="{F0628BE8-5C71-4A15-98D5-CEB064F7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確認參加、到場、查交通、下單與車程完成分開記；自行前往也能完成</a:t>
            </a:r>
          </a:p>
        </p:txBody>
      </p:sp>
      <p:sp>
        <p:nvSpPr>
          <p:cNvPr id="9" name="文字-6-1">
            <a:extLst xmlns:a="http://schemas.openxmlformats.org/drawingml/2006/main">
              <a:ext uri="{FF2B5EF4-FFF2-40B4-BE49-F238E27FC236}">
                <a16:creationId xmlns:a16="http://schemas.microsoft.com/office/drawing/2014/main" id="{4327704E-513B-45E3-AA21-E6450328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體驗。活動方另記準備和主持投入、到場及再合作意願。</a:t>
            </a:r>
          </a:p>
        </p:txBody>
      </p:sp>
      <p:sp>
        <p:nvSpPr>
          <p:cNvPr id="10" name="文字-7-0">
            <a:extLst xmlns:a="http://schemas.openxmlformats.org/drawingml/2006/main">
              <a:ext uri="{FF2B5EF4-FFF2-40B4-BE49-F238E27FC236}">
                <a16:creationId xmlns:a16="http://schemas.microsoft.com/office/drawing/2014/main" id="{B3D872A3-7803-4800-B515-6C8C8918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成本與合作效果</a:t>
            </a:r>
          </a:p>
        </p:txBody>
      </p:sp>
      <p:sp>
        <p:nvSpPr>
          <p:cNvPr id="11" name="文字-8-0">
            <a:extLst xmlns:a="http://schemas.openxmlformats.org/drawingml/2006/main">
              <a:ext uri="{FF2B5EF4-FFF2-40B4-BE49-F238E27FC236}">
                <a16:creationId xmlns:a16="http://schemas.microsoft.com/office/drawing/2014/main" id="{12F1DFE7-DD2B-46C3-95D8-0F9D7527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雲端和內容活動成本分列，定義有效安排與去重人數後再計單位成本。</a:t>
            </a:r>
          </a:p>
        </p:txBody>
      </p:sp>
      <p:sp>
        <p:nvSpPr>
          <p:cNvPr id="12" name="文字-8-1">
            <a:extLst xmlns:a="http://schemas.openxmlformats.org/drawingml/2006/main">
              <a:ext uri="{FF2B5EF4-FFF2-40B4-BE49-F238E27FC236}">
                <a16:creationId xmlns:a16="http://schemas.microsoft.com/office/drawing/2014/main" id="{18ADD1E2-2400-4200-BB17-68E93BA6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新增叫車需可比組或期間；商家效果須看成本及實際收益。</a:t>
            </a:r>
          </a:p>
        </p:txBody>
      </p:sp>
    </p:spTree>
    <p:extLst>
      <p:ext uri="{BB962C8B-B14F-4D97-AF65-F5344CB8AC3E}">
        <p14:creationId xmlns:p14="http://schemas.microsoft.com/office/powerpoint/2010/main" val="197516860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文字-0-0">
            <a:extLst xmlns:a="http://schemas.openxmlformats.org/drawingml/2006/main">
              <a:ext uri="{FF2B5EF4-FFF2-40B4-BE49-F238E27FC236}">
                <a16:creationId xmlns:a16="http://schemas.microsoft.com/office/drawing/2014/main" id="{50DCA2FB-9966-4A5D-B87D-C9C8BDC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支持功能與後續構想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13886D19-9F81-4840-B271-89E2DF8A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本頁區分支持機制與較遠提議，不代表全部已承諾第一版實作。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F76216AD-CA80-4475-B25C-367FC6CF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10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ADDC720E-82CD-490E-936B-93403787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地方內容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361EB8EA-795D-478A-84C0-EA1415DC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3811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故事、文化與照片地圖支援探索和遊戲；拍照挑戰、可選日記及共同紀</a:t>
            </a:r>
          </a:p>
        </p:txBody>
      </p:sp>
      <p:sp>
        <p:nvSpPr>
          <p:cNvPr id="6" name="文字-4-1">
            <a:extLst xmlns:a="http://schemas.openxmlformats.org/drawingml/2006/main">
              <a:ext uri="{FF2B5EF4-FFF2-40B4-BE49-F238E27FC236}">
                <a16:creationId xmlns:a16="http://schemas.microsoft.com/office/drawing/2014/main" id="{FB45ED1A-0F19-4B95-992D-EAA85419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7030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念延續體驗。投稿換地方內容解鎖保留為長期候選，權利與審核</a:t>
            </a:r>
          </a:p>
        </p:txBody>
      </p:sp>
      <p:sp>
        <p:nvSpPr>
          <p:cNvPr id="7" name="文字-4-2">
            <a:extLst xmlns:a="http://schemas.openxmlformats.org/drawingml/2006/main">
              <a:ext uri="{FF2B5EF4-FFF2-40B4-BE49-F238E27FC236}">
                <a16:creationId xmlns:a16="http://schemas.microsoft.com/office/drawing/2014/main" id="{542FA996-6694-48AC-9627-C2F9AA8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02501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待設計。</a:t>
            </a:r>
          </a:p>
        </p:txBody>
      </p:sp>
      <p:sp>
        <p:nvSpPr>
          <p:cNvPr id="8" name="文字-5-0">
            <a:extLst xmlns:a="http://schemas.openxmlformats.org/drawingml/2006/main">
              <a:ext uri="{FF2B5EF4-FFF2-40B4-BE49-F238E27FC236}">
                <a16:creationId xmlns:a16="http://schemas.microsoft.com/office/drawing/2014/main" id="{503B0D0A-6A1F-4C14-A1A5-6AB99579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成長與社交選項</a:t>
            </a:r>
          </a:p>
        </p:txBody>
      </p:sp>
      <p:sp>
        <p:nvSpPr>
          <p:cNvPr id="9" name="文字-6-0">
            <a:extLst xmlns:a="http://schemas.openxmlformats.org/drawingml/2006/main">
              <a:ext uri="{FF2B5EF4-FFF2-40B4-BE49-F238E27FC236}">
                <a16:creationId xmlns:a16="http://schemas.microsoft.com/office/drawing/2014/main" id="{7D06014C-1AF1-439F-888D-E820E5A1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96227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等級、排行榜、會員權益、車輛貼紙、展覽蒐集、打卡、簽到與隨機小</a:t>
            </a:r>
          </a:p>
        </p:txBody>
      </p:sp>
      <p:sp>
        <p:nvSpPr>
          <p:cNvPr id="10" name="文字-6-1">
            <a:extLst xmlns:a="http://schemas.openxmlformats.org/drawingml/2006/main">
              <a:ext uri="{FF2B5EF4-FFF2-40B4-BE49-F238E27FC236}">
                <a16:creationId xmlns:a16="http://schemas.microsoft.com/office/drawing/2014/main" id="{5553E0A7-449D-4471-AFEB-73DD27F3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422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驚喜保留。先釐清各自增加的樂趣、條件及成本；匿名、同性別選項與</a:t>
            </a:r>
          </a:p>
        </p:txBody>
      </p:sp>
      <p:sp>
        <p:nvSpPr>
          <p:cNvPr id="11" name="文字-6-2">
            <a:extLst xmlns:a="http://schemas.openxmlformats.org/drawingml/2006/main">
              <a:ext uri="{FF2B5EF4-FFF2-40B4-BE49-F238E27FC236}">
                <a16:creationId xmlns:a16="http://schemas.microsoft.com/office/drawing/2014/main" id="{D458BC89-B0F6-4C56-B18F-6C95209C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60616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安全處理另訂規則。</a:t>
            </a:r>
          </a:p>
        </p:txBody>
      </p:sp>
      <p:sp>
        <p:nvSpPr>
          <p:cNvPr id="12" name="文字-7-0">
            <a:extLst xmlns:a="http://schemas.openxmlformats.org/drawingml/2006/main">
              <a:ext uri="{FF2B5EF4-FFF2-40B4-BE49-F238E27FC236}">
                <a16:creationId xmlns:a16="http://schemas.microsoft.com/office/drawing/2014/main" id="{1D369927-7E6A-49E1-8733-DAF1F1D6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28098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rPr>
              <a:t>其他會議發想</a:t>
            </a:r>
          </a:p>
        </p:txBody>
      </p:sp>
      <p:sp>
        <p:nvSpPr>
          <p:cNvPr id="13" name="文字-8-0">
            <a:extLst xmlns:a="http://schemas.openxmlformats.org/drawingml/2006/main">
              <a:ext uri="{FF2B5EF4-FFF2-40B4-BE49-F238E27FC236}">
                <a16:creationId xmlns:a16="http://schemas.microsoft.com/office/drawing/2014/main" id="{58A90F4B-7F05-49C7-A615-D720471D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543425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多景點旅遊、跨圈交流、神祕目的地、戀愛巴士、跨城市順風車及評論</a:t>
            </a:r>
          </a:p>
        </p:txBody>
      </p:sp>
      <p:sp>
        <p:nvSpPr>
          <p:cNvPr id="14" name="文字-8-1">
            <a:extLst xmlns:a="http://schemas.openxmlformats.org/drawingml/2006/main">
              <a:ext uri="{FF2B5EF4-FFF2-40B4-BE49-F238E27FC236}">
                <a16:creationId xmlns:a16="http://schemas.microsoft.com/office/drawing/2014/main" id="{709968C3-0D5D-4256-B3D1-D99F2549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65370"/>
            <a:ext cx="7858125" cy="32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平台參考仍保留。首版一團一目的地，其餘依服務條件再評估。</a:t>
            </a:r>
          </a:p>
        </p:txBody>
      </p:sp>
    </p:spTree>
    <p:extLst>
      <p:ext uri="{BB962C8B-B14F-4D97-AF65-F5344CB8AC3E}">
        <p14:creationId xmlns:p14="http://schemas.microsoft.com/office/powerpoint/2010/main" val="196592456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4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文字-0-0">
            <a:extLst xmlns:a="http://schemas.openxmlformats.org/drawingml/2006/main">
              <a:ext uri="{FF2B5EF4-FFF2-40B4-BE49-F238E27FC236}">
                <a16:creationId xmlns:a16="http://schemas.microsoft.com/office/drawing/2014/main" id="{45C16910-4E93-4857-90A6-E62BE3F8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5532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300" b="1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來源與素材</a:t>
            </a:r>
          </a:p>
        </p:txBody>
      </p:sp>
      <p:sp>
        <p:nvSpPr>
          <p:cNvPr id="2" name="文字-1-0">
            <a:extLst xmlns:a="http://schemas.openxmlformats.org/drawingml/2006/main">
              <a:ext uri="{FF2B5EF4-FFF2-40B4-BE49-F238E27FC236}">
                <a16:creationId xmlns:a16="http://schemas.microsoft.com/office/drawing/2014/main" id="{EFC9F090-7A9D-4EB2-9E56-367E1183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191750" cy="251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地方與服務資料支持內容說明；沒有取代本案的使用、合作與產品實測。</a:t>
            </a:r>
          </a:p>
        </p:txBody>
      </p:sp>
      <p:sp>
        <p:nvSpPr>
          <p:cNvPr id="3" name="文字-2-0">
            <a:extLst xmlns:a="http://schemas.openxmlformats.org/drawingml/2006/main">
              <a:ext uri="{FF2B5EF4-FFF2-40B4-BE49-F238E27FC236}">
                <a16:creationId xmlns:a16="http://schemas.microsoft.com/office/drawing/2014/main" id="{1570694E-FBE4-49D5-96FC-5223109C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714375" cy="2137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52636A"/>
                </a:solidFill>
                <a:latin typeface="Arial Unicode MS"/>
                <a:ea typeface="Arial Unicode MS"/>
                <a:cs typeface="Arial Unicode MS"/>
              </a:rPr>
              <a:t>附錄 11</a:t>
            </a:r>
          </a:p>
        </p:txBody>
      </p:sp>
      <p:sp>
        <p:nvSpPr>
          <p:cNvPr id="4" name="文字-3-0">
            <a:extLst xmlns:a="http://schemas.openxmlformats.org/drawingml/2006/main">
              <a:ext uri="{FF2B5EF4-FFF2-40B4-BE49-F238E27FC236}">
                <a16:creationId xmlns:a16="http://schemas.microsoft.com/office/drawing/2014/main" id="{A566B12F-80D6-412D-8E9A-C0CE3C7D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8edf766178fd4c8b"/>
              </a:rPr>
              <a:t>官方題目與繳件</a:t>
            </a:r>
          </a:p>
        </p:txBody>
      </p:sp>
      <p:sp>
        <p:nvSpPr>
          <p:cNvPr id="5" name="文字-4-0">
            <a:extLst xmlns:a="http://schemas.openxmlformats.org/drawingml/2006/main">
              <a:ext uri="{FF2B5EF4-FFF2-40B4-BE49-F238E27FC236}">
                <a16:creationId xmlns:a16="http://schemas.microsoft.com/office/drawing/2014/main" id="{F13292EA-5E00-4C1F-919D-C0FDE54F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c4591920ffa74bee"/>
              </a:rPr>
              <a:t>官方原件與會議資料</a:t>
            </a:r>
          </a:p>
        </p:txBody>
      </p:sp>
      <p:sp>
        <p:nvSpPr>
          <p:cNvPr id="6" name="文字-5-0">
            <a:extLst xmlns:a="http://schemas.openxmlformats.org/drawingml/2006/main">
              <a:ext uri="{FF2B5EF4-FFF2-40B4-BE49-F238E27FC236}">
                <a16:creationId xmlns:a16="http://schemas.microsoft.com/office/drawing/2014/main" id="{0749EFBB-0E96-4C8C-8281-C151EC5B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2caef1ddd4f243bd"/>
              </a:rPr>
              <a:t>藍晒圖文創園區</a:t>
            </a:r>
          </a:p>
        </p:txBody>
      </p:sp>
      <p:sp>
        <p:nvSpPr>
          <p:cNvPr id="7" name="文字-6-0">
            <a:extLst xmlns:a="http://schemas.openxmlformats.org/drawingml/2006/main">
              <a:ext uri="{FF2B5EF4-FFF2-40B4-BE49-F238E27FC236}">
                <a16:creationId xmlns:a16="http://schemas.microsoft.com/office/drawing/2014/main" id="{556638D7-217F-4EB3-9899-C417441F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3120248a2d2246d0"/>
              </a:rPr>
              <a:t>臺南國家美術館</a:t>
            </a:r>
          </a:p>
        </p:txBody>
      </p:sp>
      <p:sp>
        <p:nvSpPr>
          <p:cNvPr id="8" name="文字-7-0">
            <a:extLst xmlns:a="http://schemas.openxmlformats.org/drawingml/2006/main">
              <a:ext uri="{FF2B5EF4-FFF2-40B4-BE49-F238E27FC236}">
                <a16:creationId xmlns:a16="http://schemas.microsoft.com/office/drawing/2014/main" id="{A9426F86-3DC5-4000-8A5B-C9A37872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ff855b3ad20f473b"/>
              </a:rPr>
              <a:t>Gemini模型與費率</a:t>
            </a:r>
          </a:p>
        </p:txBody>
      </p:sp>
      <p:sp>
        <p:nvSpPr>
          <p:cNvPr id="9" name="文字-8-0">
            <a:extLst xmlns:a="http://schemas.openxmlformats.org/drawingml/2006/main">
              <a:ext uri="{FF2B5EF4-FFF2-40B4-BE49-F238E27FC236}">
                <a16:creationId xmlns:a16="http://schemas.microsoft.com/office/drawing/2014/main" id="{D8705C77-09E7-4486-8C37-3482FA66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4cffa53c8f7f40c7"/>
              </a:rPr>
              <a:t>Supabase方案</a:t>
            </a:r>
          </a:p>
        </p:txBody>
      </p:sp>
      <p:sp>
        <p:nvSpPr>
          <p:cNvPr id="10" name="文字-9-0">
            <a:extLst xmlns:a="http://schemas.openxmlformats.org/drawingml/2006/main">
              <a:ext uri="{FF2B5EF4-FFF2-40B4-BE49-F238E27FC236}">
                <a16:creationId xmlns:a16="http://schemas.microsoft.com/office/drawing/2014/main" id="{43F7F798-6817-4452-8DC7-E9B8CD94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382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aa0c3e32432145e6"/>
              </a:rPr>
              <a:t>Google Routes費率</a:t>
            </a:r>
          </a:p>
        </p:txBody>
      </p:sp>
      <p:sp>
        <p:nvSpPr>
          <p:cNvPr id="11" name="文字-10-0">
            <a:extLst xmlns:a="http://schemas.openxmlformats.org/drawingml/2006/main">
              <a:ext uri="{FF2B5EF4-FFF2-40B4-BE49-F238E27FC236}">
                <a16:creationId xmlns:a16="http://schemas.microsoft.com/office/drawing/2014/main" id="{F0AD3B38-3D05-40D4-B601-C5A2C278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669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589785d0de1d4ad3"/>
              </a:rPr>
              <a:t>Google Maps功能介紹</a:t>
            </a:r>
          </a:p>
        </p:txBody>
      </p:sp>
      <p:sp>
        <p:nvSpPr>
          <p:cNvPr id="12" name="文字-11-0">
            <a:extLst xmlns:a="http://schemas.openxmlformats.org/drawingml/2006/main">
              <a:ext uri="{FF2B5EF4-FFF2-40B4-BE49-F238E27FC236}">
                <a16:creationId xmlns:a16="http://schemas.microsoft.com/office/drawing/2014/main" id="{7A83BCA0-CE8D-4230-9382-2E848C89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955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4db3034c401d4f2a"/>
              </a:rPr>
              <a:t>Timeleft服務說明</a:t>
            </a:r>
          </a:p>
        </p:txBody>
      </p:sp>
      <p:sp>
        <p:nvSpPr>
          <p:cNvPr id="13" name="文字-12-0">
            <a:extLst xmlns:a="http://schemas.openxmlformats.org/drawingml/2006/main">
              <a:ext uri="{FF2B5EF4-FFF2-40B4-BE49-F238E27FC236}">
                <a16:creationId xmlns:a16="http://schemas.microsoft.com/office/drawing/2014/main" id="{822D5E15-8B03-41DF-97DC-9D9C5E93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242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4c8283bb70be49e5"/>
              </a:rPr>
              <a:t>Pikmin Bloom</a:t>
            </a:r>
          </a:p>
        </p:txBody>
      </p:sp>
      <p:sp>
        <p:nvSpPr>
          <p:cNvPr id="14" name="文字-13-0">
            <a:extLst xmlns:a="http://schemas.openxmlformats.org/drawingml/2006/main">
              <a:ext uri="{FF2B5EF4-FFF2-40B4-BE49-F238E27FC236}">
                <a16:creationId xmlns:a16="http://schemas.microsoft.com/office/drawing/2014/main" id="{3417FE6D-9862-4AAB-897E-8E6F2467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d35d7d2a5e214700"/>
              </a:rPr>
              <a:t>Pikmin Bloom明信片</a:t>
            </a:r>
          </a:p>
        </p:txBody>
      </p:sp>
      <p:sp>
        <p:nvSpPr>
          <p:cNvPr id="15" name="文字-14-0">
            <a:extLst xmlns:a="http://schemas.openxmlformats.org/drawingml/2006/main">
              <a:ext uri="{FF2B5EF4-FFF2-40B4-BE49-F238E27FC236}">
                <a16:creationId xmlns:a16="http://schemas.microsoft.com/office/drawing/2014/main" id="{23FE5AC6-FA03-4BD2-BA68-78D640EB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81525"/>
            <a:ext cx="5105400" cy="339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24566E"/>
                </a:solidFill>
                <a:latin typeface="Arial Unicode MS"/>
                <a:ea typeface="Arial Unicode MS"/>
                <a:cs typeface="Arial Unicode MS"/>
                <a:hlinkClick xmlns:r="http://schemas.openxmlformats.org/officeDocument/2006/relationships" r:id="R7333e6e812454583"/>
              </a:rPr>
              <a:t>Meetup活動搜尋</a:t>
            </a:r>
          </a:p>
        </p:txBody>
      </p:sp>
      <p:sp>
        <p:nvSpPr>
          <p:cNvPr id="16" name="文字-15-0">
            <a:extLst xmlns:a="http://schemas.openxmlformats.org/drawingml/2006/main">
              <a:ext uri="{FF2B5EF4-FFF2-40B4-BE49-F238E27FC236}">
                <a16:creationId xmlns:a16="http://schemas.microsoft.com/office/drawing/2014/main" id="{3170D6E2-DAB2-4C1E-958E-B856636B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0">
                <a:solidFill>
                  <a:srgbClr val="202F3A"/>
                </a:solidFill>
                <a:latin typeface="Arial Unicode MS"/>
                <a:ea typeface="Arial Unicode MS"/>
                <a:cs typeface="Arial Unicode MS"/>
              </a:rPr>
              <a:t>插畫由AI生成，為體驗概念，非地點實景或產品畫面。</a:t>
            </a:r>
          </a:p>
        </p:txBody>
      </p:sp>
    </p:spTree>
    <p:extLst>
      <p:ext uri="{BB962C8B-B14F-4D97-AF65-F5344CB8AC3E}">
        <p14:creationId xmlns:p14="http://schemas.microsoft.com/office/powerpoint/2010/main" val="13803053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2026-10-10T17:42:36.8630000Z</dcterms:created>
  <dcterms:modified xsi:type="dcterms:W3CDTF">2026-10-10T17:42:36.8630000Z</dcterms:modified>
</coreProperties>
</file>